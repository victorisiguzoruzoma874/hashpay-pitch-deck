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6.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3" d="100"/>
          <a:sy n="103" d="100"/>
        </p:scale>
        <p:origin x="456"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FFFFF"/>
                </a:solidFill>
                <a:latin typeface="Arial"/>
              </a:defRPr>
            </a:pPr>
            <a:r>
              <a:rPr lang="en-US" sz="1100" b="0" i="0" u="none" strike="noStrike">
                <a:solidFill>
                  <a:srgbClr val="FFFFFF"/>
                </a:solidFill>
                <a:latin typeface="Arial"/>
              </a:rPr>
              <a:t>Cross-Border Payments Market ($B)</a:t>
            </a:r>
          </a:p>
        </c:rich>
      </c:tx>
      <c:overlay val="0"/>
    </c:title>
    <c:autoTitleDeleted val="0"/>
    <c:plotArea>
      <c:layout/>
      <c:lineChart>
        <c:grouping val="standard"/>
        <c:varyColors val="0"/>
        <c:ser>
          <c:idx val="0"/>
          <c:order val="0"/>
          <c:tx>
            <c:strRef>
              <c:f>Sheet1!$B$1</c:f>
              <c:strCache>
                <c:ptCount val="1"/>
                <c:pt idx="0">
                  <c:v>Market Size ($B)</c:v>
                </c:pt>
              </c:strCache>
            </c:strRef>
          </c:tx>
          <c:spPr>
            <a:ln w="38100" cap="flat">
              <a:solidFill>
                <a:srgbClr val="00D4AA"/>
              </a:solidFill>
              <a:prstDash val="solid"/>
              <a:round/>
            </a:ln>
            <a:effectLst/>
          </c:spPr>
          <c:marker>
            <c:symbol val="circle"/>
            <c:size val="6"/>
            <c:spPr>
              <a:solidFill>
                <a:srgbClr val="00D4AA"/>
              </a:solidFill>
              <a:ln w="9525" cap="flat">
                <a:solidFill>
                  <a:srgbClr val="00D4AA"/>
                </a:solidFill>
                <a:prstDash val="solid"/>
                <a:round/>
              </a:ln>
              <a:effectLst/>
            </c:spPr>
          </c:marker>
          <c:dLbls>
            <c:numFmt formatCode="#,##0" sourceLinked="0"/>
            <c:spPr>
              <a:noFill/>
              <a:ln>
                <a:noFill/>
              </a:ln>
              <a:effectLst/>
            </c:spPr>
            <c:txPr>
              <a:bodyPr/>
              <a:lstStyle/>
              <a:p>
                <a:pPr>
                  <a:defRPr sz="900" b="0" i="0" u="none" strike="noStrike">
                    <a:solidFill>
                      <a:srgbClr val="FFB800"/>
                    </a:solidFill>
                    <a:latin typeface="Arial"/>
                  </a:defRPr>
                </a:pPr>
                <a:endParaRPr lang="en-N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2021</c:v>
                </c:pt>
                <c:pt idx="1">
                  <c:v>2022</c:v>
                </c:pt>
                <c:pt idx="2">
                  <c:v>2023</c:v>
                </c:pt>
                <c:pt idx="3">
                  <c:v>2024</c:v>
                </c:pt>
                <c:pt idx="4">
                  <c:v>2025</c:v>
                </c:pt>
                <c:pt idx="5">
                  <c:v>2026</c:v>
                </c:pt>
                <c:pt idx="6">
                  <c:v>2027</c:v>
                </c:pt>
                <c:pt idx="7">
                  <c:v>2028</c:v>
                </c:pt>
                <c:pt idx="8">
                  <c:v>2029</c:v>
                </c:pt>
                <c:pt idx="9">
                  <c:v>2030</c:v>
                </c:pt>
              </c:strCache>
            </c:strRef>
          </c:cat>
          <c:val>
            <c:numRef>
              <c:f>Sheet1!$B$2:$B$11</c:f>
              <c:numCache>
                <c:formatCode>General</c:formatCode>
                <c:ptCount val="10"/>
                <c:pt idx="0">
                  <c:v>176</c:v>
                </c:pt>
                <c:pt idx="1">
                  <c:v>185</c:v>
                </c:pt>
                <c:pt idx="2">
                  <c:v>196</c:v>
                </c:pt>
                <c:pt idx="3">
                  <c:v>213</c:v>
                </c:pt>
                <c:pt idx="4">
                  <c:v>228</c:v>
                </c:pt>
                <c:pt idx="5">
                  <c:v>243</c:v>
                </c:pt>
                <c:pt idx="6">
                  <c:v>261</c:v>
                </c:pt>
                <c:pt idx="7">
                  <c:v>282</c:v>
                </c:pt>
                <c:pt idx="8">
                  <c:v>300</c:v>
                </c:pt>
                <c:pt idx="9">
                  <c:v>321</c:v>
                </c:pt>
              </c:numCache>
            </c:numRef>
          </c:val>
          <c:smooth val="1"/>
          <c:extLst>
            <c:ext xmlns:c16="http://schemas.microsoft.com/office/drawing/2014/chart" uri="{C3380CC4-5D6E-409C-BE32-E72D297353CC}">
              <c16:uniqueId val="{00000000-D7BD-4535-A823-1017A30B876C}"/>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99A6"/>
                </a:solidFill>
                <a:latin typeface="Arial"/>
              </a:defRPr>
            </a:pPr>
            <a:endParaRPr lang="en-NG"/>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6"/>
                </a:solidFill>
                <a:latin typeface="Arial"/>
              </a:defRPr>
            </a:pPr>
            <a:endParaRPr lang="en-NG"/>
          </a:p>
        </c:txPr>
        <c:crossAx val="2094734554"/>
        <c:crosses val="autoZero"/>
        <c:crossBetween val="between"/>
      </c:valAx>
      <c:spPr>
        <a:noFill/>
        <a:ln>
          <a:noFill/>
        </a:ln>
        <a:effectLst/>
      </c:spPr>
    </c:plotArea>
    <c:plotVisOnly val="1"/>
    <c:dispBlanksAs val="span"/>
    <c:showDLblsOverMax val="1"/>
  </c:chart>
  <c:spPr>
    <a:solidFill>
      <a:srgbClr val="0D1E3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FFFFF"/>
                </a:solidFill>
                <a:latin typeface="Arial"/>
              </a:defRPr>
            </a:pPr>
            <a:r>
              <a:rPr lang="en-US" sz="1100" b="0" i="0" u="none" strike="noStrike">
                <a:solidFill>
                  <a:srgbClr val="FFFFFF"/>
                </a:solidFill>
                <a:latin typeface="Arial"/>
              </a:rPr>
              <a:t>HashPay Priority Corridors ($B)</a:t>
            </a:r>
          </a:p>
        </c:rich>
      </c:tx>
      <c:overlay val="0"/>
    </c:title>
    <c:autoTitleDeleted val="0"/>
    <c:plotArea>
      <c:layout/>
      <c:barChart>
        <c:barDir val="col"/>
        <c:grouping val="clustered"/>
        <c:varyColors val="0"/>
        <c:ser>
          <c:idx val="0"/>
          <c:order val="0"/>
          <c:tx>
            <c:strRef>
              <c:f>Sheet1!$B$1</c:f>
              <c:strCache>
                <c:ptCount val="1"/>
                <c:pt idx="0">
                  <c:v>Annual Flow ($B)</c:v>
                </c:pt>
              </c:strCache>
            </c:strRef>
          </c:tx>
          <c:spPr>
            <a:solidFill>
              <a:srgbClr val="00D4AA"/>
            </a:solidFill>
            <a:effectLst/>
          </c:spPr>
          <c:invertIfNegative val="0"/>
          <c:dPt>
            <c:idx val="0"/>
            <c:invertIfNegative val="0"/>
            <c:bubble3D val="0"/>
            <c:extLst>
              <c:ext xmlns:c16="http://schemas.microsoft.com/office/drawing/2014/chart" uri="{C3380CC4-5D6E-409C-BE32-E72D297353CC}">
                <c16:uniqueId val="{00000001-19E0-447F-B289-BCD2F5465246}"/>
              </c:ext>
            </c:extLst>
          </c:dPt>
          <c:dPt>
            <c:idx val="1"/>
            <c:invertIfNegative val="0"/>
            <c:bubble3D val="0"/>
            <c:spPr>
              <a:solidFill>
                <a:srgbClr val="14B8A6"/>
              </a:solidFill>
              <a:effectLst/>
            </c:spPr>
            <c:extLst>
              <c:ext xmlns:c16="http://schemas.microsoft.com/office/drawing/2014/chart" uri="{C3380CC4-5D6E-409C-BE32-E72D297353CC}">
                <c16:uniqueId val="{00000003-19E0-447F-B289-BCD2F5465246}"/>
              </c:ext>
            </c:extLst>
          </c:dPt>
          <c:dPt>
            <c:idx val="2"/>
            <c:invertIfNegative val="0"/>
            <c:bubble3D val="0"/>
            <c:spPr>
              <a:solidFill>
                <a:srgbClr val="FFB800"/>
              </a:solidFill>
              <a:effectLst/>
            </c:spPr>
            <c:extLst>
              <c:ext xmlns:c16="http://schemas.microsoft.com/office/drawing/2014/chart" uri="{C3380CC4-5D6E-409C-BE32-E72D297353CC}">
                <c16:uniqueId val="{00000005-19E0-447F-B289-BCD2F5465246}"/>
              </c:ext>
            </c:extLst>
          </c:dPt>
          <c:dPt>
            <c:idx val="3"/>
            <c:invertIfNegative val="0"/>
            <c:bubble3D val="0"/>
            <c:spPr>
              <a:solidFill>
                <a:srgbClr val="F97316"/>
              </a:solidFill>
              <a:effectLst/>
            </c:spPr>
            <c:extLst>
              <c:ext xmlns:c16="http://schemas.microsoft.com/office/drawing/2014/chart" uri="{C3380CC4-5D6E-409C-BE32-E72D297353CC}">
                <c16:uniqueId val="{00000007-19E0-447F-B289-BCD2F5465246}"/>
              </c:ext>
            </c:extLst>
          </c:dPt>
          <c:dPt>
            <c:idx val="4"/>
            <c:invertIfNegative val="0"/>
            <c:bubble3D val="0"/>
            <c:spPr>
              <a:solidFill>
                <a:srgbClr val="7C3AED"/>
              </a:solidFill>
              <a:effectLst/>
            </c:spPr>
            <c:extLst>
              <c:ext xmlns:c16="http://schemas.microsoft.com/office/drawing/2014/chart" uri="{C3380CC4-5D6E-409C-BE32-E72D297353CC}">
                <c16:uniqueId val="{00000009-19E0-447F-B289-BCD2F5465246}"/>
              </c:ext>
            </c:extLst>
          </c:dPt>
          <c:dLbls>
            <c:numFmt formatCode="#,##0" sourceLinked="0"/>
            <c:spPr>
              <a:noFill/>
              <a:ln>
                <a:noFill/>
              </a:ln>
              <a:effectLst/>
            </c:spPr>
            <c:txPr>
              <a:bodyPr/>
              <a:lstStyle/>
              <a:p>
                <a:pPr>
                  <a:defRPr sz="900" b="0" i="0" u="none" strike="noStrike">
                    <a:solidFill>
                      <a:srgbClr val="FFFFFF"/>
                    </a:solidFill>
                    <a:latin typeface="Arial"/>
                  </a:defRPr>
                </a:pPr>
                <a:endParaRPr lang="en-N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Africa→
Europe</c:v>
                </c:pt>
                <c:pt idx="1">
                  <c:v>Africa→
Asia</c:v>
                </c:pt>
                <c:pt idx="2">
                  <c:v>LatAm→
Africa</c:v>
                </c:pt>
                <c:pt idx="3">
                  <c:v>Asia→
Africa</c:v>
                </c:pt>
                <c:pt idx="4">
                  <c:v>Intra-
Africa</c:v>
                </c:pt>
              </c:strCache>
            </c:strRef>
          </c:cat>
          <c:val>
            <c:numRef>
              <c:f>Sheet1!$B$2:$B$6</c:f>
              <c:numCache>
                <c:formatCode>General</c:formatCode>
                <c:ptCount val="5"/>
                <c:pt idx="0">
                  <c:v>55</c:v>
                </c:pt>
                <c:pt idx="1">
                  <c:v>45</c:v>
                </c:pt>
                <c:pt idx="2">
                  <c:v>22</c:v>
                </c:pt>
                <c:pt idx="3">
                  <c:v>18</c:v>
                </c:pt>
                <c:pt idx="4">
                  <c:v>12</c:v>
                </c:pt>
              </c:numCache>
            </c:numRef>
          </c:val>
          <c:extLst>
            <c:ext xmlns:c16="http://schemas.microsoft.com/office/drawing/2014/chart" uri="{C3380CC4-5D6E-409C-BE32-E72D297353CC}">
              <c16:uniqueId val="{0000000A-19E0-447F-B289-BCD2F546524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99A6"/>
                </a:solidFill>
                <a:latin typeface="Arial"/>
              </a:defRPr>
            </a:pPr>
            <a:endParaRPr lang="en-NG"/>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6"/>
                </a:solidFill>
                <a:latin typeface="Arial"/>
              </a:defRPr>
            </a:pPr>
            <a:endParaRPr lang="en-NG"/>
          </a:p>
        </c:txPr>
        <c:crossAx val="2094734554"/>
        <c:crosses val="autoZero"/>
        <c:crossBetween val="between"/>
      </c:valAx>
      <c:spPr>
        <a:noFill/>
        <a:ln>
          <a:noFill/>
        </a:ln>
        <a:effectLst/>
      </c:spPr>
    </c:plotArea>
    <c:plotVisOnly val="1"/>
    <c:dispBlanksAs val="span"/>
    <c:showDLblsOverMax val="1"/>
  </c:chart>
  <c:spPr>
    <a:solidFill>
      <a:srgbClr val="0D1E38"/>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Revenue Mix</c:v>
                </c:pt>
              </c:strCache>
            </c:strRef>
          </c:tx>
          <c:spPr>
            <a:solidFill>
              <a:schemeClr val="accent1"/>
            </a:solidFill>
            <a:ln w="9525" cap="flat">
              <a:solidFill>
                <a:srgbClr val="F9F9F9"/>
              </a:solidFill>
              <a:prstDash val="solid"/>
              <a:round/>
            </a:ln>
            <a:effectLst/>
          </c:spPr>
          <c:dPt>
            <c:idx val="0"/>
            <c:bubble3D val="0"/>
            <c:spPr>
              <a:solidFill>
                <a:srgbClr val="00D4AA"/>
              </a:solidFill>
              <a:effectLst/>
            </c:spPr>
            <c:extLst>
              <c:ext xmlns:c16="http://schemas.microsoft.com/office/drawing/2014/chart" uri="{C3380CC4-5D6E-409C-BE32-E72D297353CC}">
                <c16:uniqueId val="{00000001-DA06-4B3E-8E88-26B465CBD14C}"/>
              </c:ext>
            </c:extLst>
          </c:dPt>
          <c:dPt>
            <c:idx val="1"/>
            <c:bubble3D val="0"/>
            <c:spPr>
              <a:solidFill>
                <a:srgbClr val="FFB800"/>
              </a:solidFill>
              <a:effectLst/>
            </c:spPr>
            <c:extLst>
              <c:ext xmlns:c16="http://schemas.microsoft.com/office/drawing/2014/chart" uri="{C3380CC4-5D6E-409C-BE32-E72D297353CC}">
                <c16:uniqueId val="{00000003-DA06-4B3E-8E88-26B465CBD14C}"/>
              </c:ext>
            </c:extLst>
          </c:dPt>
          <c:dPt>
            <c:idx val="2"/>
            <c:bubble3D val="0"/>
            <c:spPr>
              <a:solidFill>
                <a:srgbClr val="F97316"/>
              </a:solidFill>
              <a:effectLst/>
            </c:spPr>
            <c:extLst>
              <c:ext xmlns:c16="http://schemas.microsoft.com/office/drawing/2014/chart" uri="{C3380CC4-5D6E-409C-BE32-E72D297353CC}">
                <c16:uniqueId val="{00000005-DA06-4B3E-8E88-26B465CBD14C}"/>
              </c:ext>
            </c:extLst>
          </c:dPt>
          <c:dPt>
            <c:idx val="3"/>
            <c:bubble3D val="0"/>
            <c:spPr>
              <a:solidFill>
                <a:srgbClr val="7C3AED"/>
              </a:solidFill>
              <a:effectLst/>
            </c:spPr>
            <c:extLst>
              <c:ext xmlns:c16="http://schemas.microsoft.com/office/drawing/2014/chart" uri="{C3380CC4-5D6E-409C-BE32-E72D297353CC}">
                <c16:uniqueId val="{00000007-DA06-4B3E-8E88-26B465CBD14C}"/>
              </c:ext>
            </c:extLst>
          </c:dPt>
          <c:dPt>
            <c:idx val="4"/>
            <c:bubble3D val="0"/>
            <c:spPr>
              <a:solidFill>
                <a:srgbClr val="8B5CF6"/>
              </a:solidFill>
              <a:effectLst/>
            </c:spPr>
            <c:extLst>
              <c:ext xmlns:c16="http://schemas.microsoft.com/office/drawing/2014/chart" uri="{C3380CC4-5D6E-409C-BE32-E72D297353CC}">
                <c16:uniqueId val="{00000009-DA06-4B3E-8E88-26B465CBD14C}"/>
              </c:ext>
            </c:extLst>
          </c:dPt>
          <c:dLbls>
            <c:dLbl>
              <c:idx val="0"/>
              <c:numFmt formatCode="0%" sourceLinked="0"/>
              <c:spPr/>
              <c:txPr>
                <a:bodyPr/>
                <a:lstStyle/>
                <a:p>
                  <a:pPr>
                    <a:defRPr sz="1000" b="0" i="0" u="none" strike="noStrike">
                      <a:solidFill>
                        <a:srgbClr val="FFFFFF"/>
                      </a:solidFill>
                      <a:latin typeface="Arial"/>
                    </a:defRPr>
                  </a:pPr>
                  <a:endParaRPr lang="en-NG"/>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A06-4B3E-8E88-26B465CBD14C}"/>
                </c:ext>
              </c:extLst>
            </c:dLbl>
            <c:dLbl>
              <c:idx val="1"/>
              <c:numFmt formatCode="0%" sourceLinked="0"/>
              <c:spPr/>
              <c:txPr>
                <a:bodyPr/>
                <a:lstStyle/>
                <a:p>
                  <a:pPr>
                    <a:defRPr sz="1000" b="0" i="0" u="none" strike="noStrike">
                      <a:solidFill>
                        <a:srgbClr val="FFFFFF"/>
                      </a:solidFill>
                      <a:latin typeface="Arial"/>
                    </a:defRPr>
                  </a:pPr>
                  <a:endParaRPr lang="en-NG"/>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A06-4B3E-8E88-26B465CBD14C}"/>
                </c:ext>
              </c:extLst>
            </c:dLbl>
            <c:dLbl>
              <c:idx val="2"/>
              <c:numFmt formatCode="0%" sourceLinked="0"/>
              <c:spPr/>
              <c:txPr>
                <a:bodyPr/>
                <a:lstStyle/>
                <a:p>
                  <a:pPr>
                    <a:defRPr sz="1000" b="0" i="0" u="none" strike="noStrike">
                      <a:solidFill>
                        <a:srgbClr val="FFFFFF"/>
                      </a:solidFill>
                      <a:latin typeface="Arial"/>
                    </a:defRPr>
                  </a:pPr>
                  <a:endParaRPr lang="en-NG"/>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A06-4B3E-8E88-26B465CBD14C}"/>
                </c:ext>
              </c:extLst>
            </c:dLbl>
            <c:dLbl>
              <c:idx val="3"/>
              <c:numFmt formatCode="0%" sourceLinked="0"/>
              <c:spPr/>
              <c:txPr>
                <a:bodyPr/>
                <a:lstStyle/>
                <a:p>
                  <a:pPr>
                    <a:defRPr sz="1000" b="0" i="0" u="none" strike="noStrike">
                      <a:solidFill>
                        <a:srgbClr val="FFFFFF"/>
                      </a:solidFill>
                      <a:latin typeface="Arial"/>
                    </a:defRPr>
                  </a:pPr>
                  <a:endParaRPr lang="en-NG"/>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DA06-4B3E-8E88-26B465CBD14C}"/>
                </c:ext>
              </c:extLst>
            </c:dLbl>
            <c:dLbl>
              <c:idx val="4"/>
              <c:numFmt formatCode="0%" sourceLinked="0"/>
              <c:spPr/>
              <c:txPr>
                <a:bodyPr/>
                <a:lstStyle/>
                <a:p>
                  <a:pPr>
                    <a:defRPr sz="1000" b="0" i="0" u="none" strike="noStrike">
                      <a:solidFill>
                        <a:srgbClr val="FFFFFF"/>
                      </a:solidFill>
                      <a:latin typeface="Arial"/>
                    </a:defRPr>
                  </a:pPr>
                  <a:endParaRPr lang="en-NG"/>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DA06-4B3E-8E88-26B465CBD14C}"/>
                </c:ext>
              </c:extLst>
            </c:dLbl>
            <c:numFmt formatCode="0%" sourceLinked="0"/>
            <c:spPr>
              <a:noFill/>
              <a:ln>
                <a:noFill/>
              </a:ln>
              <a:effectLst/>
            </c:spPr>
            <c:txPr>
              <a:bodyPr/>
              <a:lstStyle/>
              <a:p>
                <a:pPr>
                  <a:defRPr sz="1800" b="0" i="0" u="none" strike="noStrike">
                    <a:solidFill>
                      <a:srgbClr val="000000"/>
                    </a:solidFill>
                    <a:latin typeface="Arial"/>
                  </a:defRPr>
                </a:pPr>
                <a:endParaRPr lang="en-NG"/>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Transaction Fees</c:v>
                </c:pt>
                <c:pt idx="1">
                  <c:v>Liquidity Fees</c:v>
                </c:pt>
                <c:pt idx="2">
                  <c:v>Enterprise APIs</c:v>
                </c:pt>
                <c:pt idx="3">
                  <c:v>Web3 Ramp</c:v>
                </c:pt>
                <c:pt idx="4">
                  <c:v>Treasury</c:v>
                </c:pt>
              </c:strCache>
            </c:strRef>
          </c:cat>
          <c:val>
            <c:numRef>
              <c:f>Sheet1!$B$2:$B$6</c:f>
              <c:numCache>
                <c:formatCode>General</c:formatCode>
                <c:ptCount val="5"/>
                <c:pt idx="0">
                  <c:v>38</c:v>
                </c:pt>
                <c:pt idx="1">
                  <c:v>22</c:v>
                </c:pt>
                <c:pt idx="2">
                  <c:v>18</c:v>
                </c:pt>
                <c:pt idx="3">
                  <c:v>12</c:v>
                </c:pt>
                <c:pt idx="4">
                  <c:v>10</c:v>
                </c:pt>
              </c:numCache>
            </c:numRef>
          </c:val>
          <c:extLst>
            <c:ext xmlns:c16="http://schemas.microsoft.com/office/drawing/2014/chart" uri="{C3380CC4-5D6E-409C-BE32-E72D297353CC}">
              <c16:uniqueId val="{0000000A-DA06-4B3E-8E88-26B465CBD14C}"/>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850">
              <a:solidFill>
                <a:srgbClr val="8899A6"/>
              </a:solidFill>
            </a:defRPr>
          </a:pPr>
          <a:endParaRPr lang="en-NG"/>
        </a:p>
      </c:txPr>
    </c:legend>
    <c:plotVisOnly val="1"/>
    <c:dispBlanksAs val="span"/>
    <c:showDLblsOverMax val="1"/>
  </c:chart>
  <c:spPr>
    <a:solidFill>
      <a:srgbClr val="0D1E38"/>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FFFFF"/>
                </a:solidFill>
                <a:latin typeface="Arial"/>
              </a:defRPr>
            </a:pPr>
            <a:r>
              <a:rPr lang="en-US" sz="1100" b="0" i="0" u="none" strike="noStrike">
                <a:solidFill>
                  <a:srgbClr val="FFFFFF"/>
                </a:solidFill>
                <a:latin typeface="Arial"/>
              </a:rPr>
              <a:t>Transaction Volume ($M) — 5-Year Forecast</a:t>
            </a:r>
          </a:p>
        </c:rich>
      </c:tx>
      <c:overlay val="0"/>
    </c:title>
    <c:autoTitleDeleted val="0"/>
    <c:plotArea>
      <c:layout/>
      <c:barChart>
        <c:barDir val="col"/>
        <c:grouping val="clustered"/>
        <c:varyColors val="0"/>
        <c:ser>
          <c:idx val="0"/>
          <c:order val="0"/>
          <c:tx>
            <c:strRef>
              <c:f>Sheet1!$B$1</c:f>
              <c:strCache>
                <c:ptCount val="1"/>
                <c:pt idx="0">
                  <c:v>Transaction Volume ($M)</c:v>
                </c:pt>
              </c:strCache>
            </c:strRef>
          </c:tx>
          <c:spPr>
            <a:solidFill>
              <a:srgbClr val="00D4AA"/>
            </a:solidFill>
            <a:effectLst/>
          </c:spPr>
          <c:invertIfNegative val="0"/>
          <c:dLbls>
            <c:numFmt formatCode="#,##0" sourceLinked="0"/>
            <c:spPr>
              <a:noFill/>
              <a:ln>
                <a:noFill/>
              </a:ln>
              <a:effectLst/>
            </c:spPr>
            <c:txPr>
              <a:bodyPr/>
              <a:lstStyle/>
              <a:p>
                <a:pPr>
                  <a:defRPr sz="1000" b="0" i="0" u="none" strike="noStrike">
                    <a:solidFill>
                      <a:srgbClr val="FFB800"/>
                    </a:solidFill>
                    <a:latin typeface="Arial"/>
                  </a:defRPr>
                </a:pPr>
                <a:endParaRPr lang="en-N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Year 1</c:v>
                </c:pt>
                <c:pt idx="1">
                  <c:v>Year 2</c:v>
                </c:pt>
                <c:pt idx="2">
                  <c:v>Year 3</c:v>
                </c:pt>
                <c:pt idx="3">
                  <c:v>Year 4</c:v>
                </c:pt>
                <c:pt idx="4">
                  <c:v>Year 5</c:v>
                </c:pt>
              </c:strCache>
            </c:strRef>
          </c:cat>
          <c:val>
            <c:numRef>
              <c:f>Sheet1!$B$2:$B$6</c:f>
              <c:numCache>
                <c:formatCode>General</c:formatCode>
                <c:ptCount val="5"/>
                <c:pt idx="0">
                  <c:v>20</c:v>
                </c:pt>
                <c:pt idx="1">
                  <c:v>150</c:v>
                </c:pt>
                <c:pt idx="2">
                  <c:v>1000</c:v>
                </c:pt>
                <c:pt idx="3">
                  <c:v>4000</c:v>
                </c:pt>
                <c:pt idx="4">
                  <c:v>10000</c:v>
                </c:pt>
              </c:numCache>
            </c:numRef>
          </c:val>
          <c:extLst>
            <c:ext xmlns:c16="http://schemas.microsoft.com/office/drawing/2014/chart" uri="{C3380CC4-5D6E-409C-BE32-E72D297353CC}">
              <c16:uniqueId val="{00000000-1EC5-4C56-919D-4B0DD00929F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99A6"/>
                </a:solidFill>
                <a:latin typeface="Arial"/>
              </a:defRPr>
            </a:pPr>
            <a:endParaRPr lang="en-NG"/>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6"/>
                </a:solidFill>
                <a:latin typeface="Arial"/>
              </a:defRPr>
            </a:pPr>
            <a:endParaRPr lang="en-NG"/>
          </a:p>
        </c:txPr>
        <c:crossAx val="2094734554"/>
        <c:crosses val="autoZero"/>
        <c:crossBetween val="between"/>
      </c:valAx>
      <c:spPr>
        <a:noFill/>
        <a:ln>
          <a:noFill/>
        </a:ln>
        <a:effectLst/>
      </c:spPr>
    </c:plotArea>
    <c:plotVisOnly val="1"/>
    <c:dispBlanksAs val="span"/>
    <c:showDLblsOverMax val="1"/>
  </c:chart>
  <c:spPr>
    <a:solidFill>
      <a:srgbClr val="0D1E38"/>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FFFFF"/>
                </a:solidFill>
                <a:latin typeface="Arial"/>
              </a:defRPr>
            </a:pPr>
            <a:r>
              <a:rPr lang="en-US" sz="1100" b="0" i="0" u="none" strike="noStrike">
                <a:solidFill>
                  <a:srgbClr val="FFFFFF"/>
                </a:solidFill>
                <a:latin typeface="Arial"/>
              </a:rPr>
              <a:t>Revenue ($M) @ 0.7%</a:t>
            </a:r>
          </a:p>
        </c:rich>
      </c:tx>
      <c:overlay val="0"/>
    </c:title>
    <c:autoTitleDeleted val="0"/>
    <c:plotArea>
      <c:layout/>
      <c:lineChart>
        <c:grouping val="standard"/>
        <c:varyColors val="0"/>
        <c:ser>
          <c:idx val="0"/>
          <c:order val="0"/>
          <c:tx>
            <c:strRef>
              <c:f>Sheet1!$B$1</c:f>
              <c:strCache>
                <c:ptCount val="1"/>
                <c:pt idx="0">
                  <c:v>Revenue ($M)</c:v>
                </c:pt>
              </c:strCache>
            </c:strRef>
          </c:tx>
          <c:spPr>
            <a:ln w="38100" cap="flat">
              <a:solidFill>
                <a:srgbClr val="FFB800"/>
              </a:solidFill>
              <a:prstDash val="solid"/>
              <a:round/>
            </a:ln>
            <a:effectLst/>
          </c:spPr>
          <c:marker>
            <c:symbol val="circle"/>
            <c:size val="6"/>
            <c:spPr>
              <a:solidFill>
                <a:srgbClr val="FFB800"/>
              </a:solidFill>
              <a:ln w="9525" cap="flat">
                <a:solidFill>
                  <a:srgbClr val="FFB800"/>
                </a:solidFill>
                <a:prstDash val="solid"/>
                <a:round/>
              </a:ln>
              <a:effectLst/>
            </c:spPr>
          </c:marker>
          <c:dLbls>
            <c:numFmt formatCode="#,##0" sourceLinked="0"/>
            <c:spPr>
              <a:noFill/>
              <a:ln>
                <a:noFill/>
              </a:ln>
              <a:effectLst/>
            </c:spPr>
            <c:txPr>
              <a:bodyPr/>
              <a:lstStyle/>
              <a:p>
                <a:pPr>
                  <a:defRPr sz="1000" b="0" i="0" u="none" strike="noStrike">
                    <a:solidFill>
                      <a:srgbClr val="00D4AA"/>
                    </a:solidFill>
                    <a:latin typeface="Arial"/>
                  </a:defRPr>
                </a:pPr>
                <a:endParaRPr lang="en-N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Y1</c:v>
                </c:pt>
                <c:pt idx="1">
                  <c:v>Y2</c:v>
                </c:pt>
                <c:pt idx="2">
                  <c:v>Y3</c:v>
                </c:pt>
                <c:pt idx="3">
                  <c:v>Y4</c:v>
                </c:pt>
                <c:pt idx="4">
                  <c:v>Y5</c:v>
                </c:pt>
              </c:strCache>
            </c:strRef>
          </c:cat>
          <c:val>
            <c:numRef>
              <c:f>Sheet1!$B$2:$B$6</c:f>
              <c:numCache>
                <c:formatCode>General</c:formatCode>
                <c:ptCount val="5"/>
                <c:pt idx="0">
                  <c:v>0.14000000000000001</c:v>
                </c:pt>
                <c:pt idx="1">
                  <c:v>1.05</c:v>
                </c:pt>
                <c:pt idx="2">
                  <c:v>7</c:v>
                </c:pt>
                <c:pt idx="3">
                  <c:v>28</c:v>
                </c:pt>
                <c:pt idx="4">
                  <c:v>70</c:v>
                </c:pt>
              </c:numCache>
            </c:numRef>
          </c:val>
          <c:smooth val="1"/>
          <c:extLst>
            <c:ext xmlns:c16="http://schemas.microsoft.com/office/drawing/2014/chart" uri="{C3380CC4-5D6E-409C-BE32-E72D297353CC}">
              <c16:uniqueId val="{00000000-5BC5-4E82-BAE8-F5BA2C65BBDB}"/>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99A6"/>
                </a:solidFill>
                <a:latin typeface="Arial"/>
              </a:defRPr>
            </a:pPr>
            <a:endParaRPr lang="en-NG"/>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9A6"/>
                </a:solidFill>
                <a:latin typeface="Arial"/>
              </a:defRPr>
            </a:pPr>
            <a:endParaRPr lang="en-NG"/>
          </a:p>
        </c:txPr>
        <c:crossAx val="2094734554"/>
        <c:crosses val="autoZero"/>
        <c:crossBetween val="between"/>
      </c:valAx>
      <c:spPr>
        <a:noFill/>
        <a:ln>
          <a:noFill/>
        </a:ln>
        <a:effectLst/>
      </c:spPr>
    </c:plotArea>
    <c:plotVisOnly val="1"/>
    <c:dispBlanksAs val="span"/>
    <c:showDLblsOverMax val="1"/>
  </c:chart>
  <c:spPr>
    <a:solidFill>
      <a:srgbClr val="0D1E38"/>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Fund Allocation</c:v>
                </c:pt>
              </c:strCache>
            </c:strRef>
          </c:tx>
          <c:spPr>
            <a:solidFill>
              <a:schemeClr val="accent1"/>
            </a:solidFill>
            <a:ln w="9525" cap="flat">
              <a:solidFill>
                <a:srgbClr val="F9F9F9"/>
              </a:solidFill>
              <a:prstDash val="solid"/>
              <a:round/>
            </a:ln>
            <a:effectLst/>
          </c:spPr>
          <c:dPt>
            <c:idx val="0"/>
            <c:bubble3D val="0"/>
            <c:spPr>
              <a:solidFill>
                <a:srgbClr val="00D4AA"/>
              </a:solidFill>
              <a:effectLst/>
            </c:spPr>
            <c:extLst>
              <c:ext xmlns:c16="http://schemas.microsoft.com/office/drawing/2014/chart" uri="{C3380CC4-5D6E-409C-BE32-E72D297353CC}">
                <c16:uniqueId val="{00000001-F894-49B2-ACF3-48BD813031E9}"/>
              </c:ext>
            </c:extLst>
          </c:dPt>
          <c:dPt>
            <c:idx val="1"/>
            <c:bubble3D val="0"/>
            <c:spPr>
              <a:solidFill>
                <a:srgbClr val="FFB800"/>
              </a:solidFill>
              <a:effectLst/>
            </c:spPr>
            <c:extLst>
              <c:ext xmlns:c16="http://schemas.microsoft.com/office/drawing/2014/chart" uri="{C3380CC4-5D6E-409C-BE32-E72D297353CC}">
                <c16:uniqueId val="{00000003-F894-49B2-ACF3-48BD813031E9}"/>
              </c:ext>
            </c:extLst>
          </c:dPt>
          <c:dPt>
            <c:idx val="2"/>
            <c:bubble3D val="0"/>
            <c:spPr>
              <a:solidFill>
                <a:srgbClr val="F97316"/>
              </a:solidFill>
              <a:effectLst/>
            </c:spPr>
            <c:extLst>
              <c:ext xmlns:c16="http://schemas.microsoft.com/office/drawing/2014/chart" uri="{C3380CC4-5D6E-409C-BE32-E72D297353CC}">
                <c16:uniqueId val="{00000005-F894-49B2-ACF3-48BD813031E9}"/>
              </c:ext>
            </c:extLst>
          </c:dPt>
          <c:dPt>
            <c:idx val="3"/>
            <c:bubble3D val="0"/>
            <c:spPr>
              <a:solidFill>
                <a:srgbClr val="7C3AED"/>
              </a:solidFill>
              <a:effectLst/>
            </c:spPr>
            <c:extLst>
              <c:ext xmlns:c16="http://schemas.microsoft.com/office/drawing/2014/chart" uri="{C3380CC4-5D6E-409C-BE32-E72D297353CC}">
                <c16:uniqueId val="{00000007-F894-49B2-ACF3-48BD813031E9}"/>
              </c:ext>
            </c:extLst>
          </c:dPt>
          <c:dPt>
            <c:idx val="4"/>
            <c:bubble3D val="0"/>
            <c:spPr>
              <a:solidFill>
                <a:srgbClr val="8899A6"/>
              </a:solidFill>
              <a:effectLst/>
            </c:spPr>
            <c:extLst>
              <c:ext xmlns:c16="http://schemas.microsoft.com/office/drawing/2014/chart" uri="{C3380CC4-5D6E-409C-BE32-E72D297353CC}">
                <c16:uniqueId val="{00000009-F894-49B2-ACF3-48BD813031E9}"/>
              </c:ext>
            </c:extLst>
          </c:dPt>
          <c:dLbls>
            <c:dLbl>
              <c:idx val="0"/>
              <c:numFmt formatCode="0%" sourceLinked="0"/>
              <c:spPr/>
              <c:txPr>
                <a:bodyPr/>
                <a:lstStyle/>
                <a:p>
                  <a:pPr>
                    <a:defRPr sz="1000" b="0" i="0" u="none" strike="noStrike">
                      <a:solidFill>
                        <a:srgbClr val="FFFFFF"/>
                      </a:solidFill>
                      <a:latin typeface="Arial"/>
                    </a:defRPr>
                  </a:pPr>
                  <a:endParaRPr lang="en-NG"/>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894-49B2-ACF3-48BD813031E9}"/>
                </c:ext>
              </c:extLst>
            </c:dLbl>
            <c:dLbl>
              <c:idx val="1"/>
              <c:numFmt formatCode="0%" sourceLinked="0"/>
              <c:spPr/>
              <c:txPr>
                <a:bodyPr/>
                <a:lstStyle/>
                <a:p>
                  <a:pPr>
                    <a:defRPr sz="1000" b="0" i="0" u="none" strike="noStrike">
                      <a:solidFill>
                        <a:srgbClr val="FFFFFF"/>
                      </a:solidFill>
                      <a:latin typeface="Arial"/>
                    </a:defRPr>
                  </a:pPr>
                  <a:endParaRPr lang="en-NG"/>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894-49B2-ACF3-48BD813031E9}"/>
                </c:ext>
              </c:extLst>
            </c:dLbl>
            <c:dLbl>
              <c:idx val="2"/>
              <c:numFmt formatCode="0%" sourceLinked="0"/>
              <c:spPr/>
              <c:txPr>
                <a:bodyPr/>
                <a:lstStyle/>
                <a:p>
                  <a:pPr>
                    <a:defRPr sz="1000" b="0" i="0" u="none" strike="noStrike">
                      <a:solidFill>
                        <a:srgbClr val="FFFFFF"/>
                      </a:solidFill>
                      <a:latin typeface="Arial"/>
                    </a:defRPr>
                  </a:pPr>
                  <a:endParaRPr lang="en-NG"/>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894-49B2-ACF3-48BD813031E9}"/>
                </c:ext>
              </c:extLst>
            </c:dLbl>
            <c:dLbl>
              <c:idx val="3"/>
              <c:numFmt formatCode="0%" sourceLinked="0"/>
              <c:spPr/>
              <c:txPr>
                <a:bodyPr/>
                <a:lstStyle/>
                <a:p>
                  <a:pPr>
                    <a:defRPr sz="1000" b="0" i="0" u="none" strike="noStrike">
                      <a:solidFill>
                        <a:srgbClr val="FFFFFF"/>
                      </a:solidFill>
                      <a:latin typeface="Arial"/>
                    </a:defRPr>
                  </a:pPr>
                  <a:endParaRPr lang="en-NG"/>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F894-49B2-ACF3-48BD813031E9}"/>
                </c:ext>
              </c:extLst>
            </c:dLbl>
            <c:dLbl>
              <c:idx val="4"/>
              <c:numFmt formatCode="0%" sourceLinked="0"/>
              <c:spPr/>
              <c:txPr>
                <a:bodyPr/>
                <a:lstStyle/>
                <a:p>
                  <a:pPr>
                    <a:defRPr sz="1000" b="0" i="0" u="none" strike="noStrike">
                      <a:solidFill>
                        <a:srgbClr val="FFFFFF"/>
                      </a:solidFill>
                      <a:latin typeface="Arial"/>
                    </a:defRPr>
                  </a:pPr>
                  <a:endParaRPr lang="en-NG"/>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F894-49B2-ACF3-48BD813031E9}"/>
                </c:ext>
              </c:extLst>
            </c:dLbl>
            <c:numFmt formatCode="0%" sourceLinked="0"/>
            <c:spPr>
              <a:noFill/>
              <a:ln>
                <a:noFill/>
              </a:ln>
              <a:effectLst/>
            </c:spPr>
            <c:txPr>
              <a:bodyPr/>
              <a:lstStyle/>
              <a:p>
                <a:pPr>
                  <a:defRPr sz="1800" b="0" i="0" u="none" strike="noStrike">
                    <a:solidFill>
                      <a:srgbClr val="000000"/>
                    </a:solidFill>
                    <a:latin typeface="Arial"/>
                  </a:defRPr>
                </a:pPr>
                <a:endParaRPr lang="en-NG"/>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Engineering</c:v>
                </c:pt>
                <c:pt idx="1">
                  <c:v>Compliance</c:v>
                </c:pt>
                <c:pt idx="2">
                  <c:v>Liquidity</c:v>
                </c:pt>
                <c:pt idx="3">
                  <c:v>Marketing</c:v>
                </c:pt>
                <c:pt idx="4">
                  <c:v>Operations</c:v>
                </c:pt>
              </c:strCache>
            </c:strRef>
          </c:cat>
          <c:val>
            <c:numRef>
              <c:f>Sheet1!$B$2:$B$6</c:f>
              <c:numCache>
                <c:formatCode>General</c:formatCode>
                <c:ptCount val="5"/>
                <c:pt idx="0">
                  <c:v>35</c:v>
                </c:pt>
                <c:pt idx="1">
                  <c:v>25</c:v>
                </c:pt>
                <c:pt idx="2">
                  <c:v>20</c:v>
                </c:pt>
                <c:pt idx="3">
                  <c:v>12</c:v>
                </c:pt>
                <c:pt idx="4">
                  <c:v>8</c:v>
                </c:pt>
              </c:numCache>
            </c:numRef>
          </c:val>
          <c:extLst>
            <c:ext xmlns:c16="http://schemas.microsoft.com/office/drawing/2014/chart" uri="{C3380CC4-5D6E-409C-BE32-E72D297353CC}">
              <c16:uniqueId val="{0000000A-F894-49B2-ACF3-48BD813031E9}"/>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850">
              <a:solidFill>
                <a:srgbClr val="8899A6"/>
              </a:solidFill>
            </a:defRPr>
          </a:pPr>
          <a:endParaRPr lang="en-NG"/>
        </a:p>
      </c:txPr>
    </c:legend>
    <c:plotVisOnly val="1"/>
    <c:dispBlanksAs val="span"/>
    <c:showDLblsOverMax val="1"/>
  </c:chart>
  <c:spPr>
    <a:solidFill>
      <a:srgbClr val="0D1E3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6683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E1F"/>
        </a:solidFill>
        <a:effectLst/>
      </p:bgPr>
    </p:bg>
    <p:spTree>
      <p:nvGrpSpPr>
        <p:cNvPr id="1" name=""/>
        <p:cNvGrpSpPr/>
        <p:nvPr/>
      </p:nvGrpSpPr>
      <p:grpSpPr>
        <a:xfrm>
          <a:off x="0" y="0"/>
          <a:ext cx="0" cy="0"/>
          <a:chOff x="0" y="0"/>
          <a:chExt cx="0" cy="0"/>
        </a:xfrm>
      </p:grpSpPr>
      <p:sp>
        <p:nvSpPr>
          <p:cNvPr id="2" name="Shape 0"/>
          <p:cNvSpPr/>
          <p:nvPr/>
        </p:nvSpPr>
        <p:spPr>
          <a:xfrm rot="1080000">
            <a:off x="6583680" y="-731520"/>
            <a:ext cx="3474720" cy="6858000"/>
          </a:xfrm>
          <a:prstGeom prst="rect">
            <a:avLst/>
          </a:prstGeom>
          <a:solidFill>
            <a:srgbClr val="00D4AA">
              <a:alpha val="8000"/>
            </a:srgbClr>
          </a:solidFill>
          <a:ln/>
        </p:spPr>
      </p:sp>
      <p:sp>
        <p:nvSpPr>
          <p:cNvPr id="3" name="Shape 1"/>
          <p:cNvSpPr/>
          <p:nvPr/>
        </p:nvSpPr>
        <p:spPr>
          <a:xfrm rot="1080000">
            <a:off x="7223760" y="-731520"/>
            <a:ext cx="2286000" cy="6858000"/>
          </a:xfrm>
          <a:prstGeom prst="rect">
            <a:avLst/>
          </a:prstGeom>
          <a:solidFill>
            <a:srgbClr val="00D4AA">
              <a:alpha val="5000"/>
            </a:srgbClr>
          </a:solidFill>
          <a:ln/>
        </p:spPr>
      </p:sp>
      <p:sp>
        <p:nvSpPr>
          <p:cNvPr id="4" name="Shape 2"/>
          <p:cNvSpPr/>
          <p:nvPr/>
        </p:nvSpPr>
        <p:spPr>
          <a:xfrm>
            <a:off x="-1097280" y="3200400"/>
            <a:ext cx="4572000" cy="4572000"/>
          </a:xfrm>
          <a:prstGeom prst="line">
            <a:avLst/>
          </a:prstGeom>
          <a:solidFill>
            <a:srgbClr val="00A882">
              <a:alpha val="6000"/>
            </a:srgbClr>
          </a:solidFill>
          <a:ln/>
        </p:spPr>
      </p:sp>
      <p:sp>
        <p:nvSpPr>
          <p:cNvPr id="5" name="Shape 3"/>
          <p:cNvSpPr/>
          <p:nvPr/>
        </p:nvSpPr>
        <p:spPr>
          <a:xfrm>
            <a:off x="347472" y="457200"/>
            <a:ext cx="1554480" cy="1554480"/>
          </a:xfrm>
          <a:prstGeom prst="line">
            <a:avLst/>
          </a:prstGeom>
          <a:solidFill>
            <a:srgbClr val="00D4AA"/>
          </a:solidFill>
          <a:ln/>
          <a:effectLst>
            <a:outerShdw blurRad="127000" dist="50800" dir="8100000" algn="bl" rotWithShape="0">
              <a:srgbClr val="000000">
                <a:alpha val="22000"/>
              </a:srgbClr>
            </a:outerShdw>
          </a:effectLst>
        </p:spPr>
      </p:sp>
      <p:sp>
        <p:nvSpPr>
          <p:cNvPr id="6" name="Text 4"/>
          <p:cNvSpPr/>
          <p:nvPr/>
        </p:nvSpPr>
        <p:spPr>
          <a:xfrm>
            <a:off x="347472" y="457200"/>
            <a:ext cx="1554480" cy="1554480"/>
          </a:xfrm>
          <a:prstGeom prst="rect">
            <a:avLst/>
          </a:prstGeom>
          <a:noFill/>
          <a:ln/>
        </p:spPr>
        <p:txBody>
          <a:bodyPr wrap="square" lIns="0" tIns="0" rIns="0" bIns="0" rtlCol="0" anchor="ctr"/>
          <a:lstStyle/>
          <a:p>
            <a:pPr marL="0" indent="0" algn="ctr">
              <a:buNone/>
            </a:pPr>
            <a:r>
              <a:rPr lang="en-US" sz="3800" b="1" dirty="0">
                <a:solidFill>
                  <a:srgbClr val="060E1F"/>
                </a:solidFill>
                <a:latin typeface="Calibri" pitchFamily="34" charset="0"/>
                <a:ea typeface="Calibri" pitchFamily="34" charset="-122"/>
                <a:cs typeface="Calibri" pitchFamily="34" charset="-120"/>
              </a:rPr>
              <a:t>H⚡</a:t>
            </a:r>
            <a:endParaRPr lang="en-US" sz="3800" dirty="0"/>
          </a:p>
        </p:txBody>
      </p:sp>
      <p:sp>
        <p:nvSpPr>
          <p:cNvPr id="7" name="Text 5"/>
          <p:cNvSpPr/>
          <p:nvPr/>
        </p:nvSpPr>
        <p:spPr>
          <a:xfrm>
            <a:off x="2057400" y="502920"/>
            <a:ext cx="6858000" cy="77724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HashPay Global</a:t>
            </a:r>
            <a:endParaRPr lang="en-US" sz="5800" dirty="0"/>
          </a:p>
        </p:txBody>
      </p:sp>
      <p:sp>
        <p:nvSpPr>
          <p:cNvPr id="8" name="Text 6"/>
          <p:cNvSpPr/>
          <p:nvPr/>
        </p:nvSpPr>
        <p:spPr>
          <a:xfrm>
            <a:off x="2057400" y="1325880"/>
            <a:ext cx="6858000" cy="384048"/>
          </a:xfrm>
          <a:prstGeom prst="rect">
            <a:avLst/>
          </a:prstGeom>
          <a:noFill/>
          <a:ln/>
        </p:spPr>
        <p:txBody>
          <a:bodyPr wrap="square" lIns="0" tIns="0" rIns="0" bIns="0" rtlCol="0" anchor="ctr"/>
          <a:lstStyle/>
          <a:p>
            <a:pPr marL="0" indent="0">
              <a:buNone/>
            </a:pPr>
            <a:r>
              <a:rPr lang="en-US" sz="1700" i="1" dirty="0">
                <a:solidFill>
                  <a:srgbClr val="00D4AA"/>
                </a:solidFill>
                <a:latin typeface="Calibri" pitchFamily="34" charset="0"/>
                <a:ea typeface="Calibri" pitchFamily="34" charset="-122"/>
                <a:cs typeface="Calibri" pitchFamily="34" charset="-120"/>
              </a:rPr>
              <a:t>The Universal Currency Exchange Network</a:t>
            </a:r>
            <a:endParaRPr lang="en-US" sz="1700" dirty="0"/>
          </a:p>
        </p:txBody>
      </p:sp>
      <p:sp>
        <p:nvSpPr>
          <p:cNvPr id="9" name="Text 7"/>
          <p:cNvSpPr/>
          <p:nvPr/>
        </p:nvSpPr>
        <p:spPr>
          <a:xfrm>
            <a:off x="2057400" y="1828800"/>
            <a:ext cx="6675120" cy="685800"/>
          </a:xfrm>
          <a:prstGeom prst="rect">
            <a:avLst/>
          </a:prstGeom>
          <a:noFill/>
          <a:ln/>
        </p:spPr>
        <p:txBody>
          <a:bodyPr wrap="square" lIns="0" tIns="0" rIns="0" bIns="0" rtlCol="0" anchor="ctr"/>
          <a:lstStyle/>
          <a:p>
            <a:pPr marL="0" indent="0">
              <a:buNone/>
            </a:pPr>
            <a:r>
              <a:rPr lang="en-US" sz="1250" dirty="0">
                <a:solidFill>
                  <a:srgbClr val="8899A6"/>
                </a:solidFill>
                <a:latin typeface="Calibri" pitchFamily="34" charset="0"/>
                <a:ea typeface="Calibri" pitchFamily="34" charset="-122"/>
                <a:cs typeface="Calibri" pitchFamily="34" charset="-120"/>
              </a:rPr>
              <a:t>Send any currency. Spend anywhere. Receive locally.</a:t>
            </a:r>
            <a:endParaRPr lang="en-US" sz="1250" dirty="0"/>
          </a:p>
          <a:p>
            <a:pPr marL="0" indent="0">
              <a:buNone/>
            </a:pPr>
            <a:r>
              <a:rPr lang="en-US" sz="1250" dirty="0">
                <a:solidFill>
                  <a:srgbClr val="8899A6"/>
                </a:solidFill>
                <a:latin typeface="Calibri" pitchFamily="34" charset="0"/>
                <a:ea typeface="Calibri" pitchFamily="34" charset="-122"/>
                <a:cs typeface="Calibri" pitchFamily="34" charset="-120"/>
              </a:rPr>
              <a:t>HashPay Global is the financial infrastructure that makes every local currency universal.</a:t>
            </a:r>
            <a:endParaRPr lang="en-US" sz="1250" dirty="0"/>
          </a:p>
        </p:txBody>
      </p:sp>
      <p:sp>
        <p:nvSpPr>
          <p:cNvPr id="10" name="Shape 8"/>
          <p:cNvSpPr/>
          <p:nvPr/>
        </p:nvSpPr>
        <p:spPr>
          <a:xfrm>
            <a:off x="2057400" y="2633472"/>
            <a:ext cx="5943600" cy="27432"/>
          </a:xfrm>
          <a:prstGeom prst="rect">
            <a:avLst/>
          </a:prstGeom>
          <a:solidFill>
            <a:srgbClr val="00D4AA">
              <a:alpha val="65000"/>
            </a:srgbClr>
          </a:solidFill>
          <a:ln/>
        </p:spPr>
      </p:sp>
      <p:sp>
        <p:nvSpPr>
          <p:cNvPr id="11" name="Shape 9"/>
          <p:cNvSpPr/>
          <p:nvPr/>
        </p:nvSpPr>
        <p:spPr>
          <a:xfrm>
            <a:off x="320040" y="2788920"/>
            <a:ext cx="2011680" cy="1298448"/>
          </a:xfrm>
          <a:prstGeom prst="rect">
            <a:avLst/>
          </a:prstGeom>
          <a:solidFill>
            <a:srgbClr val="0E2040"/>
          </a:solidFill>
          <a:ln/>
          <a:effectLst>
            <a:outerShdw blurRad="127000" dist="50800" dir="8100000" algn="bl" rotWithShape="0">
              <a:srgbClr val="000000">
                <a:alpha val="22000"/>
              </a:srgbClr>
            </a:outerShdw>
          </a:effectLst>
        </p:spPr>
      </p:sp>
      <p:sp>
        <p:nvSpPr>
          <p:cNvPr id="12" name="Shape 10"/>
          <p:cNvSpPr/>
          <p:nvPr/>
        </p:nvSpPr>
        <p:spPr>
          <a:xfrm>
            <a:off x="320040" y="2788920"/>
            <a:ext cx="2011680" cy="50292"/>
          </a:xfrm>
          <a:prstGeom prst="rect">
            <a:avLst/>
          </a:prstGeom>
          <a:solidFill>
            <a:srgbClr val="00D4AA"/>
          </a:solidFill>
          <a:ln/>
        </p:spPr>
      </p:sp>
      <p:sp>
        <p:nvSpPr>
          <p:cNvPr id="13" name="Text 11"/>
          <p:cNvSpPr/>
          <p:nvPr/>
        </p:nvSpPr>
        <p:spPr>
          <a:xfrm>
            <a:off x="320040" y="2862072"/>
            <a:ext cx="2011680" cy="658368"/>
          </a:xfrm>
          <a:prstGeom prst="rect">
            <a:avLst/>
          </a:prstGeom>
          <a:noFill/>
          <a:ln/>
        </p:spPr>
        <p:txBody>
          <a:bodyPr wrap="square" lIns="0" tIns="0" rIns="0" bIns="0" rtlCol="0" anchor="ctr"/>
          <a:lstStyle/>
          <a:p>
            <a:pPr marL="0" indent="0" algn="ctr">
              <a:buNone/>
            </a:pPr>
            <a:r>
              <a:rPr lang="en-US" sz="2800" b="1" dirty="0">
                <a:solidFill>
                  <a:srgbClr val="00D4AA"/>
                </a:solidFill>
                <a:latin typeface="Calibri" pitchFamily="34" charset="0"/>
                <a:ea typeface="Calibri" pitchFamily="34" charset="-122"/>
                <a:cs typeface="Calibri" pitchFamily="34" charset="-120"/>
              </a:rPr>
              <a:t>$194T+</a:t>
            </a:r>
            <a:endParaRPr lang="en-US" sz="2800" dirty="0"/>
          </a:p>
        </p:txBody>
      </p:sp>
      <p:sp>
        <p:nvSpPr>
          <p:cNvPr id="14" name="Text 12"/>
          <p:cNvSpPr/>
          <p:nvPr/>
        </p:nvSpPr>
        <p:spPr>
          <a:xfrm>
            <a:off x="411480" y="3529584"/>
            <a:ext cx="1828800" cy="475488"/>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Global Cross-Border</a:t>
            </a:r>
            <a:endParaRPr lang="en-US" sz="950" dirty="0"/>
          </a:p>
          <a:p>
            <a:pPr marL="0" indent="0" algn="ctr">
              <a:buNone/>
            </a:pPr>
            <a:r>
              <a:rPr lang="en-US" sz="950" dirty="0">
                <a:solidFill>
                  <a:srgbClr val="8899A6"/>
                </a:solidFill>
                <a:latin typeface="Calibri" pitchFamily="34" charset="0"/>
                <a:ea typeface="Calibri" pitchFamily="34" charset="-122"/>
                <a:cs typeface="Calibri" pitchFamily="34" charset="-120"/>
              </a:rPr>
              <a:t>Payment Volume (2024)</a:t>
            </a:r>
            <a:endParaRPr lang="en-US" sz="950" dirty="0"/>
          </a:p>
        </p:txBody>
      </p:sp>
      <p:sp>
        <p:nvSpPr>
          <p:cNvPr id="15" name="Shape 13"/>
          <p:cNvSpPr/>
          <p:nvPr/>
        </p:nvSpPr>
        <p:spPr>
          <a:xfrm>
            <a:off x="2514600" y="2788920"/>
            <a:ext cx="2011680" cy="1298448"/>
          </a:xfrm>
          <a:prstGeom prst="rect">
            <a:avLst/>
          </a:prstGeom>
          <a:solidFill>
            <a:srgbClr val="0E2040"/>
          </a:solidFill>
          <a:ln/>
          <a:effectLst>
            <a:outerShdw blurRad="127000" dist="50800" dir="8100000" algn="bl" rotWithShape="0">
              <a:srgbClr val="000000">
                <a:alpha val="22000"/>
              </a:srgbClr>
            </a:outerShdw>
          </a:effectLst>
        </p:spPr>
      </p:sp>
      <p:sp>
        <p:nvSpPr>
          <p:cNvPr id="16" name="Shape 14"/>
          <p:cNvSpPr/>
          <p:nvPr/>
        </p:nvSpPr>
        <p:spPr>
          <a:xfrm>
            <a:off x="2514600" y="2788920"/>
            <a:ext cx="2011680" cy="50292"/>
          </a:xfrm>
          <a:prstGeom prst="rect">
            <a:avLst/>
          </a:prstGeom>
          <a:solidFill>
            <a:srgbClr val="00D4AA"/>
          </a:solidFill>
          <a:ln/>
        </p:spPr>
      </p:sp>
      <p:sp>
        <p:nvSpPr>
          <p:cNvPr id="17" name="Text 15"/>
          <p:cNvSpPr/>
          <p:nvPr/>
        </p:nvSpPr>
        <p:spPr>
          <a:xfrm>
            <a:off x="2514600" y="2862072"/>
            <a:ext cx="2011680" cy="658368"/>
          </a:xfrm>
          <a:prstGeom prst="rect">
            <a:avLst/>
          </a:prstGeom>
          <a:noFill/>
          <a:ln/>
        </p:spPr>
        <p:txBody>
          <a:bodyPr wrap="square" lIns="0" tIns="0" rIns="0" bIns="0" rtlCol="0" anchor="ctr"/>
          <a:lstStyle/>
          <a:p>
            <a:pPr marL="0" indent="0" algn="ctr">
              <a:buNone/>
            </a:pPr>
            <a:r>
              <a:rPr lang="en-US" sz="2800" b="1" dirty="0">
                <a:solidFill>
                  <a:srgbClr val="00D4AA"/>
                </a:solidFill>
                <a:latin typeface="Calibri" pitchFamily="34" charset="0"/>
                <a:ea typeface="Calibri" pitchFamily="34" charset="-122"/>
                <a:cs typeface="Calibri" pitchFamily="34" charset="-120"/>
              </a:rPr>
              <a:t>&lt;1%</a:t>
            </a:r>
            <a:endParaRPr lang="en-US" sz="2800" dirty="0"/>
          </a:p>
        </p:txBody>
      </p:sp>
      <p:sp>
        <p:nvSpPr>
          <p:cNvPr id="18" name="Text 16"/>
          <p:cNvSpPr/>
          <p:nvPr/>
        </p:nvSpPr>
        <p:spPr>
          <a:xfrm>
            <a:off x="2606040" y="3529584"/>
            <a:ext cx="1828800" cy="475488"/>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HashPay Target</a:t>
            </a:r>
            <a:endParaRPr lang="en-US" sz="950" dirty="0"/>
          </a:p>
          <a:p>
            <a:pPr marL="0" indent="0" algn="ctr">
              <a:buNone/>
            </a:pPr>
            <a:r>
              <a:rPr lang="en-US" sz="950" dirty="0">
                <a:solidFill>
                  <a:srgbClr val="8899A6"/>
                </a:solidFill>
                <a:latin typeface="Calibri" pitchFamily="34" charset="0"/>
                <a:ea typeface="Calibri" pitchFamily="34" charset="-122"/>
                <a:cs typeface="Calibri" pitchFamily="34" charset="-120"/>
              </a:rPr>
              <a:t>Transaction Fee</a:t>
            </a:r>
            <a:endParaRPr lang="en-US" sz="950" dirty="0"/>
          </a:p>
        </p:txBody>
      </p:sp>
      <p:sp>
        <p:nvSpPr>
          <p:cNvPr id="19" name="Shape 17"/>
          <p:cNvSpPr/>
          <p:nvPr/>
        </p:nvSpPr>
        <p:spPr>
          <a:xfrm>
            <a:off x="4709160" y="2788920"/>
            <a:ext cx="2011680" cy="1298448"/>
          </a:xfrm>
          <a:prstGeom prst="rect">
            <a:avLst/>
          </a:prstGeom>
          <a:solidFill>
            <a:srgbClr val="0E2040"/>
          </a:solidFill>
          <a:ln/>
          <a:effectLst>
            <a:outerShdw blurRad="127000" dist="50800" dir="8100000" algn="bl" rotWithShape="0">
              <a:srgbClr val="000000">
                <a:alpha val="22000"/>
              </a:srgbClr>
            </a:outerShdw>
          </a:effectLst>
        </p:spPr>
      </p:sp>
      <p:sp>
        <p:nvSpPr>
          <p:cNvPr id="20" name="Shape 18"/>
          <p:cNvSpPr/>
          <p:nvPr/>
        </p:nvSpPr>
        <p:spPr>
          <a:xfrm>
            <a:off x="4709160" y="2788920"/>
            <a:ext cx="2011680" cy="50292"/>
          </a:xfrm>
          <a:prstGeom prst="rect">
            <a:avLst/>
          </a:prstGeom>
          <a:solidFill>
            <a:srgbClr val="00D4AA"/>
          </a:solidFill>
          <a:ln/>
        </p:spPr>
      </p:sp>
      <p:sp>
        <p:nvSpPr>
          <p:cNvPr id="21" name="Text 19"/>
          <p:cNvSpPr/>
          <p:nvPr/>
        </p:nvSpPr>
        <p:spPr>
          <a:xfrm>
            <a:off x="4709160" y="2862072"/>
            <a:ext cx="2011680" cy="658368"/>
          </a:xfrm>
          <a:prstGeom prst="rect">
            <a:avLst/>
          </a:prstGeom>
          <a:noFill/>
          <a:ln/>
        </p:spPr>
        <p:txBody>
          <a:bodyPr wrap="square" lIns="0" tIns="0" rIns="0" bIns="0" rtlCol="0" anchor="ctr"/>
          <a:lstStyle/>
          <a:p>
            <a:pPr marL="0" indent="0" algn="ctr">
              <a:buNone/>
            </a:pPr>
            <a:r>
              <a:rPr lang="en-US" sz="2800" b="1" dirty="0">
                <a:solidFill>
                  <a:srgbClr val="00D4AA"/>
                </a:solidFill>
                <a:latin typeface="Calibri" pitchFamily="34" charset="0"/>
                <a:ea typeface="Calibri" pitchFamily="34" charset="-122"/>
                <a:cs typeface="Calibri" pitchFamily="34" charset="-120"/>
              </a:rPr>
              <a:t>3–10s</a:t>
            </a:r>
            <a:endParaRPr lang="en-US" sz="2800" dirty="0"/>
          </a:p>
        </p:txBody>
      </p:sp>
      <p:sp>
        <p:nvSpPr>
          <p:cNvPr id="22" name="Text 20"/>
          <p:cNvSpPr/>
          <p:nvPr/>
        </p:nvSpPr>
        <p:spPr>
          <a:xfrm>
            <a:off x="4800600" y="3529584"/>
            <a:ext cx="1828800" cy="475488"/>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Blockchain Settlement</a:t>
            </a:r>
            <a:endParaRPr lang="en-US" sz="950" dirty="0"/>
          </a:p>
          <a:p>
            <a:pPr marL="0" indent="0" algn="ctr">
              <a:buNone/>
            </a:pPr>
            <a:r>
              <a:rPr lang="en-US" sz="950" dirty="0">
                <a:solidFill>
                  <a:srgbClr val="8899A6"/>
                </a:solidFill>
                <a:latin typeface="Calibri" pitchFamily="34" charset="0"/>
                <a:ea typeface="Calibri" pitchFamily="34" charset="-122"/>
                <a:cs typeface="Calibri" pitchFamily="34" charset="-120"/>
              </a:rPr>
              <a:t>Time</a:t>
            </a:r>
            <a:endParaRPr lang="en-US" sz="950" dirty="0"/>
          </a:p>
        </p:txBody>
      </p:sp>
      <p:sp>
        <p:nvSpPr>
          <p:cNvPr id="23" name="Shape 21"/>
          <p:cNvSpPr/>
          <p:nvPr/>
        </p:nvSpPr>
        <p:spPr>
          <a:xfrm>
            <a:off x="6903720" y="2788920"/>
            <a:ext cx="2011680" cy="1298448"/>
          </a:xfrm>
          <a:prstGeom prst="rect">
            <a:avLst/>
          </a:prstGeom>
          <a:solidFill>
            <a:srgbClr val="0E2040"/>
          </a:solidFill>
          <a:ln/>
          <a:effectLst>
            <a:outerShdw blurRad="127000" dist="50800" dir="8100000" algn="bl" rotWithShape="0">
              <a:srgbClr val="000000">
                <a:alpha val="22000"/>
              </a:srgbClr>
            </a:outerShdw>
          </a:effectLst>
        </p:spPr>
      </p:sp>
      <p:sp>
        <p:nvSpPr>
          <p:cNvPr id="24" name="Shape 22"/>
          <p:cNvSpPr/>
          <p:nvPr/>
        </p:nvSpPr>
        <p:spPr>
          <a:xfrm>
            <a:off x="6903720" y="2788920"/>
            <a:ext cx="2011680" cy="50292"/>
          </a:xfrm>
          <a:prstGeom prst="rect">
            <a:avLst/>
          </a:prstGeom>
          <a:solidFill>
            <a:srgbClr val="00D4AA"/>
          </a:solidFill>
          <a:ln/>
        </p:spPr>
      </p:sp>
      <p:sp>
        <p:nvSpPr>
          <p:cNvPr id="25" name="Text 23"/>
          <p:cNvSpPr/>
          <p:nvPr/>
        </p:nvSpPr>
        <p:spPr>
          <a:xfrm>
            <a:off x="6903720" y="2862072"/>
            <a:ext cx="2011680" cy="658368"/>
          </a:xfrm>
          <a:prstGeom prst="rect">
            <a:avLst/>
          </a:prstGeom>
          <a:noFill/>
          <a:ln/>
        </p:spPr>
        <p:txBody>
          <a:bodyPr wrap="square" lIns="0" tIns="0" rIns="0" bIns="0" rtlCol="0" anchor="ctr"/>
          <a:lstStyle/>
          <a:p>
            <a:pPr marL="0" indent="0" algn="ctr">
              <a:buNone/>
            </a:pPr>
            <a:r>
              <a:rPr lang="en-US" sz="2800" b="1" dirty="0">
                <a:solidFill>
                  <a:srgbClr val="00D4AA"/>
                </a:solidFill>
                <a:latin typeface="Calibri" pitchFamily="34" charset="0"/>
                <a:ea typeface="Calibri" pitchFamily="34" charset="-122"/>
                <a:cs typeface="Calibri" pitchFamily="34" charset="-120"/>
              </a:rPr>
              <a:t>100+</a:t>
            </a:r>
            <a:endParaRPr lang="en-US" sz="2800" dirty="0"/>
          </a:p>
        </p:txBody>
      </p:sp>
      <p:sp>
        <p:nvSpPr>
          <p:cNvPr id="26" name="Text 24"/>
          <p:cNvSpPr/>
          <p:nvPr/>
        </p:nvSpPr>
        <p:spPr>
          <a:xfrm>
            <a:off x="6995160" y="3529584"/>
            <a:ext cx="1828800" cy="475488"/>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Target Currencies</a:t>
            </a:r>
            <a:endParaRPr lang="en-US" sz="950" dirty="0"/>
          </a:p>
          <a:p>
            <a:pPr marL="0" indent="0" algn="ctr">
              <a:buNone/>
            </a:pPr>
            <a:r>
              <a:rPr lang="en-US" sz="950" dirty="0">
                <a:solidFill>
                  <a:srgbClr val="8899A6"/>
                </a:solidFill>
                <a:latin typeface="Calibri" pitchFamily="34" charset="0"/>
                <a:ea typeface="Calibri" pitchFamily="34" charset="-122"/>
                <a:cs typeface="Calibri" pitchFamily="34" charset="-120"/>
              </a:rPr>
              <a:t>in 5 Years</a:t>
            </a:r>
            <a:endParaRPr lang="en-US" sz="950" dirty="0"/>
          </a:p>
        </p:txBody>
      </p:sp>
      <p:sp>
        <p:nvSpPr>
          <p:cNvPr id="27" name="Shape 25"/>
          <p:cNvSpPr/>
          <p:nvPr/>
        </p:nvSpPr>
        <p:spPr>
          <a:xfrm>
            <a:off x="320040" y="4645152"/>
            <a:ext cx="8503920" cy="384048"/>
          </a:xfrm>
          <a:prstGeom prst="rect">
            <a:avLst/>
          </a:prstGeom>
          <a:solidFill>
            <a:srgbClr val="0E2040"/>
          </a:solidFill>
          <a:ln/>
        </p:spPr>
      </p:sp>
      <p:sp>
        <p:nvSpPr>
          <p:cNvPr id="28" name="Text 26"/>
          <p:cNvSpPr/>
          <p:nvPr/>
        </p:nvSpPr>
        <p:spPr>
          <a:xfrm>
            <a:off x="411480" y="4700016"/>
            <a:ext cx="8321040" cy="274320"/>
          </a:xfrm>
          <a:prstGeom prst="rect">
            <a:avLst/>
          </a:prstGeom>
          <a:noFill/>
          <a:ln/>
        </p:spPr>
        <p:txBody>
          <a:bodyPr wrap="square" lIns="0" tIns="0" rIns="0" bIns="0" rtlCol="0" anchor="ctr"/>
          <a:lstStyle/>
          <a:p>
            <a:pPr marL="0" indent="0" algn="ctr">
              <a:buNone/>
            </a:pPr>
            <a:r>
              <a:rPr lang="en-US" sz="1000" dirty="0">
                <a:solidFill>
                  <a:srgbClr val="00D4AA"/>
                </a:solidFill>
                <a:latin typeface="Calibri" pitchFamily="34" charset="0"/>
                <a:ea typeface="Calibri" pitchFamily="34" charset="-122"/>
                <a:cs typeface="Calibri" pitchFamily="34" charset="-120"/>
              </a:rPr>
              <a:t>Benedict Pascal  ·  Founder &amp; CEO  ·  benedictpascal01@gmail.com  ·  linkedin.com/in/benedict-pascal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Executive Summary</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The investment thesis in one slide</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8503920" cy="868680"/>
          </a:xfrm>
          <a:prstGeom prst="rect">
            <a:avLst/>
          </a:prstGeom>
          <a:solidFill>
            <a:srgbClr val="0D1E38"/>
          </a:solidFill>
          <a:ln/>
          <a:effectLst>
            <a:outerShdw blurRad="127000" dist="50800" dir="8100000" algn="bl" rotWithShape="0">
              <a:srgbClr val="000000">
                <a:alpha val="22000"/>
              </a:srgbClr>
            </a:outerShdw>
          </a:effectLst>
        </p:spPr>
      </p:sp>
      <p:sp>
        <p:nvSpPr>
          <p:cNvPr id="7" name="Shape 5"/>
          <p:cNvSpPr/>
          <p:nvPr/>
        </p:nvSpPr>
        <p:spPr>
          <a:xfrm>
            <a:off x="320040" y="1024128"/>
            <a:ext cx="73152" cy="868680"/>
          </a:xfrm>
          <a:prstGeom prst="rect">
            <a:avLst/>
          </a:prstGeom>
          <a:solidFill>
            <a:srgbClr val="00D4AA"/>
          </a:solidFill>
          <a:ln/>
        </p:spPr>
      </p:sp>
      <p:sp>
        <p:nvSpPr>
          <p:cNvPr id="8" name="Text 6"/>
          <p:cNvSpPr/>
          <p:nvPr/>
        </p:nvSpPr>
        <p:spPr>
          <a:xfrm>
            <a:off x="530352" y="1060704"/>
            <a:ext cx="3657600" cy="292608"/>
          </a:xfrm>
          <a:prstGeom prst="rect">
            <a:avLst/>
          </a:prstGeom>
          <a:noFill/>
          <a:ln/>
        </p:spPr>
        <p:txBody>
          <a:bodyPr wrap="square" lIns="0" tIns="0" rIns="0" bIns="0"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  The Vision</a:t>
            </a:r>
            <a:endParaRPr lang="en-US" sz="1300" dirty="0"/>
          </a:p>
        </p:txBody>
      </p:sp>
      <p:sp>
        <p:nvSpPr>
          <p:cNvPr id="9" name="Text 7"/>
          <p:cNvSpPr/>
          <p:nvPr/>
        </p:nvSpPr>
        <p:spPr>
          <a:xfrm>
            <a:off x="530352" y="1353312"/>
            <a:ext cx="8229600" cy="457200"/>
          </a:xfrm>
          <a:prstGeom prst="rect">
            <a:avLst/>
          </a:prstGeom>
          <a:noFill/>
          <a:ln/>
        </p:spPr>
        <p:txBody>
          <a:bodyPr wrap="square" lIns="0" tIns="0" rIns="0" bIns="0" rtlCol="0" anchor="ctr"/>
          <a:lstStyle/>
          <a:p>
            <a:pPr marL="0" indent="0">
              <a:buNone/>
            </a:pPr>
            <a:r>
              <a:rPr lang="en-US" sz="1100" dirty="0">
                <a:solidFill>
                  <a:srgbClr val="8899A6"/>
                </a:solidFill>
                <a:latin typeface="Calibri" pitchFamily="34" charset="0"/>
                <a:ea typeface="Calibri" pitchFamily="34" charset="-122"/>
                <a:cs typeface="Calibri" pitchFamily="34" charset="-120"/>
              </a:rPr>
              <a:t>HashPay Global is building the world's first Universal Currency Exchange Network — infrastructure that allows any person anywhere in the world to send their local currency and have it arrive as the recipient's local currency, automatically, in seconds. No conversion hassle. No USD dependency. No hidden fees.</a:t>
            </a:r>
            <a:endParaRPr lang="en-US" sz="1100" dirty="0"/>
          </a:p>
        </p:txBody>
      </p:sp>
      <p:sp>
        <p:nvSpPr>
          <p:cNvPr id="10" name="Shape 8"/>
          <p:cNvSpPr/>
          <p:nvPr/>
        </p:nvSpPr>
        <p:spPr>
          <a:xfrm>
            <a:off x="320040" y="2011680"/>
            <a:ext cx="2715768" cy="2944368"/>
          </a:xfrm>
          <a:prstGeom prst="rect">
            <a:avLst/>
          </a:prstGeom>
          <a:solidFill>
            <a:srgbClr val="0D1E38"/>
          </a:solidFill>
          <a:ln/>
          <a:effectLst>
            <a:outerShdw blurRad="127000" dist="50800" dir="8100000" algn="bl" rotWithShape="0">
              <a:srgbClr val="000000">
                <a:alpha val="22000"/>
              </a:srgbClr>
            </a:outerShdw>
          </a:effectLst>
        </p:spPr>
      </p:sp>
      <p:sp>
        <p:nvSpPr>
          <p:cNvPr id="11" name="Shape 9"/>
          <p:cNvSpPr/>
          <p:nvPr/>
        </p:nvSpPr>
        <p:spPr>
          <a:xfrm>
            <a:off x="320040" y="2011680"/>
            <a:ext cx="2715768" cy="438912"/>
          </a:xfrm>
          <a:prstGeom prst="rect">
            <a:avLst/>
          </a:prstGeom>
          <a:solidFill>
            <a:srgbClr val="EF4444"/>
          </a:solidFill>
          <a:ln/>
        </p:spPr>
      </p:sp>
      <p:sp>
        <p:nvSpPr>
          <p:cNvPr id="12" name="Text 10"/>
          <p:cNvSpPr/>
          <p:nvPr/>
        </p:nvSpPr>
        <p:spPr>
          <a:xfrm>
            <a:off x="393192" y="2048256"/>
            <a:ext cx="2578608" cy="365760"/>
          </a:xfrm>
          <a:prstGeom prst="rect">
            <a:avLst/>
          </a:prstGeom>
          <a:noFill/>
          <a:ln/>
        </p:spPr>
        <p:txBody>
          <a:bodyPr wrap="square" lIns="0" tIns="0" rIns="0" bIns="0" rtlCol="0" anchor="ctr"/>
          <a:lstStyle/>
          <a:p>
            <a:pPr marL="0" indent="0">
              <a:buNone/>
            </a:pPr>
            <a:r>
              <a:rPr lang="en-US" sz="1300" b="1" dirty="0">
                <a:solidFill>
                  <a:srgbClr val="060E1F"/>
                </a:solidFill>
                <a:latin typeface="Calibri" pitchFamily="34" charset="0"/>
                <a:ea typeface="Calibri" pitchFamily="34" charset="-122"/>
                <a:cs typeface="Calibri" pitchFamily="34" charset="-120"/>
              </a:rPr>
              <a:t>💸  The Problem</a:t>
            </a:r>
            <a:endParaRPr lang="en-US" sz="1300" dirty="0"/>
          </a:p>
        </p:txBody>
      </p:sp>
      <p:sp>
        <p:nvSpPr>
          <p:cNvPr id="13" name="Text 11"/>
          <p:cNvSpPr/>
          <p:nvPr/>
        </p:nvSpPr>
        <p:spPr>
          <a:xfrm>
            <a:off x="411480" y="2542032"/>
            <a:ext cx="2542032" cy="530352"/>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 $194T+ in annual global payments trapped in slow, expensive infrastructure</a:t>
            </a:r>
            <a:endParaRPr lang="en-US" sz="1000" dirty="0"/>
          </a:p>
        </p:txBody>
      </p:sp>
      <p:sp>
        <p:nvSpPr>
          <p:cNvPr id="14" name="Text 12"/>
          <p:cNvSpPr/>
          <p:nvPr/>
        </p:nvSpPr>
        <p:spPr>
          <a:xfrm>
            <a:off x="411480" y="3136392"/>
            <a:ext cx="2542032" cy="530352"/>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 Average 6–12% transaction fees drain wealth from emerging economies</a:t>
            </a:r>
            <a:endParaRPr lang="en-US" sz="1000" dirty="0"/>
          </a:p>
        </p:txBody>
      </p:sp>
      <p:sp>
        <p:nvSpPr>
          <p:cNvPr id="15" name="Text 13"/>
          <p:cNvSpPr/>
          <p:nvPr/>
        </p:nvSpPr>
        <p:spPr>
          <a:xfrm>
            <a:off x="411480" y="3730752"/>
            <a:ext cx="2542032" cy="530352"/>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 1–5 day settlement delays harm businesses and families worldwide</a:t>
            </a:r>
            <a:endParaRPr lang="en-US" sz="1000" dirty="0"/>
          </a:p>
        </p:txBody>
      </p:sp>
      <p:sp>
        <p:nvSpPr>
          <p:cNvPr id="16" name="Text 14"/>
          <p:cNvSpPr/>
          <p:nvPr/>
        </p:nvSpPr>
        <p:spPr>
          <a:xfrm>
            <a:off x="411480" y="4325112"/>
            <a:ext cx="2542032" cy="530352"/>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 Sub-Saharan Africa pays 7.73% — the world's most expensive sending region</a:t>
            </a:r>
            <a:endParaRPr lang="en-US" sz="1000" dirty="0"/>
          </a:p>
        </p:txBody>
      </p:sp>
      <p:sp>
        <p:nvSpPr>
          <p:cNvPr id="17" name="Shape 15"/>
          <p:cNvSpPr/>
          <p:nvPr/>
        </p:nvSpPr>
        <p:spPr>
          <a:xfrm>
            <a:off x="3200400" y="2011680"/>
            <a:ext cx="2715768" cy="2944368"/>
          </a:xfrm>
          <a:prstGeom prst="rect">
            <a:avLst/>
          </a:prstGeom>
          <a:solidFill>
            <a:srgbClr val="0D1E38"/>
          </a:solidFill>
          <a:ln/>
          <a:effectLst>
            <a:outerShdw blurRad="127000" dist="50800" dir="8100000" algn="bl" rotWithShape="0">
              <a:srgbClr val="000000">
                <a:alpha val="22000"/>
              </a:srgbClr>
            </a:outerShdw>
          </a:effectLst>
        </p:spPr>
      </p:sp>
      <p:sp>
        <p:nvSpPr>
          <p:cNvPr id="18" name="Shape 16"/>
          <p:cNvSpPr/>
          <p:nvPr/>
        </p:nvSpPr>
        <p:spPr>
          <a:xfrm>
            <a:off x="3200400" y="2011680"/>
            <a:ext cx="2715768" cy="438912"/>
          </a:xfrm>
          <a:prstGeom prst="rect">
            <a:avLst/>
          </a:prstGeom>
          <a:solidFill>
            <a:srgbClr val="00D4AA"/>
          </a:solidFill>
          <a:ln/>
        </p:spPr>
      </p:sp>
      <p:sp>
        <p:nvSpPr>
          <p:cNvPr id="19" name="Text 17"/>
          <p:cNvSpPr/>
          <p:nvPr/>
        </p:nvSpPr>
        <p:spPr>
          <a:xfrm>
            <a:off x="3273552" y="2048256"/>
            <a:ext cx="2578608" cy="365760"/>
          </a:xfrm>
          <a:prstGeom prst="rect">
            <a:avLst/>
          </a:prstGeom>
          <a:noFill/>
          <a:ln/>
        </p:spPr>
        <p:txBody>
          <a:bodyPr wrap="square" lIns="0" tIns="0" rIns="0" bIns="0" rtlCol="0" anchor="ctr"/>
          <a:lstStyle/>
          <a:p>
            <a:pPr marL="0" indent="0">
              <a:buNone/>
            </a:pPr>
            <a:r>
              <a:rPr lang="en-US" sz="1300" b="1" dirty="0">
                <a:solidFill>
                  <a:srgbClr val="060E1F"/>
                </a:solidFill>
                <a:latin typeface="Calibri" pitchFamily="34" charset="0"/>
                <a:ea typeface="Calibri" pitchFamily="34" charset="-122"/>
                <a:cs typeface="Calibri" pitchFamily="34" charset="-120"/>
              </a:rPr>
              <a:t>⚡  Our Solution</a:t>
            </a:r>
            <a:endParaRPr lang="en-US" sz="1300" dirty="0"/>
          </a:p>
        </p:txBody>
      </p:sp>
      <p:sp>
        <p:nvSpPr>
          <p:cNvPr id="20" name="Text 18"/>
          <p:cNvSpPr/>
          <p:nvPr/>
        </p:nvSpPr>
        <p:spPr>
          <a:xfrm>
            <a:off x="3291840" y="2542032"/>
            <a:ext cx="2542032" cy="530352"/>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 Direct local-to-local currency exchange — NGN directly to INR, zero USD middleman</a:t>
            </a:r>
            <a:endParaRPr lang="en-US" sz="1000" dirty="0"/>
          </a:p>
        </p:txBody>
      </p:sp>
      <p:sp>
        <p:nvSpPr>
          <p:cNvPr id="21" name="Text 19"/>
          <p:cNvSpPr/>
          <p:nvPr/>
        </p:nvSpPr>
        <p:spPr>
          <a:xfrm>
            <a:off x="3291840" y="3136392"/>
            <a:ext cx="2542032" cy="530352"/>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 Blockchain settlement layer completes transfers in 3–10 seconds</a:t>
            </a:r>
            <a:endParaRPr lang="en-US" sz="1000" dirty="0"/>
          </a:p>
        </p:txBody>
      </p:sp>
      <p:sp>
        <p:nvSpPr>
          <p:cNvPr id="22" name="Text 20"/>
          <p:cNvSpPr/>
          <p:nvPr/>
        </p:nvSpPr>
        <p:spPr>
          <a:xfrm>
            <a:off x="3291840" y="3730752"/>
            <a:ext cx="2542032" cy="530352"/>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 Hybrid Web2+Web3 infrastructure: compatible today, dominant tomorrow</a:t>
            </a:r>
            <a:endParaRPr lang="en-US" sz="1000" dirty="0"/>
          </a:p>
        </p:txBody>
      </p:sp>
      <p:sp>
        <p:nvSpPr>
          <p:cNvPr id="23" name="Text 21"/>
          <p:cNvSpPr/>
          <p:nvPr/>
        </p:nvSpPr>
        <p:spPr>
          <a:xfrm>
            <a:off x="3291840" y="4325112"/>
            <a:ext cx="2542032" cy="530352"/>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 Crypto on/off-ramp: send crypto, receive local currency — or vice versa</a:t>
            </a:r>
            <a:endParaRPr lang="en-US" sz="1000" dirty="0"/>
          </a:p>
        </p:txBody>
      </p:sp>
      <p:sp>
        <p:nvSpPr>
          <p:cNvPr id="24" name="Shape 22"/>
          <p:cNvSpPr/>
          <p:nvPr/>
        </p:nvSpPr>
        <p:spPr>
          <a:xfrm>
            <a:off x="6080760" y="2011680"/>
            <a:ext cx="2715768" cy="2944368"/>
          </a:xfrm>
          <a:prstGeom prst="rect">
            <a:avLst/>
          </a:prstGeom>
          <a:solidFill>
            <a:srgbClr val="0D1E38"/>
          </a:solidFill>
          <a:ln/>
          <a:effectLst>
            <a:outerShdw blurRad="127000" dist="50800" dir="8100000" algn="bl" rotWithShape="0">
              <a:srgbClr val="000000">
                <a:alpha val="22000"/>
              </a:srgbClr>
            </a:outerShdw>
          </a:effectLst>
        </p:spPr>
      </p:sp>
      <p:sp>
        <p:nvSpPr>
          <p:cNvPr id="25" name="Shape 23"/>
          <p:cNvSpPr/>
          <p:nvPr/>
        </p:nvSpPr>
        <p:spPr>
          <a:xfrm>
            <a:off x="6080760" y="2011680"/>
            <a:ext cx="2715768" cy="438912"/>
          </a:xfrm>
          <a:prstGeom prst="rect">
            <a:avLst/>
          </a:prstGeom>
          <a:solidFill>
            <a:srgbClr val="FFB800"/>
          </a:solidFill>
          <a:ln/>
        </p:spPr>
      </p:sp>
      <p:sp>
        <p:nvSpPr>
          <p:cNvPr id="26" name="Text 24"/>
          <p:cNvSpPr/>
          <p:nvPr/>
        </p:nvSpPr>
        <p:spPr>
          <a:xfrm>
            <a:off x="6153912" y="2048256"/>
            <a:ext cx="2578608" cy="365760"/>
          </a:xfrm>
          <a:prstGeom prst="rect">
            <a:avLst/>
          </a:prstGeom>
          <a:noFill/>
          <a:ln/>
        </p:spPr>
        <p:txBody>
          <a:bodyPr wrap="square" lIns="0" tIns="0" rIns="0" bIns="0" rtlCol="0" anchor="ctr"/>
          <a:lstStyle/>
          <a:p>
            <a:pPr marL="0" indent="0">
              <a:buNone/>
            </a:pPr>
            <a:r>
              <a:rPr lang="en-US" sz="1300" b="1" dirty="0">
                <a:solidFill>
                  <a:srgbClr val="060E1F"/>
                </a:solidFill>
                <a:latin typeface="Calibri" pitchFamily="34" charset="0"/>
                <a:ea typeface="Calibri" pitchFamily="34" charset="-122"/>
                <a:cs typeface="Calibri" pitchFamily="34" charset="-120"/>
              </a:rPr>
              <a:t>🚀  The Opportunity</a:t>
            </a:r>
            <a:endParaRPr lang="en-US" sz="1300" dirty="0"/>
          </a:p>
        </p:txBody>
      </p:sp>
      <p:sp>
        <p:nvSpPr>
          <p:cNvPr id="27" name="Text 25"/>
          <p:cNvSpPr/>
          <p:nvPr/>
        </p:nvSpPr>
        <p:spPr>
          <a:xfrm>
            <a:off x="6172200" y="2542032"/>
            <a:ext cx="2542032" cy="530352"/>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 $320B+ addressable market by 2030, growing at 7.1% CAGR annually</a:t>
            </a:r>
            <a:endParaRPr lang="en-US" sz="1000" dirty="0"/>
          </a:p>
        </p:txBody>
      </p:sp>
      <p:sp>
        <p:nvSpPr>
          <p:cNvPr id="28" name="Text 26"/>
          <p:cNvSpPr/>
          <p:nvPr/>
        </p:nvSpPr>
        <p:spPr>
          <a:xfrm>
            <a:off x="6172200" y="3136392"/>
            <a:ext cx="2542032" cy="530352"/>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 Africa alone: $100B+ remittance inflows in 2024, fastest growing at 10% CAGR</a:t>
            </a:r>
            <a:endParaRPr lang="en-US" sz="1000" dirty="0"/>
          </a:p>
        </p:txBody>
      </p:sp>
      <p:sp>
        <p:nvSpPr>
          <p:cNvPr id="29" name="Text 27"/>
          <p:cNvSpPr/>
          <p:nvPr/>
        </p:nvSpPr>
        <p:spPr>
          <a:xfrm>
            <a:off x="6172200" y="3730752"/>
            <a:ext cx="2542032" cy="530352"/>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 Stablecoins processed $27.6T in 2024 — already surpassing Visa + Mastercard</a:t>
            </a:r>
            <a:endParaRPr lang="en-US" sz="1000" dirty="0"/>
          </a:p>
        </p:txBody>
      </p:sp>
      <p:sp>
        <p:nvSpPr>
          <p:cNvPr id="30" name="Text 28"/>
          <p:cNvSpPr/>
          <p:nvPr/>
        </p:nvSpPr>
        <p:spPr>
          <a:xfrm>
            <a:off x="6172200" y="4325112"/>
            <a:ext cx="2542032" cy="530352"/>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 Target $10B transaction volume by Year 5 — $70M revenue at 0.7% fee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The Problem</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$194 trillion in annual payments trapped in a broken, expensive system</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8503920" cy="932688"/>
          </a:xfrm>
          <a:prstGeom prst="rect">
            <a:avLst/>
          </a:prstGeom>
          <a:solidFill>
            <a:srgbClr val="1A0A0A"/>
          </a:solidFill>
          <a:ln/>
          <a:effectLst>
            <a:outerShdw blurRad="127000" dist="50800" dir="8100000" algn="bl" rotWithShape="0">
              <a:srgbClr val="000000">
                <a:alpha val="22000"/>
              </a:srgbClr>
            </a:outerShdw>
          </a:effectLst>
        </p:spPr>
      </p:sp>
      <p:sp>
        <p:nvSpPr>
          <p:cNvPr id="7" name="Shape 5"/>
          <p:cNvSpPr/>
          <p:nvPr/>
        </p:nvSpPr>
        <p:spPr>
          <a:xfrm>
            <a:off x="320040" y="1024128"/>
            <a:ext cx="73152" cy="932688"/>
          </a:xfrm>
          <a:prstGeom prst="rect">
            <a:avLst/>
          </a:prstGeom>
          <a:solidFill>
            <a:srgbClr val="EF4444"/>
          </a:solidFill>
          <a:ln/>
        </p:spPr>
      </p:sp>
      <p:sp>
        <p:nvSpPr>
          <p:cNvPr id="8" name="Text 6"/>
          <p:cNvSpPr/>
          <p:nvPr/>
        </p:nvSpPr>
        <p:spPr>
          <a:xfrm>
            <a:off x="530352" y="1060704"/>
            <a:ext cx="3200400" cy="274320"/>
          </a:xfrm>
          <a:prstGeom prst="rect">
            <a:avLst/>
          </a:prstGeom>
          <a:noFill/>
          <a:ln/>
        </p:spPr>
        <p:txBody>
          <a:bodyPr wrap="square" lIns="0" tIns="0" rIns="0" bIns="0"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  The Human Cost</a:t>
            </a:r>
            <a:endParaRPr lang="en-US" sz="1200" dirty="0"/>
          </a:p>
        </p:txBody>
      </p:sp>
      <p:sp>
        <p:nvSpPr>
          <p:cNvPr id="9" name="Text 7"/>
          <p:cNvSpPr/>
          <p:nvPr/>
        </p:nvSpPr>
        <p:spPr>
          <a:xfrm>
            <a:off x="530352" y="1344168"/>
            <a:ext cx="8229600" cy="530352"/>
          </a:xfrm>
          <a:prstGeom prst="rect">
            <a:avLst/>
          </a:prstGeom>
          <a:noFill/>
          <a:ln/>
        </p:spPr>
        <p:txBody>
          <a:bodyPr wrap="square" lIns="0" tIns="0" rIns="0" bIns="0" rtlCol="0" anchor="ctr"/>
          <a:lstStyle/>
          <a:p>
            <a:pPr marL="0" indent="0">
              <a:buNone/>
            </a:pPr>
            <a:r>
              <a:rPr lang="en-US" sz="1100" dirty="0">
                <a:solidFill>
                  <a:srgbClr val="8899A6"/>
                </a:solidFill>
                <a:latin typeface="Calibri" pitchFamily="34" charset="0"/>
                <a:ea typeface="Calibri" pitchFamily="34" charset="-122"/>
                <a:cs typeface="Calibri" pitchFamily="34" charset="-120"/>
              </a:rPr>
              <a:t>A Nigerian father working in London sends £200 home. His bank charges 12% — his family receives the equivalent of £176, not £200. That £24 loss happens every month, every year, for millions of families. In Africa alone, $7.4 billion is lost annually to transfer fees. This is money that should fund school fees, healthcare, and businesses.</a:t>
            </a:r>
            <a:endParaRPr lang="en-US" sz="1100" dirty="0"/>
          </a:p>
        </p:txBody>
      </p:sp>
      <p:sp>
        <p:nvSpPr>
          <p:cNvPr id="10" name="Shape 8"/>
          <p:cNvSpPr/>
          <p:nvPr/>
        </p:nvSpPr>
        <p:spPr>
          <a:xfrm>
            <a:off x="320040" y="2130552"/>
            <a:ext cx="4133088" cy="1133856"/>
          </a:xfrm>
          <a:prstGeom prst="rect">
            <a:avLst/>
          </a:prstGeom>
          <a:solidFill>
            <a:srgbClr val="0D1E38"/>
          </a:solidFill>
          <a:ln/>
          <a:effectLst>
            <a:outerShdw blurRad="127000" dist="50800" dir="8100000" algn="bl" rotWithShape="0">
              <a:srgbClr val="000000">
                <a:alpha val="22000"/>
              </a:srgbClr>
            </a:outerShdw>
          </a:effectLst>
        </p:spPr>
      </p:sp>
      <p:sp>
        <p:nvSpPr>
          <p:cNvPr id="11" name="Shape 9"/>
          <p:cNvSpPr/>
          <p:nvPr/>
        </p:nvSpPr>
        <p:spPr>
          <a:xfrm>
            <a:off x="320040" y="2130552"/>
            <a:ext cx="64008" cy="1133856"/>
          </a:xfrm>
          <a:prstGeom prst="rect">
            <a:avLst/>
          </a:prstGeom>
          <a:solidFill>
            <a:srgbClr val="EF4444"/>
          </a:solidFill>
          <a:ln/>
        </p:spPr>
      </p:sp>
      <p:sp>
        <p:nvSpPr>
          <p:cNvPr id="12" name="Text 10"/>
          <p:cNvSpPr/>
          <p:nvPr/>
        </p:nvSpPr>
        <p:spPr>
          <a:xfrm>
            <a:off x="484632" y="2194560"/>
            <a:ext cx="3840480" cy="30175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Exorbitant Fees</a:t>
            </a:r>
            <a:endParaRPr lang="en-US" sz="1300" dirty="0"/>
          </a:p>
        </p:txBody>
      </p:sp>
      <p:sp>
        <p:nvSpPr>
          <p:cNvPr id="13" name="Text 11"/>
          <p:cNvSpPr/>
          <p:nvPr/>
        </p:nvSpPr>
        <p:spPr>
          <a:xfrm>
            <a:off x="484632" y="2514600"/>
            <a:ext cx="3840480" cy="667512"/>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Banks charge 12%. MTOs charge 6%. Even digital fintechs average 3.5%. Sub-Saharan Africa remains the world's most expensive receiving region at 7.73% in Q1 2024.</a:t>
            </a:r>
            <a:endParaRPr lang="en-US" sz="1050" dirty="0"/>
          </a:p>
        </p:txBody>
      </p:sp>
      <p:sp>
        <p:nvSpPr>
          <p:cNvPr id="14" name="Shape 12"/>
          <p:cNvSpPr/>
          <p:nvPr/>
        </p:nvSpPr>
        <p:spPr>
          <a:xfrm>
            <a:off x="4617720" y="2130552"/>
            <a:ext cx="4133088" cy="1133856"/>
          </a:xfrm>
          <a:prstGeom prst="rect">
            <a:avLst/>
          </a:prstGeom>
          <a:solidFill>
            <a:srgbClr val="0D1E38"/>
          </a:solidFill>
          <a:ln/>
          <a:effectLst>
            <a:outerShdw blurRad="127000" dist="50800" dir="8100000" algn="bl" rotWithShape="0">
              <a:srgbClr val="000000">
                <a:alpha val="22000"/>
              </a:srgbClr>
            </a:outerShdw>
          </a:effectLst>
        </p:spPr>
      </p:sp>
      <p:sp>
        <p:nvSpPr>
          <p:cNvPr id="15" name="Shape 13"/>
          <p:cNvSpPr/>
          <p:nvPr/>
        </p:nvSpPr>
        <p:spPr>
          <a:xfrm>
            <a:off x="4617720" y="2130552"/>
            <a:ext cx="64008" cy="1133856"/>
          </a:xfrm>
          <a:prstGeom prst="rect">
            <a:avLst/>
          </a:prstGeom>
          <a:solidFill>
            <a:srgbClr val="F97316"/>
          </a:solidFill>
          <a:ln/>
        </p:spPr>
      </p:sp>
      <p:sp>
        <p:nvSpPr>
          <p:cNvPr id="16" name="Text 14"/>
          <p:cNvSpPr/>
          <p:nvPr/>
        </p:nvSpPr>
        <p:spPr>
          <a:xfrm>
            <a:off x="4782312" y="2194560"/>
            <a:ext cx="3840480" cy="30175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Days-Long Delays</a:t>
            </a:r>
            <a:endParaRPr lang="en-US" sz="1300" dirty="0"/>
          </a:p>
        </p:txBody>
      </p:sp>
      <p:sp>
        <p:nvSpPr>
          <p:cNvPr id="17" name="Text 15"/>
          <p:cNvSpPr/>
          <p:nvPr/>
        </p:nvSpPr>
        <p:spPr>
          <a:xfrm>
            <a:off x="4782312" y="2514600"/>
            <a:ext cx="3840480" cy="667512"/>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SWIFT transfers take 1–5 business days. $685B in annual remittances to low-income countries are frozen in correspondent banking queues while families wait.</a:t>
            </a:r>
            <a:endParaRPr lang="en-US" sz="1050" dirty="0"/>
          </a:p>
        </p:txBody>
      </p:sp>
      <p:sp>
        <p:nvSpPr>
          <p:cNvPr id="18" name="Shape 16"/>
          <p:cNvSpPr/>
          <p:nvPr/>
        </p:nvSpPr>
        <p:spPr>
          <a:xfrm>
            <a:off x="320040" y="3392424"/>
            <a:ext cx="4133088" cy="1133856"/>
          </a:xfrm>
          <a:prstGeom prst="rect">
            <a:avLst/>
          </a:prstGeom>
          <a:solidFill>
            <a:srgbClr val="0D1E38"/>
          </a:solidFill>
          <a:ln/>
          <a:effectLst>
            <a:outerShdw blurRad="127000" dist="50800" dir="8100000" algn="bl" rotWithShape="0">
              <a:srgbClr val="000000">
                <a:alpha val="22000"/>
              </a:srgbClr>
            </a:outerShdw>
          </a:effectLst>
        </p:spPr>
      </p:sp>
      <p:sp>
        <p:nvSpPr>
          <p:cNvPr id="19" name="Shape 17"/>
          <p:cNvSpPr/>
          <p:nvPr/>
        </p:nvSpPr>
        <p:spPr>
          <a:xfrm>
            <a:off x="320040" y="3392424"/>
            <a:ext cx="64008" cy="1133856"/>
          </a:xfrm>
          <a:prstGeom prst="rect">
            <a:avLst/>
          </a:prstGeom>
          <a:solidFill>
            <a:srgbClr val="FFB800"/>
          </a:solidFill>
          <a:ln/>
        </p:spPr>
      </p:sp>
      <p:sp>
        <p:nvSpPr>
          <p:cNvPr id="20" name="Text 18"/>
          <p:cNvSpPr/>
          <p:nvPr/>
        </p:nvSpPr>
        <p:spPr>
          <a:xfrm>
            <a:off x="484632" y="3456432"/>
            <a:ext cx="3840480" cy="30175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USD Chokehold</a:t>
            </a:r>
            <a:endParaRPr lang="en-US" sz="1300" dirty="0"/>
          </a:p>
        </p:txBody>
      </p:sp>
      <p:sp>
        <p:nvSpPr>
          <p:cNvPr id="21" name="Text 19"/>
          <p:cNvSpPr/>
          <p:nvPr/>
        </p:nvSpPr>
        <p:spPr>
          <a:xfrm>
            <a:off x="484632" y="3776472"/>
            <a:ext cx="3840480" cy="667512"/>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Every NGN→INR transfer is routed NGN→USD→INR, adding 2 FX conversions, 2 spread losses, and 2 intermediary fees. The US dollar acts as a global tax on everyone else.</a:t>
            </a:r>
            <a:endParaRPr lang="en-US" sz="1050" dirty="0"/>
          </a:p>
        </p:txBody>
      </p:sp>
      <p:sp>
        <p:nvSpPr>
          <p:cNvPr id="22" name="Shape 20"/>
          <p:cNvSpPr/>
          <p:nvPr/>
        </p:nvSpPr>
        <p:spPr>
          <a:xfrm>
            <a:off x="4617720" y="3392424"/>
            <a:ext cx="4133088" cy="1133856"/>
          </a:xfrm>
          <a:prstGeom prst="rect">
            <a:avLst/>
          </a:prstGeom>
          <a:solidFill>
            <a:srgbClr val="0D1E38"/>
          </a:solidFill>
          <a:ln/>
          <a:effectLst>
            <a:outerShdw blurRad="127000" dist="50800" dir="8100000" algn="bl" rotWithShape="0">
              <a:srgbClr val="000000">
                <a:alpha val="22000"/>
              </a:srgbClr>
            </a:outerShdw>
          </a:effectLst>
        </p:spPr>
      </p:sp>
      <p:sp>
        <p:nvSpPr>
          <p:cNvPr id="23" name="Shape 21"/>
          <p:cNvSpPr/>
          <p:nvPr/>
        </p:nvSpPr>
        <p:spPr>
          <a:xfrm>
            <a:off x="4617720" y="3392424"/>
            <a:ext cx="64008" cy="1133856"/>
          </a:xfrm>
          <a:prstGeom prst="rect">
            <a:avLst/>
          </a:prstGeom>
          <a:solidFill>
            <a:srgbClr val="7C3AED"/>
          </a:solidFill>
          <a:ln/>
        </p:spPr>
      </p:sp>
      <p:sp>
        <p:nvSpPr>
          <p:cNvPr id="24" name="Text 22"/>
          <p:cNvSpPr/>
          <p:nvPr/>
        </p:nvSpPr>
        <p:spPr>
          <a:xfrm>
            <a:off x="4782312" y="3456432"/>
            <a:ext cx="3840480" cy="30175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Financial Exclusion</a:t>
            </a:r>
            <a:endParaRPr lang="en-US" sz="1300" dirty="0"/>
          </a:p>
        </p:txBody>
      </p:sp>
      <p:sp>
        <p:nvSpPr>
          <p:cNvPr id="25" name="Text 23"/>
          <p:cNvSpPr/>
          <p:nvPr/>
        </p:nvSpPr>
        <p:spPr>
          <a:xfrm>
            <a:off x="4782312" y="3776472"/>
            <a:ext cx="3840480" cy="667512"/>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1.4 billion adults remain unbanked globally. Traditional rail requirements exclude them. 75% of African remittances still flow through costly informal channels.</a:t>
            </a:r>
            <a:endParaRPr lang="en-US" sz="1050" dirty="0"/>
          </a:p>
        </p:txBody>
      </p:sp>
      <p:sp>
        <p:nvSpPr>
          <p:cNvPr id="26" name="Shape 24"/>
          <p:cNvSpPr/>
          <p:nvPr/>
        </p:nvSpPr>
        <p:spPr>
          <a:xfrm>
            <a:off x="320040" y="4681728"/>
            <a:ext cx="8503920" cy="347472"/>
          </a:xfrm>
          <a:prstGeom prst="rect">
            <a:avLst/>
          </a:prstGeom>
          <a:solidFill>
            <a:srgbClr val="1A0A0A"/>
          </a:solidFill>
          <a:ln/>
        </p:spPr>
      </p:sp>
      <p:sp>
        <p:nvSpPr>
          <p:cNvPr id="27" name="Text 25"/>
          <p:cNvSpPr/>
          <p:nvPr/>
        </p:nvSpPr>
        <p:spPr>
          <a:xfrm>
            <a:off x="411480" y="4736592"/>
            <a:ext cx="8321040" cy="246888"/>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World Bank SDG Target: Reduce global remittance fees to 3% by 2030 — yet the global average remains at 6.35% in 2024  |  Source: World Bank Remittance Prices Worldwide Q1 2024</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Why The World Needs HashPay Global</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Real people. Real corridors. Real money lost every single day.</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2715768" cy="3931920"/>
          </a:xfrm>
          <a:prstGeom prst="rect">
            <a:avLst/>
          </a:prstGeom>
          <a:solidFill>
            <a:srgbClr val="0D1E38"/>
          </a:solidFill>
          <a:ln/>
          <a:effectLst>
            <a:outerShdw blurRad="127000" dist="50800" dir="8100000" algn="bl" rotWithShape="0">
              <a:srgbClr val="000000">
                <a:alpha val="22000"/>
              </a:srgbClr>
            </a:outerShdw>
          </a:effectLst>
        </p:spPr>
      </p:sp>
      <p:sp>
        <p:nvSpPr>
          <p:cNvPr id="7" name="Shape 5"/>
          <p:cNvSpPr/>
          <p:nvPr/>
        </p:nvSpPr>
        <p:spPr>
          <a:xfrm>
            <a:off x="320040" y="1024128"/>
            <a:ext cx="2715768" cy="54864"/>
          </a:xfrm>
          <a:prstGeom prst="rect">
            <a:avLst/>
          </a:prstGeom>
          <a:solidFill>
            <a:srgbClr val="00D4AA"/>
          </a:solidFill>
          <a:ln/>
        </p:spPr>
      </p:sp>
      <p:sp>
        <p:nvSpPr>
          <p:cNvPr id="8" name="Shape 6"/>
          <p:cNvSpPr/>
          <p:nvPr/>
        </p:nvSpPr>
        <p:spPr>
          <a:xfrm>
            <a:off x="1307592" y="1097280"/>
            <a:ext cx="749808" cy="749808"/>
          </a:xfrm>
          <a:prstGeom prst="line">
            <a:avLst/>
          </a:prstGeom>
          <a:solidFill>
            <a:srgbClr val="0E2040"/>
          </a:solidFill>
          <a:ln/>
        </p:spPr>
      </p:sp>
      <p:sp>
        <p:nvSpPr>
          <p:cNvPr id="9" name="Text 7"/>
          <p:cNvSpPr/>
          <p:nvPr/>
        </p:nvSpPr>
        <p:spPr>
          <a:xfrm>
            <a:off x="1307592" y="1097280"/>
            <a:ext cx="749808" cy="749808"/>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0" name="Text 8"/>
          <p:cNvSpPr/>
          <p:nvPr/>
        </p:nvSpPr>
        <p:spPr>
          <a:xfrm>
            <a:off x="411480" y="1938528"/>
            <a:ext cx="254203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Chidi, Lagos → London</a:t>
            </a:r>
            <a:endParaRPr lang="en-US" sz="1150" dirty="0"/>
          </a:p>
        </p:txBody>
      </p:sp>
      <p:sp>
        <p:nvSpPr>
          <p:cNvPr id="11" name="Text 9"/>
          <p:cNvSpPr/>
          <p:nvPr/>
        </p:nvSpPr>
        <p:spPr>
          <a:xfrm>
            <a:off x="411480" y="2331720"/>
            <a:ext cx="2542032" cy="1755648"/>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Chidi is a software developer who moved to the UK 3 years ago. He sends ₦500,000 home every month to support his parents and fund his sister's university fees. With SWIFT, he loses 8–11% on every transfer — over £1,200/year in fees alone. HashPay would give his family that money back.</a:t>
            </a:r>
            <a:endParaRPr lang="en-US" sz="1000" dirty="0"/>
          </a:p>
        </p:txBody>
      </p:sp>
      <p:sp>
        <p:nvSpPr>
          <p:cNvPr id="12" name="Shape 10"/>
          <p:cNvSpPr/>
          <p:nvPr/>
        </p:nvSpPr>
        <p:spPr>
          <a:xfrm>
            <a:off x="411480" y="4133088"/>
            <a:ext cx="2542032" cy="530352"/>
          </a:xfrm>
          <a:prstGeom prst="rect">
            <a:avLst/>
          </a:prstGeom>
          <a:solidFill>
            <a:srgbClr val="0E2040"/>
          </a:solidFill>
          <a:ln/>
        </p:spPr>
      </p:sp>
      <p:sp>
        <p:nvSpPr>
          <p:cNvPr id="13" name="Text 11"/>
          <p:cNvSpPr/>
          <p:nvPr/>
        </p:nvSpPr>
        <p:spPr>
          <a:xfrm>
            <a:off x="411480" y="4187952"/>
            <a:ext cx="2542032" cy="402336"/>
          </a:xfrm>
          <a:prstGeom prst="rect">
            <a:avLst/>
          </a:prstGeom>
          <a:noFill/>
          <a:ln/>
        </p:spPr>
        <p:txBody>
          <a:bodyPr wrap="square" lIns="0" tIns="0" rIns="0" bIns="0" rtlCol="0" anchor="ctr"/>
          <a:lstStyle/>
          <a:p>
            <a:pPr marL="0" indent="0" algn="ctr">
              <a:buNone/>
            </a:pPr>
            <a:r>
              <a:rPr lang="en-US" sz="950" dirty="0">
                <a:solidFill>
                  <a:srgbClr val="00D4AA"/>
                </a:solidFill>
                <a:latin typeface="Calibri" pitchFamily="34" charset="0"/>
                <a:ea typeface="Calibri" pitchFamily="34" charset="-122"/>
                <a:cs typeface="Calibri" pitchFamily="34" charset="-120"/>
              </a:rPr>
              <a:t>📊  Nigeria received $19.8B in 2024 remittances</a:t>
            </a:r>
            <a:endParaRPr lang="en-US" sz="950" dirty="0"/>
          </a:p>
        </p:txBody>
      </p:sp>
      <p:sp>
        <p:nvSpPr>
          <p:cNvPr id="14" name="Shape 12"/>
          <p:cNvSpPr/>
          <p:nvPr/>
        </p:nvSpPr>
        <p:spPr>
          <a:xfrm>
            <a:off x="3200400" y="1024128"/>
            <a:ext cx="2715768" cy="3931920"/>
          </a:xfrm>
          <a:prstGeom prst="rect">
            <a:avLst/>
          </a:prstGeom>
          <a:solidFill>
            <a:srgbClr val="0D1E38"/>
          </a:solidFill>
          <a:ln/>
          <a:effectLst>
            <a:outerShdw blurRad="127000" dist="50800" dir="8100000" algn="bl" rotWithShape="0">
              <a:srgbClr val="000000">
                <a:alpha val="22000"/>
              </a:srgbClr>
            </a:outerShdw>
          </a:effectLst>
        </p:spPr>
      </p:sp>
      <p:sp>
        <p:nvSpPr>
          <p:cNvPr id="15" name="Shape 13"/>
          <p:cNvSpPr/>
          <p:nvPr/>
        </p:nvSpPr>
        <p:spPr>
          <a:xfrm>
            <a:off x="3200400" y="1024128"/>
            <a:ext cx="2715768" cy="54864"/>
          </a:xfrm>
          <a:prstGeom prst="rect">
            <a:avLst/>
          </a:prstGeom>
          <a:solidFill>
            <a:srgbClr val="FFB800"/>
          </a:solidFill>
          <a:ln/>
        </p:spPr>
      </p:sp>
      <p:sp>
        <p:nvSpPr>
          <p:cNvPr id="16" name="Shape 14"/>
          <p:cNvSpPr/>
          <p:nvPr/>
        </p:nvSpPr>
        <p:spPr>
          <a:xfrm>
            <a:off x="4187952" y="1097280"/>
            <a:ext cx="749808" cy="749808"/>
          </a:xfrm>
          <a:prstGeom prst="line">
            <a:avLst/>
          </a:prstGeom>
          <a:solidFill>
            <a:srgbClr val="0E2040"/>
          </a:solidFill>
          <a:ln/>
        </p:spPr>
      </p:sp>
      <p:sp>
        <p:nvSpPr>
          <p:cNvPr id="17" name="Text 15"/>
          <p:cNvSpPr/>
          <p:nvPr/>
        </p:nvSpPr>
        <p:spPr>
          <a:xfrm>
            <a:off x="4187952" y="1097280"/>
            <a:ext cx="749808" cy="749808"/>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8" name="Text 16"/>
          <p:cNvSpPr/>
          <p:nvPr/>
        </p:nvSpPr>
        <p:spPr>
          <a:xfrm>
            <a:off x="3291840" y="1938528"/>
            <a:ext cx="254203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Fatima, Dubai → Pakistan</a:t>
            </a:r>
            <a:endParaRPr lang="en-US" sz="1150" dirty="0"/>
          </a:p>
        </p:txBody>
      </p:sp>
      <p:sp>
        <p:nvSpPr>
          <p:cNvPr id="19" name="Text 17"/>
          <p:cNvSpPr/>
          <p:nvPr/>
        </p:nvSpPr>
        <p:spPr>
          <a:xfrm>
            <a:off x="3291840" y="2331720"/>
            <a:ext cx="2542032" cy="1755648"/>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Fatima is a nurse supporting a family of 7 back home. She uses a money transfer operator but waits 48 hours and pays 6% in fees. Her family needs the money for groceries — not intermediary profits. With HashPay, Fatima's transfer settles in 10 seconds at 0.7% — and her family sees the full value.</a:t>
            </a:r>
            <a:endParaRPr lang="en-US" sz="1000" dirty="0"/>
          </a:p>
        </p:txBody>
      </p:sp>
      <p:sp>
        <p:nvSpPr>
          <p:cNvPr id="20" name="Shape 18"/>
          <p:cNvSpPr/>
          <p:nvPr/>
        </p:nvSpPr>
        <p:spPr>
          <a:xfrm>
            <a:off x="3291840" y="4133088"/>
            <a:ext cx="2542032" cy="530352"/>
          </a:xfrm>
          <a:prstGeom prst="rect">
            <a:avLst/>
          </a:prstGeom>
          <a:solidFill>
            <a:srgbClr val="0E2040"/>
          </a:solidFill>
          <a:ln/>
        </p:spPr>
      </p:sp>
      <p:sp>
        <p:nvSpPr>
          <p:cNvPr id="21" name="Text 19"/>
          <p:cNvSpPr/>
          <p:nvPr/>
        </p:nvSpPr>
        <p:spPr>
          <a:xfrm>
            <a:off x="3291840" y="4187952"/>
            <a:ext cx="2542032" cy="402336"/>
          </a:xfrm>
          <a:prstGeom prst="rect">
            <a:avLst/>
          </a:prstGeom>
          <a:noFill/>
          <a:ln/>
        </p:spPr>
        <p:txBody>
          <a:bodyPr wrap="square" lIns="0" tIns="0" rIns="0" bIns="0" rtlCol="0" anchor="ctr"/>
          <a:lstStyle/>
          <a:p>
            <a:pPr marL="0" indent="0" algn="ctr">
              <a:buNone/>
            </a:pPr>
            <a:r>
              <a:rPr lang="en-US" sz="950" dirty="0">
                <a:solidFill>
                  <a:srgbClr val="FFB800"/>
                </a:solidFill>
                <a:latin typeface="Calibri" pitchFamily="34" charset="0"/>
                <a:ea typeface="Calibri" pitchFamily="34" charset="-122"/>
                <a:cs typeface="Calibri" pitchFamily="34" charset="-120"/>
              </a:rPr>
              <a:t>📊  Pakistan received $33B in 2024 remittances</a:t>
            </a:r>
            <a:endParaRPr lang="en-US" sz="950" dirty="0"/>
          </a:p>
        </p:txBody>
      </p:sp>
      <p:sp>
        <p:nvSpPr>
          <p:cNvPr id="22" name="Shape 20"/>
          <p:cNvSpPr/>
          <p:nvPr/>
        </p:nvSpPr>
        <p:spPr>
          <a:xfrm>
            <a:off x="6080760" y="1024128"/>
            <a:ext cx="2715768" cy="3931920"/>
          </a:xfrm>
          <a:prstGeom prst="rect">
            <a:avLst/>
          </a:prstGeom>
          <a:solidFill>
            <a:srgbClr val="0D1E38"/>
          </a:solidFill>
          <a:ln/>
          <a:effectLst>
            <a:outerShdw blurRad="127000" dist="50800" dir="8100000" algn="bl" rotWithShape="0">
              <a:srgbClr val="000000">
                <a:alpha val="22000"/>
              </a:srgbClr>
            </a:outerShdw>
          </a:effectLst>
        </p:spPr>
      </p:sp>
      <p:sp>
        <p:nvSpPr>
          <p:cNvPr id="23" name="Shape 21"/>
          <p:cNvSpPr/>
          <p:nvPr/>
        </p:nvSpPr>
        <p:spPr>
          <a:xfrm>
            <a:off x="6080760" y="1024128"/>
            <a:ext cx="2715768" cy="54864"/>
          </a:xfrm>
          <a:prstGeom prst="rect">
            <a:avLst/>
          </a:prstGeom>
          <a:solidFill>
            <a:srgbClr val="7C3AED"/>
          </a:solidFill>
          <a:ln/>
        </p:spPr>
      </p:sp>
      <p:sp>
        <p:nvSpPr>
          <p:cNvPr id="24" name="Shape 22"/>
          <p:cNvSpPr/>
          <p:nvPr/>
        </p:nvSpPr>
        <p:spPr>
          <a:xfrm>
            <a:off x="7068312" y="1097280"/>
            <a:ext cx="749808" cy="749808"/>
          </a:xfrm>
          <a:prstGeom prst="line">
            <a:avLst/>
          </a:prstGeom>
          <a:solidFill>
            <a:srgbClr val="0E2040"/>
          </a:solidFill>
          <a:ln/>
        </p:spPr>
      </p:sp>
      <p:sp>
        <p:nvSpPr>
          <p:cNvPr id="25" name="Text 23"/>
          <p:cNvSpPr/>
          <p:nvPr/>
        </p:nvSpPr>
        <p:spPr>
          <a:xfrm>
            <a:off x="7068312" y="1097280"/>
            <a:ext cx="749808" cy="749808"/>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6" name="Text 24"/>
          <p:cNvSpPr/>
          <p:nvPr/>
        </p:nvSpPr>
        <p:spPr>
          <a:xfrm>
            <a:off x="6172200" y="1938528"/>
            <a:ext cx="254203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Ivan, Moscow → Cape Town</a:t>
            </a:r>
            <a:endParaRPr lang="en-US" sz="1150" dirty="0"/>
          </a:p>
        </p:txBody>
      </p:sp>
      <p:sp>
        <p:nvSpPr>
          <p:cNvPr id="27" name="Text 25"/>
          <p:cNvSpPr/>
          <p:nvPr/>
        </p:nvSpPr>
        <p:spPr>
          <a:xfrm>
            <a:off x="6172200" y="2331720"/>
            <a:ext cx="2542032" cy="1755648"/>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Ivan is a tech entrepreneur with a South African vendor. Paying in rubles to receive rands was impossible without US dollar conversion — multiple bank fees, days of waiting. HashPay's direct RUB→ZAR settlement means Ivan can pay anyone, anywhere, instantly, with zero USD involvement.</a:t>
            </a:r>
            <a:endParaRPr lang="en-US" sz="1000" dirty="0"/>
          </a:p>
        </p:txBody>
      </p:sp>
      <p:sp>
        <p:nvSpPr>
          <p:cNvPr id="28" name="Shape 26"/>
          <p:cNvSpPr/>
          <p:nvPr/>
        </p:nvSpPr>
        <p:spPr>
          <a:xfrm>
            <a:off x="6172200" y="4133088"/>
            <a:ext cx="2542032" cy="530352"/>
          </a:xfrm>
          <a:prstGeom prst="rect">
            <a:avLst/>
          </a:prstGeom>
          <a:solidFill>
            <a:srgbClr val="0E2040"/>
          </a:solidFill>
          <a:ln/>
        </p:spPr>
      </p:sp>
      <p:sp>
        <p:nvSpPr>
          <p:cNvPr id="29" name="Text 27"/>
          <p:cNvSpPr/>
          <p:nvPr/>
        </p:nvSpPr>
        <p:spPr>
          <a:xfrm>
            <a:off x="6172200" y="4187952"/>
            <a:ext cx="2542032" cy="402336"/>
          </a:xfrm>
          <a:prstGeom prst="rect">
            <a:avLst/>
          </a:prstGeom>
          <a:noFill/>
          <a:ln/>
        </p:spPr>
        <p:txBody>
          <a:bodyPr wrap="square" lIns="0" tIns="0" rIns="0" bIns="0" rtlCol="0" anchor="ctr"/>
          <a:lstStyle/>
          <a:p>
            <a:pPr marL="0" indent="0" algn="ctr">
              <a:buNone/>
            </a:pPr>
            <a:r>
              <a:rPr lang="en-US" sz="950" dirty="0">
                <a:solidFill>
                  <a:srgbClr val="7C3AED"/>
                </a:solidFill>
                <a:latin typeface="Calibri" pitchFamily="34" charset="0"/>
                <a:ea typeface="Calibri" pitchFamily="34" charset="-122"/>
                <a:cs typeface="Calibri" pitchFamily="34" charset="-120"/>
              </a:rPr>
              <a:t>📊  South Africa: highest remittance send cost at 13.18%</a:t>
            </a:r>
            <a:endParaRPr lang="en-US" sz="950" dirty="0"/>
          </a:p>
        </p:txBody>
      </p:sp>
      <p:sp>
        <p:nvSpPr>
          <p:cNvPr id="30" name="Shape 28"/>
          <p:cNvSpPr/>
          <p:nvPr/>
        </p:nvSpPr>
        <p:spPr>
          <a:xfrm>
            <a:off x="320040" y="4727448"/>
            <a:ext cx="8503920" cy="320040"/>
          </a:xfrm>
          <a:prstGeom prst="rect">
            <a:avLst/>
          </a:prstGeom>
          <a:solidFill>
            <a:srgbClr val="0E2040"/>
          </a:solidFill>
          <a:ln/>
        </p:spPr>
      </p:sp>
      <p:sp>
        <p:nvSpPr>
          <p:cNvPr id="31" name="Text 29"/>
          <p:cNvSpPr/>
          <p:nvPr/>
        </p:nvSpPr>
        <p:spPr>
          <a:xfrm>
            <a:off x="411480" y="4773168"/>
            <a:ext cx="8321040" cy="237744"/>
          </a:xfrm>
          <a:prstGeom prst="rect">
            <a:avLst/>
          </a:prstGeom>
          <a:noFill/>
          <a:ln/>
        </p:spPr>
        <p:txBody>
          <a:bodyPr wrap="square" lIns="0" tIns="0" rIns="0" bIns="0" rtlCol="0" anchor="ctr"/>
          <a:lstStyle/>
          <a:p>
            <a:pPr marL="0" indent="0" algn="ctr">
              <a:buNone/>
            </a:pPr>
            <a:r>
              <a:rPr lang="en-US" sz="1000" b="1" dirty="0">
                <a:solidFill>
                  <a:srgbClr val="FFB800"/>
                </a:solidFill>
                <a:latin typeface="Calibri" pitchFamily="34" charset="0"/>
                <a:ea typeface="Calibri" pitchFamily="34" charset="-122"/>
                <a:cs typeface="Calibri" pitchFamily="34" charset="-120"/>
              </a:rPr>
              <a:t>$7.4 BILLION lost annually by African remittance recipients to transfer fees alone — money that belongs to families, not intermediaries.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The HashPay Global Solution</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One network. Every currency. Instant. Universal.</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8503920" cy="731520"/>
          </a:xfrm>
          <a:prstGeom prst="rect">
            <a:avLst/>
          </a:prstGeom>
          <a:solidFill>
            <a:srgbClr val="0A2A1A"/>
          </a:solidFill>
          <a:ln/>
          <a:effectLst>
            <a:outerShdw blurRad="127000" dist="50800" dir="8100000" algn="bl" rotWithShape="0">
              <a:srgbClr val="000000">
                <a:alpha val="22000"/>
              </a:srgbClr>
            </a:outerShdw>
          </a:effectLst>
        </p:spPr>
      </p:sp>
      <p:sp>
        <p:nvSpPr>
          <p:cNvPr id="7" name="Text 5"/>
          <p:cNvSpPr/>
          <p:nvPr/>
        </p:nvSpPr>
        <p:spPr>
          <a:xfrm>
            <a:off x="457200" y="1078992"/>
            <a:ext cx="5943600" cy="292608"/>
          </a:xfrm>
          <a:prstGeom prst="rect">
            <a:avLst/>
          </a:prstGeom>
          <a:noFill/>
          <a:ln/>
        </p:spPr>
        <p:txBody>
          <a:bodyPr wrap="square" lIns="0" tIns="0" rIns="0" bIns="0"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  The Core Innovation: Local-to-Local Currency Exchange</a:t>
            </a:r>
            <a:endParaRPr lang="en-US" sz="1300" dirty="0"/>
          </a:p>
        </p:txBody>
      </p:sp>
      <p:sp>
        <p:nvSpPr>
          <p:cNvPr id="8" name="Text 6"/>
          <p:cNvSpPr/>
          <p:nvPr/>
        </p:nvSpPr>
        <p:spPr>
          <a:xfrm>
            <a:off x="457200" y="1371600"/>
            <a:ext cx="8321040" cy="329184"/>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HashPay eliminates the need for USD or any intermediate currency. When Mr. A in Nigeria sends to Mr. B in India, HashPay's smart engine</a:t>
            </a:r>
            <a:endParaRPr lang="en-US" sz="1050" dirty="0"/>
          </a:p>
          <a:p>
            <a:pPr marL="0" indent="0">
              <a:buNone/>
            </a:pPr>
            <a:r>
              <a:rPr lang="en-US" sz="1050" dirty="0">
                <a:solidFill>
                  <a:srgbClr val="8899A6"/>
                </a:solidFill>
                <a:latin typeface="Calibri" pitchFamily="34" charset="0"/>
                <a:ea typeface="Calibri" pitchFamily="34" charset="-122"/>
                <a:cs typeface="Calibri" pitchFamily="34" charset="-120"/>
              </a:rPr>
              <a:t>matches them through a shared liquidity pool — NGN enters, INR exits. No middlemen. No multi-currency hops. Just instant value transfer.</a:t>
            </a:r>
            <a:endParaRPr lang="en-US" sz="1050" dirty="0"/>
          </a:p>
        </p:txBody>
      </p:sp>
      <p:sp>
        <p:nvSpPr>
          <p:cNvPr id="9" name="Shape 7"/>
          <p:cNvSpPr/>
          <p:nvPr/>
        </p:nvSpPr>
        <p:spPr>
          <a:xfrm>
            <a:off x="320040" y="1874520"/>
            <a:ext cx="8503920" cy="1170432"/>
          </a:xfrm>
          <a:prstGeom prst="rect">
            <a:avLst/>
          </a:prstGeom>
          <a:solidFill>
            <a:srgbClr val="0D1E38"/>
          </a:solidFill>
          <a:ln/>
          <a:effectLst>
            <a:outerShdw blurRad="127000" dist="50800" dir="8100000" algn="bl" rotWithShape="0">
              <a:srgbClr val="000000">
                <a:alpha val="22000"/>
              </a:srgbClr>
            </a:outerShdw>
          </a:effectLst>
        </p:spPr>
      </p:sp>
      <p:sp>
        <p:nvSpPr>
          <p:cNvPr id="10" name="Text 8"/>
          <p:cNvSpPr/>
          <p:nvPr/>
        </p:nvSpPr>
        <p:spPr>
          <a:xfrm>
            <a:off x="457200" y="1920240"/>
            <a:ext cx="8229600" cy="274320"/>
          </a:xfrm>
          <a:prstGeom prst="rect">
            <a:avLst/>
          </a:prstGeom>
          <a:noFill/>
          <a:ln/>
        </p:spPr>
        <p:txBody>
          <a:bodyPr wrap="square" lIns="0" tIns="0" rIns="0" bIns="0"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  TRADITIONAL: NGN → USD → (Bank 1) → USD → (Bank 2) → USD → INR</a:t>
            </a:r>
            <a:endParaRPr lang="en-US" sz="1100" dirty="0"/>
          </a:p>
        </p:txBody>
      </p:sp>
      <p:sp>
        <p:nvSpPr>
          <p:cNvPr id="11" name="Shape 9"/>
          <p:cNvSpPr/>
          <p:nvPr/>
        </p:nvSpPr>
        <p:spPr>
          <a:xfrm>
            <a:off x="347472" y="2240280"/>
            <a:ext cx="1261872" cy="685800"/>
          </a:xfrm>
          <a:prstGeom prst="rect">
            <a:avLst/>
          </a:prstGeom>
          <a:solidFill>
            <a:srgbClr val="1A0808"/>
          </a:solidFill>
          <a:ln/>
        </p:spPr>
      </p:sp>
      <p:sp>
        <p:nvSpPr>
          <p:cNvPr id="12" name="Text 10"/>
          <p:cNvSpPr/>
          <p:nvPr/>
        </p:nvSpPr>
        <p:spPr>
          <a:xfrm>
            <a:off x="347472" y="2258568"/>
            <a:ext cx="1261872" cy="6492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NGN</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Sender</a:t>
            </a:r>
            <a:endParaRPr lang="en-US" sz="1000" dirty="0"/>
          </a:p>
        </p:txBody>
      </p:sp>
      <p:sp>
        <p:nvSpPr>
          <p:cNvPr id="13" name="Text 11"/>
          <p:cNvSpPr/>
          <p:nvPr/>
        </p:nvSpPr>
        <p:spPr>
          <a:xfrm>
            <a:off x="1627632" y="2377440"/>
            <a:ext cx="128016" cy="411480"/>
          </a:xfrm>
          <a:prstGeom prst="rect">
            <a:avLst/>
          </a:prstGeom>
          <a:noFill/>
          <a:ln/>
        </p:spPr>
        <p:txBody>
          <a:bodyPr wrap="square" lIns="0" tIns="0" rIns="0" bIns="0" rtlCol="0" anchor="ctr"/>
          <a:lstStyle/>
          <a:p>
            <a:pPr marL="0" indent="0" algn="ctr">
              <a:buNone/>
            </a:pPr>
            <a:r>
              <a:rPr lang="en-US" sz="1400" b="1" dirty="0">
                <a:solidFill>
                  <a:srgbClr val="EF4444"/>
                </a:solidFill>
              </a:rPr>
              <a:t>→</a:t>
            </a:r>
            <a:endParaRPr lang="en-US" sz="1400" dirty="0"/>
          </a:p>
        </p:txBody>
      </p:sp>
      <p:sp>
        <p:nvSpPr>
          <p:cNvPr id="14" name="Shape 12"/>
          <p:cNvSpPr/>
          <p:nvPr/>
        </p:nvSpPr>
        <p:spPr>
          <a:xfrm>
            <a:off x="1764792" y="2240280"/>
            <a:ext cx="1261872" cy="685800"/>
          </a:xfrm>
          <a:prstGeom prst="rect">
            <a:avLst/>
          </a:prstGeom>
          <a:solidFill>
            <a:srgbClr val="2A0A0A"/>
          </a:solidFill>
          <a:ln/>
        </p:spPr>
      </p:sp>
      <p:sp>
        <p:nvSpPr>
          <p:cNvPr id="15" name="Text 13"/>
          <p:cNvSpPr/>
          <p:nvPr/>
        </p:nvSpPr>
        <p:spPr>
          <a:xfrm>
            <a:off x="1764792" y="2258568"/>
            <a:ext cx="1261872" cy="649224"/>
          </a:xfrm>
          <a:prstGeom prst="rect">
            <a:avLst/>
          </a:prstGeom>
          <a:noFill/>
          <a:ln/>
        </p:spPr>
        <p:txBody>
          <a:bodyPr wrap="square" lIns="0" tIns="0" rIns="0" bIns="0" rtlCol="0" anchor="ctr"/>
          <a:lstStyle/>
          <a:p>
            <a:pPr marL="0" indent="0" algn="ctr">
              <a:buNone/>
            </a:pPr>
            <a:r>
              <a:rPr lang="en-US" sz="1000" b="1" dirty="0">
                <a:solidFill>
                  <a:srgbClr val="EF4444"/>
                </a:solidFill>
                <a:latin typeface="Calibri" pitchFamily="34" charset="0"/>
                <a:ea typeface="Calibri" pitchFamily="34" charset="-122"/>
                <a:cs typeface="Calibri" pitchFamily="34" charset="-120"/>
              </a:rPr>
              <a:t>FX to USD</a:t>
            </a:r>
            <a:endParaRPr lang="en-US" sz="1000" dirty="0"/>
          </a:p>
          <a:p>
            <a:pPr marL="0" indent="0" algn="ctr">
              <a:buNone/>
            </a:pPr>
            <a:r>
              <a:rPr lang="en-US" sz="1000" b="1" dirty="0">
                <a:solidFill>
                  <a:srgbClr val="EF4444"/>
                </a:solidFill>
                <a:latin typeface="Calibri" pitchFamily="34" charset="0"/>
                <a:ea typeface="Calibri" pitchFamily="34" charset="-122"/>
                <a:cs typeface="Calibri" pitchFamily="34" charset="-120"/>
              </a:rPr>
              <a:t>(Loss 1)</a:t>
            </a:r>
            <a:endParaRPr lang="en-US" sz="1000" dirty="0"/>
          </a:p>
        </p:txBody>
      </p:sp>
      <p:sp>
        <p:nvSpPr>
          <p:cNvPr id="16" name="Text 14"/>
          <p:cNvSpPr/>
          <p:nvPr/>
        </p:nvSpPr>
        <p:spPr>
          <a:xfrm>
            <a:off x="3044952" y="2377440"/>
            <a:ext cx="128016" cy="411480"/>
          </a:xfrm>
          <a:prstGeom prst="rect">
            <a:avLst/>
          </a:prstGeom>
          <a:noFill/>
          <a:ln/>
        </p:spPr>
        <p:txBody>
          <a:bodyPr wrap="square" lIns="0" tIns="0" rIns="0" bIns="0" rtlCol="0" anchor="ctr"/>
          <a:lstStyle/>
          <a:p>
            <a:pPr marL="0" indent="0" algn="ctr">
              <a:buNone/>
            </a:pPr>
            <a:r>
              <a:rPr lang="en-US" sz="1400" b="1" dirty="0">
                <a:solidFill>
                  <a:srgbClr val="EF4444"/>
                </a:solidFill>
              </a:rPr>
              <a:t>→</a:t>
            </a:r>
            <a:endParaRPr lang="en-US" sz="1400" dirty="0"/>
          </a:p>
        </p:txBody>
      </p:sp>
      <p:sp>
        <p:nvSpPr>
          <p:cNvPr id="17" name="Shape 15"/>
          <p:cNvSpPr/>
          <p:nvPr/>
        </p:nvSpPr>
        <p:spPr>
          <a:xfrm>
            <a:off x="3182112" y="2240280"/>
            <a:ext cx="1261872" cy="685800"/>
          </a:xfrm>
          <a:prstGeom prst="rect">
            <a:avLst/>
          </a:prstGeom>
          <a:solidFill>
            <a:srgbClr val="2A0808"/>
          </a:solidFill>
          <a:ln/>
        </p:spPr>
      </p:sp>
      <p:sp>
        <p:nvSpPr>
          <p:cNvPr id="18" name="Text 16"/>
          <p:cNvSpPr/>
          <p:nvPr/>
        </p:nvSpPr>
        <p:spPr>
          <a:xfrm>
            <a:off x="3182112" y="2258568"/>
            <a:ext cx="1261872" cy="649224"/>
          </a:xfrm>
          <a:prstGeom prst="rect">
            <a:avLst/>
          </a:prstGeom>
          <a:noFill/>
          <a:ln/>
        </p:spPr>
        <p:txBody>
          <a:bodyPr wrap="square" lIns="0" tIns="0" rIns="0" bIns="0" rtlCol="0" anchor="ctr"/>
          <a:lstStyle/>
          <a:p>
            <a:pPr marL="0" indent="0" algn="ctr">
              <a:buNone/>
            </a:pPr>
            <a:r>
              <a:rPr lang="en-US" sz="1000" b="1" dirty="0">
                <a:solidFill>
                  <a:srgbClr val="EF4444"/>
                </a:solidFill>
                <a:latin typeface="Calibri" pitchFamily="34" charset="0"/>
                <a:ea typeface="Calibri" pitchFamily="34" charset="-122"/>
                <a:cs typeface="Calibri" pitchFamily="34" charset="-120"/>
              </a:rPr>
              <a:t>Corresp.</a:t>
            </a:r>
            <a:endParaRPr lang="en-US" sz="1000" dirty="0"/>
          </a:p>
          <a:p>
            <a:pPr marL="0" indent="0" algn="ctr">
              <a:buNone/>
            </a:pPr>
            <a:r>
              <a:rPr lang="en-US" sz="1000" b="1" dirty="0">
                <a:solidFill>
                  <a:srgbClr val="EF4444"/>
                </a:solidFill>
                <a:latin typeface="Calibri" pitchFamily="34" charset="0"/>
                <a:ea typeface="Calibri" pitchFamily="34" charset="-122"/>
                <a:cs typeface="Calibri" pitchFamily="34" charset="-120"/>
              </a:rPr>
              <a:t>Bank 1</a:t>
            </a:r>
            <a:endParaRPr lang="en-US" sz="1000" dirty="0"/>
          </a:p>
        </p:txBody>
      </p:sp>
      <p:sp>
        <p:nvSpPr>
          <p:cNvPr id="19" name="Text 17"/>
          <p:cNvSpPr/>
          <p:nvPr/>
        </p:nvSpPr>
        <p:spPr>
          <a:xfrm>
            <a:off x="4462272" y="2377440"/>
            <a:ext cx="128016" cy="411480"/>
          </a:xfrm>
          <a:prstGeom prst="rect">
            <a:avLst/>
          </a:prstGeom>
          <a:noFill/>
          <a:ln/>
        </p:spPr>
        <p:txBody>
          <a:bodyPr wrap="square" lIns="0" tIns="0" rIns="0" bIns="0" rtlCol="0" anchor="ctr"/>
          <a:lstStyle/>
          <a:p>
            <a:pPr marL="0" indent="0" algn="ctr">
              <a:buNone/>
            </a:pPr>
            <a:r>
              <a:rPr lang="en-US" sz="1400" b="1" dirty="0">
                <a:solidFill>
                  <a:srgbClr val="EF4444"/>
                </a:solidFill>
              </a:rPr>
              <a:t>→</a:t>
            </a:r>
            <a:endParaRPr lang="en-US" sz="1400" dirty="0"/>
          </a:p>
        </p:txBody>
      </p:sp>
      <p:sp>
        <p:nvSpPr>
          <p:cNvPr id="20" name="Shape 18"/>
          <p:cNvSpPr/>
          <p:nvPr/>
        </p:nvSpPr>
        <p:spPr>
          <a:xfrm>
            <a:off x="4599432" y="2240280"/>
            <a:ext cx="1261872" cy="685800"/>
          </a:xfrm>
          <a:prstGeom prst="rect">
            <a:avLst/>
          </a:prstGeom>
          <a:solidFill>
            <a:srgbClr val="2A0808"/>
          </a:solidFill>
          <a:ln/>
        </p:spPr>
      </p:sp>
      <p:sp>
        <p:nvSpPr>
          <p:cNvPr id="21" name="Text 19"/>
          <p:cNvSpPr/>
          <p:nvPr/>
        </p:nvSpPr>
        <p:spPr>
          <a:xfrm>
            <a:off x="4599432" y="2258568"/>
            <a:ext cx="1261872" cy="649224"/>
          </a:xfrm>
          <a:prstGeom prst="rect">
            <a:avLst/>
          </a:prstGeom>
          <a:noFill/>
          <a:ln/>
        </p:spPr>
        <p:txBody>
          <a:bodyPr wrap="square" lIns="0" tIns="0" rIns="0" bIns="0" rtlCol="0" anchor="ctr"/>
          <a:lstStyle/>
          <a:p>
            <a:pPr marL="0" indent="0" algn="ctr">
              <a:buNone/>
            </a:pPr>
            <a:r>
              <a:rPr lang="en-US" sz="1000" b="1" dirty="0">
                <a:solidFill>
                  <a:srgbClr val="EF4444"/>
                </a:solidFill>
                <a:latin typeface="Calibri" pitchFamily="34" charset="0"/>
                <a:ea typeface="Calibri" pitchFamily="34" charset="-122"/>
                <a:cs typeface="Calibri" pitchFamily="34" charset="-120"/>
              </a:rPr>
              <a:t>Corresp.</a:t>
            </a:r>
            <a:endParaRPr lang="en-US" sz="1000" dirty="0"/>
          </a:p>
          <a:p>
            <a:pPr marL="0" indent="0" algn="ctr">
              <a:buNone/>
            </a:pPr>
            <a:r>
              <a:rPr lang="en-US" sz="1000" b="1" dirty="0">
                <a:solidFill>
                  <a:srgbClr val="EF4444"/>
                </a:solidFill>
                <a:latin typeface="Calibri" pitchFamily="34" charset="0"/>
                <a:ea typeface="Calibri" pitchFamily="34" charset="-122"/>
                <a:cs typeface="Calibri" pitchFamily="34" charset="-120"/>
              </a:rPr>
              <a:t>Bank 2</a:t>
            </a:r>
            <a:endParaRPr lang="en-US" sz="1000" dirty="0"/>
          </a:p>
        </p:txBody>
      </p:sp>
      <p:sp>
        <p:nvSpPr>
          <p:cNvPr id="22" name="Text 20"/>
          <p:cNvSpPr/>
          <p:nvPr/>
        </p:nvSpPr>
        <p:spPr>
          <a:xfrm>
            <a:off x="5879592" y="2377440"/>
            <a:ext cx="128016" cy="411480"/>
          </a:xfrm>
          <a:prstGeom prst="rect">
            <a:avLst/>
          </a:prstGeom>
          <a:noFill/>
          <a:ln/>
        </p:spPr>
        <p:txBody>
          <a:bodyPr wrap="square" lIns="0" tIns="0" rIns="0" bIns="0" rtlCol="0" anchor="ctr"/>
          <a:lstStyle/>
          <a:p>
            <a:pPr marL="0" indent="0" algn="ctr">
              <a:buNone/>
            </a:pPr>
            <a:r>
              <a:rPr lang="en-US" sz="1400" b="1" dirty="0">
                <a:solidFill>
                  <a:srgbClr val="EF4444"/>
                </a:solidFill>
              </a:rPr>
              <a:t>→</a:t>
            </a:r>
            <a:endParaRPr lang="en-US" sz="1400" dirty="0"/>
          </a:p>
        </p:txBody>
      </p:sp>
      <p:sp>
        <p:nvSpPr>
          <p:cNvPr id="23" name="Shape 21"/>
          <p:cNvSpPr/>
          <p:nvPr/>
        </p:nvSpPr>
        <p:spPr>
          <a:xfrm>
            <a:off x="6016752" y="2240280"/>
            <a:ext cx="1261872" cy="685800"/>
          </a:xfrm>
          <a:prstGeom prst="rect">
            <a:avLst/>
          </a:prstGeom>
          <a:solidFill>
            <a:srgbClr val="2A0A0A"/>
          </a:solidFill>
          <a:ln/>
        </p:spPr>
      </p:sp>
      <p:sp>
        <p:nvSpPr>
          <p:cNvPr id="24" name="Text 22"/>
          <p:cNvSpPr/>
          <p:nvPr/>
        </p:nvSpPr>
        <p:spPr>
          <a:xfrm>
            <a:off x="6016752" y="2258568"/>
            <a:ext cx="1261872" cy="649224"/>
          </a:xfrm>
          <a:prstGeom prst="rect">
            <a:avLst/>
          </a:prstGeom>
          <a:noFill/>
          <a:ln/>
        </p:spPr>
        <p:txBody>
          <a:bodyPr wrap="square" lIns="0" tIns="0" rIns="0" bIns="0" rtlCol="0" anchor="ctr"/>
          <a:lstStyle/>
          <a:p>
            <a:pPr marL="0" indent="0" algn="ctr">
              <a:buNone/>
            </a:pPr>
            <a:r>
              <a:rPr lang="en-US" sz="1000" b="1" dirty="0">
                <a:solidFill>
                  <a:srgbClr val="EF4444"/>
                </a:solidFill>
                <a:latin typeface="Calibri" pitchFamily="34" charset="0"/>
                <a:ea typeface="Calibri" pitchFamily="34" charset="-122"/>
                <a:cs typeface="Calibri" pitchFamily="34" charset="-120"/>
              </a:rPr>
              <a:t>FX to INR</a:t>
            </a:r>
            <a:endParaRPr lang="en-US" sz="1000" dirty="0"/>
          </a:p>
          <a:p>
            <a:pPr marL="0" indent="0" algn="ctr">
              <a:buNone/>
            </a:pPr>
            <a:r>
              <a:rPr lang="en-US" sz="1000" b="1" dirty="0">
                <a:solidFill>
                  <a:srgbClr val="EF4444"/>
                </a:solidFill>
                <a:latin typeface="Calibri" pitchFamily="34" charset="0"/>
                <a:ea typeface="Calibri" pitchFamily="34" charset="-122"/>
                <a:cs typeface="Calibri" pitchFamily="34" charset="-120"/>
              </a:rPr>
              <a:t>(Loss 2)</a:t>
            </a:r>
            <a:endParaRPr lang="en-US" sz="1000" dirty="0"/>
          </a:p>
        </p:txBody>
      </p:sp>
      <p:sp>
        <p:nvSpPr>
          <p:cNvPr id="25" name="Text 23"/>
          <p:cNvSpPr/>
          <p:nvPr/>
        </p:nvSpPr>
        <p:spPr>
          <a:xfrm>
            <a:off x="7296912" y="2377440"/>
            <a:ext cx="128016" cy="411480"/>
          </a:xfrm>
          <a:prstGeom prst="rect">
            <a:avLst/>
          </a:prstGeom>
          <a:noFill/>
          <a:ln/>
        </p:spPr>
        <p:txBody>
          <a:bodyPr wrap="square" lIns="0" tIns="0" rIns="0" bIns="0" rtlCol="0" anchor="ctr"/>
          <a:lstStyle/>
          <a:p>
            <a:pPr marL="0" indent="0" algn="ctr">
              <a:buNone/>
            </a:pPr>
            <a:r>
              <a:rPr lang="en-US" sz="1400" b="1" dirty="0">
                <a:solidFill>
                  <a:srgbClr val="EF4444"/>
                </a:solidFill>
              </a:rPr>
              <a:t>→</a:t>
            </a:r>
            <a:endParaRPr lang="en-US" sz="1400" dirty="0"/>
          </a:p>
        </p:txBody>
      </p:sp>
      <p:sp>
        <p:nvSpPr>
          <p:cNvPr id="26" name="Shape 24"/>
          <p:cNvSpPr/>
          <p:nvPr/>
        </p:nvSpPr>
        <p:spPr>
          <a:xfrm>
            <a:off x="7434072" y="2240280"/>
            <a:ext cx="1261872" cy="685800"/>
          </a:xfrm>
          <a:prstGeom prst="rect">
            <a:avLst/>
          </a:prstGeom>
          <a:solidFill>
            <a:srgbClr val="1A0808"/>
          </a:solidFill>
          <a:ln/>
        </p:spPr>
      </p:sp>
      <p:sp>
        <p:nvSpPr>
          <p:cNvPr id="27" name="Text 25"/>
          <p:cNvSpPr/>
          <p:nvPr/>
        </p:nvSpPr>
        <p:spPr>
          <a:xfrm>
            <a:off x="7434072" y="2258568"/>
            <a:ext cx="1261872" cy="6492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INR</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Receiver</a:t>
            </a:r>
            <a:endParaRPr lang="en-US" sz="1000" dirty="0"/>
          </a:p>
        </p:txBody>
      </p:sp>
      <p:sp>
        <p:nvSpPr>
          <p:cNvPr id="28" name="Shape 26"/>
          <p:cNvSpPr/>
          <p:nvPr/>
        </p:nvSpPr>
        <p:spPr>
          <a:xfrm>
            <a:off x="320040" y="3172968"/>
            <a:ext cx="8503920" cy="1389888"/>
          </a:xfrm>
          <a:prstGeom prst="rect">
            <a:avLst/>
          </a:prstGeom>
          <a:solidFill>
            <a:srgbClr val="0A1E14"/>
          </a:solidFill>
          <a:ln/>
          <a:effectLst>
            <a:outerShdw blurRad="127000" dist="50800" dir="8100000" algn="bl" rotWithShape="0">
              <a:srgbClr val="000000">
                <a:alpha val="22000"/>
              </a:srgbClr>
            </a:outerShdw>
          </a:effectLst>
        </p:spPr>
      </p:sp>
      <p:sp>
        <p:nvSpPr>
          <p:cNvPr id="29" name="Text 27"/>
          <p:cNvSpPr/>
          <p:nvPr/>
        </p:nvSpPr>
        <p:spPr>
          <a:xfrm>
            <a:off x="457200" y="3218688"/>
            <a:ext cx="8229600" cy="274320"/>
          </a:xfrm>
          <a:prstGeom prst="rect">
            <a:avLst/>
          </a:prstGeom>
          <a:noFill/>
          <a:ln/>
        </p:spPr>
        <p:txBody>
          <a:bodyPr wrap="square" lIns="0" tIns="0" rIns="0" bIns="0"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  HASHPAY: NGN → HashPay Smart Engine → INR  (3–10 seconds, &lt;1% fee)</a:t>
            </a:r>
            <a:endParaRPr lang="en-US" sz="1100" dirty="0"/>
          </a:p>
        </p:txBody>
      </p:sp>
      <p:sp>
        <p:nvSpPr>
          <p:cNvPr id="30" name="Shape 28"/>
          <p:cNvSpPr/>
          <p:nvPr/>
        </p:nvSpPr>
        <p:spPr>
          <a:xfrm>
            <a:off x="365760" y="3547872"/>
            <a:ext cx="1508760" cy="822960"/>
          </a:xfrm>
          <a:prstGeom prst="rect">
            <a:avLst/>
          </a:prstGeom>
          <a:solidFill>
            <a:srgbClr val="0E2040"/>
          </a:solidFill>
          <a:ln/>
          <a:effectLst>
            <a:outerShdw blurRad="76200" dist="25400" dir="8100000" algn="bl" rotWithShape="0">
              <a:srgbClr val="000000">
                <a:alpha val="18000"/>
              </a:srgbClr>
            </a:outerShdw>
          </a:effectLst>
        </p:spPr>
      </p:sp>
      <p:sp>
        <p:nvSpPr>
          <p:cNvPr id="31" name="Text 29"/>
          <p:cNvSpPr/>
          <p:nvPr/>
        </p:nvSpPr>
        <p:spPr>
          <a:xfrm>
            <a:off x="365760" y="3547872"/>
            <a:ext cx="150876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NGN</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Sender</a:t>
            </a:r>
            <a:endParaRPr lang="en-US" sz="1300" dirty="0"/>
          </a:p>
        </p:txBody>
      </p:sp>
      <p:sp>
        <p:nvSpPr>
          <p:cNvPr id="32" name="Text 30"/>
          <p:cNvSpPr/>
          <p:nvPr/>
        </p:nvSpPr>
        <p:spPr>
          <a:xfrm>
            <a:off x="1938528" y="3749040"/>
            <a:ext cx="320040" cy="411480"/>
          </a:xfrm>
          <a:prstGeom prst="rect">
            <a:avLst/>
          </a:prstGeom>
          <a:noFill/>
          <a:ln/>
        </p:spPr>
        <p:txBody>
          <a:bodyPr wrap="square" lIns="0" tIns="0" rIns="0" bIns="0" rtlCol="0" anchor="ctr"/>
          <a:lstStyle/>
          <a:p>
            <a:pPr marL="0" indent="0" algn="ctr">
              <a:buNone/>
            </a:pPr>
            <a:r>
              <a:rPr lang="en-US" sz="2000" b="1" dirty="0">
                <a:solidFill>
                  <a:srgbClr val="00D4AA"/>
                </a:solidFill>
              </a:rPr>
              <a:t>→</a:t>
            </a:r>
            <a:endParaRPr lang="en-US" sz="2000" dirty="0"/>
          </a:p>
        </p:txBody>
      </p:sp>
      <p:sp>
        <p:nvSpPr>
          <p:cNvPr id="33" name="Shape 31"/>
          <p:cNvSpPr/>
          <p:nvPr/>
        </p:nvSpPr>
        <p:spPr>
          <a:xfrm>
            <a:off x="2286000" y="3547872"/>
            <a:ext cx="4389120" cy="822960"/>
          </a:xfrm>
          <a:prstGeom prst="rect">
            <a:avLst/>
          </a:prstGeom>
          <a:solidFill>
            <a:srgbClr val="0E2040"/>
          </a:solidFill>
          <a:ln/>
          <a:effectLst>
            <a:outerShdw blurRad="76200" dist="25400" dir="8100000" algn="bl" rotWithShape="0">
              <a:srgbClr val="000000">
                <a:alpha val="18000"/>
              </a:srgbClr>
            </a:outerShdw>
          </a:effectLst>
        </p:spPr>
      </p:sp>
      <p:sp>
        <p:nvSpPr>
          <p:cNvPr id="34" name="Text 32"/>
          <p:cNvSpPr/>
          <p:nvPr/>
        </p:nvSpPr>
        <p:spPr>
          <a:xfrm>
            <a:off x="2286000" y="3566160"/>
            <a:ext cx="4389120" cy="786384"/>
          </a:xfrm>
          <a:prstGeom prst="rect">
            <a:avLst/>
          </a:prstGeom>
          <a:noFill/>
          <a:ln/>
        </p:spPr>
        <p:txBody>
          <a:bodyPr wrap="square" lIns="0" tIns="0" rIns="0" bIns="0" rtlCol="0" anchor="ctr"/>
          <a:lstStyle/>
          <a:p>
            <a:pPr marL="0" indent="0" algn="ctr">
              <a:buNone/>
            </a:pPr>
            <a:r>
              <a:rPr lang="en-US" sz="1150" b="1" dirty="0">
                <a:solidFill>
                  <a:srgbClr val="00D4AA"/>
                </a:solidFill>
                <a:latin typeface="Calibri" pitchFamily="34" charset="0"/>
                <a:ea typeface="Calibri" pitchFamily="34" charset="-122"/>
                <a:cs typeface="Calibri" pitchFamily="34" charset="-120"/>
              </a:rPr>
              <a:t>⚡ HashPay Smart Router</a:t>
            </a:r>
            <a:endParaRPr lang="en-US" sz="1150" dirty="0"/>
          </a:p>
          <a:p>
            <a:pPr marL="0" indent="0" algn="ctr">
              <a:buNone/>
            </a:pPr>
            <a:r>
              <a:rPr lang="en-US" sz="1150" b="1" dirty="0">
                <a:solidFill>
                  <a:srgbClr val="00D4AA"/>
                </a:solidFill>
                <a:latin typeface="Calibri" pitchFamily="34" charset="0"/>
                <a:ea typeface="Calibri" pitchFamily="34" charset="-122"/>
                <a:cs typeface="Calibri" pitchFamily="34" charset="-120"/>
              </a:rPr>
              <a:t>Liquidity Pool Matching  •  Blockchain Settlement  •  Smart Contract FX</a:t>
            </a:r>
            <a:endParaRPr lang="en-US" sz="1150" dirty="0"/>
          </a:p>
        </p:txBody>
      </p:sp>
      <p:sp>
        <p:nvSpPr>
          <p:cNvPr id="35" name="Text 33"/>
          <p:cNvSpPr/>
          <p:nvPr/>
        </p:nvSpPr>
        <p:spPr>
          <a:xfrm>
            <a:off x="6739128" y="3749040"/>
            <a:ext cx="320040" cy="411480"/>
          </a:xfrm>
          <a:prstGeom prst="rect">
            <a:avLst/>
          </a:prstGeom>
          <a:noFill/>
          <a:ln/>
        </p:spPr>
        <p:txBody>
          <a:bodyPr wrap="square" lIns="0" tIns="0" rIns="0" bIns="0" rtlCol="0" anchor="ctr"/>
          <a:lstStyle/>
          <a:p>
            <a:pPr marL="0" indent="0" algn="ctr">
              <a:buNone/>
            </a:pPr>
            <a:r>
              <a:rPr lang="en-US" sz="2000" b="1" dirty="0">
                <a:solidFill>
                  <a:srgbClr val="00D4AA"/>
                </a:solidFill>
              </a:rPr>
              <a:t>→</a:t>
            </a:r>
            <a:endParaRPr lang="en-US" sz="2000" dirty="0"/>
          </a:p>
        </p:txBody>
      </p:sp>
      <p:sp>
        <p:nvSpPr>
          <p:cNvPr id="36" name="Shape 34"/>
          <p:cNvSpPr/>
          <p:nvPr/>
        </p:nvSpPr>
        <p:spPr>
          <a:xfrm>
            <a:off x="7086600" y="3547872"/>
            <a:ext cx="1508760" cy="822960"/>
          </a:xfrm>
          <a:prstGeom prst="rect">
            <a:avLst/>
          </a:prstGeom>
          <a:solidFill>
            <a:srgbClr val="0E2040"/>
          </a:solidFill>
          <a:ln/>
          <a:effectLst>
            <a:outerShdw blurRad="76200" dist="25400" dir="8100000" algn="bl" rotWithShape="0">
              <a:srgbClr val="000000">
                <a:alpha val="18000"/>
              </a:srgbClr>
            </a:outerShdw>
          </a:effectLst>
        </p:spPr>
      </p:sp>
      <p:sp>
        <p:nvSpPr>
          <p:cNvPr id="37" name="Text 35"/>
          <p:cNvSpPr/>
          <p:nvPr/>
        </p:nvSpPr>
        <p:spPr>
          <a:xfrm>
            <a:off x="7086600" y="3547872"/>
            <a:ext cx="150876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Receiver</a:t>
            </a:r>
            <a:endParaRPr lang="en-US" sz="1300" dirty="0"/>
          </a:p>
        </p:txBody>
      </p:sp>
      <p:sp>
        <p:nvSpPr>
          <p:cNvPr id="38" name="Shape 36"/>
          <p:cNvSpPr/>
          <p:nvPr/>
        </p:nvSpPr>
        <p:spPr>
          <a:xfrm>
            <a:off x="320040" y="4663440"/>
            <a:ext cx="1316736" cy="384048"/>
          </a:xfrm>
          <a:prstGeom prst="rect">
            <a:avLst/>
          </a:prstGeom>
          <a:solidFill>
            <a:srgbClr val="0E2040"/>
          </a:solidFill>
          <a:ln/>
          <a:effectLst>
            <a:outerShdw blurRad="76200" dist="25400" dir="8100000" algn="bl" rotWithShape="0">
              <a:srgbClr val="000000">
                <a:alpha val="18000"/>
              </a:srgbClr>
            </a:outerShdw>
          </a:effectLst>
        </p:spPr>
      </p:sp>
      <p:sp>
        <p:nvSpPr>
          <p:cNvPr id="39" name="Text 37"/>
          <p:cNvSpPr/>
          <p:nvPr/>
        </p:nvSpPr>
        <p:spPr>
          <a:xfrm>
            <a:off x="320040" y="4672584"/>
            <a:ext cx="1316736" cy="365760"/>
          </a:xfrm>
          <a:prstGeom prst="rect">
            <a:avLst/>
          </a:prstGeom>
          <a:noFill/>
          <a:ln/>
        </p:spPr>
        <p:txBody>
          <a:bodyPr wrap="square" lIns="0" tIns="0" rIns="0" bIns="0" rtlCol="0" anchor="ctr"/>
          <a:lstStyle/>
          <a:p>
            <a:pPr marL="0" indent="0" algn="ctr">
              <a:buNone/>
            </a:pPr>
            <a:r>
              <a:rPr lang="en-US" sz="950" dirty="0">
                <a:solidFill>
                  <a:srgbClr val="00D4AA"/>
                </a:solidFill>
                <a:latin typeface="Calibri" pitchFamily="34" charset="0"/>
                <a:ea typeface="Calibri" pitchFamily="34" charset="-122"/>
                <a:cs typeface="Calibri" pitchFamily="34" charset="-120"/>
              </a:rPr>
              <a:t>⚡ 3–10s</a:t>
            </a:r>
            <a:endParaRPr lang="en-US" sz="950" dirty="0"/>
          </a:p>
        </p:txBody>
      </p:sp>
      <p:sp>
        <p:nvSpPr>
          <p:cNvPr id="40" name="Shape 38"/>
          <p:cNvSpPr/>
          <p:nvPr/>
        </p:nvSpPr>
        <p:spPr>
          <a:xfrm>
            <a:off x="1741932" y="4663440"/>
            <a:ext cx="1316736" cy="384048"/>
          </a:xfrm>
          <a:prstGeom prst="rect">
            <a:avLst/>
          </a:prstGeom>
          <a:solidFill>
            <a:srgbClr val="0E2040"/>
          </a:solidFill>
          <a:ln/>
          <a:effectLst>
            <a:outerShdw blurRad="76200" dist="25400" dir="8100000" algn="bl" rotWithShape="0">
              <a:srgbClr val="000000">
                <a:alpha val="18000"/>
              </a:srgbClr>
            </a:outerShdw>
          </a:effectLst>
        </p:spPr>
      </p:sp>
      <p:sp>
        <p:nvSpPr>
          <p:cNvPr id="41" name="Text 39"/>
          <p:cNvSpPr/>
          <p:nvPr/>
        </p:nvSpPr>
        <p:spPr>
          <a:xfrm>
            <a:off x="1741932" y="4672584"/>
            <a:ext cx="1316736" cy="365760"/>
          </a:xfrm>
          <a:prstGeom prst="rect">
            <a:avLst/>
          </a:prstGeom>
          <a:noFill/>
          <a:ln/>
        </p:spPr>
        <p:txBody>
          <a:bodyPr wrap="square" lIns="0" tIns="0" rIns="0" bIns="0" rtlCol="0" anchor="ctr"/>
          <a:lstStyle/>
          <a:p>
            <a:pPr marL="0" indent="0" algn="ctr">
              <a:buNone/>
            </a:pPr>
            <a:r>
              <a:rPr lang="en-US" sz="950" dirty="0">
                <a:solidFill>
                  <a:srgbClr val="00D4AA"/>
                </a:solidFill>
                <a:latin typeface="Calibri" pitchFamily="34" charset="0"/>
                <a:ea typeface="Calibri" pitchFamily="34" charset="-122"/>
                <a:cs typeface="Calibri" pitchFamily="34" charset="-120"/>
              </a:rPr>
              <a:t>💰 &lt;1% fee</a:t>
            </a:r>
            <a:endParaRPr lang="en-US" sz="950" dirty="0"/>
          </a:p>
        </p:txBody>
      </p:sp>
      <p:sp>
        <p:nvSpPr>
          <p:cNvPr id="42" name="Shape 40"/>
          <p:cNvSpPr/>
          <p:nvPr/>
        </p:nvSpPr>
        <p:spPr>
          <a:xfrm>
            <a:off x="3163824" y="4663440"/>
            <a:ext cx="1316736" cy="384048"/>
          </a:xfrm>
          <a:prstGeom prst="rect">
            <a:avLst/>
          </a:prstGeom>
          <a:solidFill>
            <a:srgbClr val="0E2040"/>
          </a:solidFill>
          <a:ln/>
          <a:effectLst>
            <a:outerShdw blurRad="76200" dist="25400" dir="8100000" algn="bl" rotWithShape="0">
              <a:srgbClr val="000000">
                <a:alpha val="18000"/>
              </a:srgbClr>
            </a:outerShdw>
          </a:effectLst>
        </p:spPr>
      </p:sp>
      <p:sp>
        <p:nvSpPr>
          <p:cNvPr id="43" name="Text 41"/>
          <p:cNvSpPr/>
          <p:nvPr/>
        </p:nvSpPr>
        <p:spPr>
          <a:xfrm>
            <a:off x="3163824" y="4672584"/>
            <a:ext cx="1316736" cy="365760"/>
          </a:xfrm>
          <a:prstGeom prst="rect">
            <a:avLst/>
          </a:prstGeom>
          <a:noFill/>
          <a:ln/>
        </p:spPr>
        <p:txBody>
          <a:bodyPr wrap="square" lIns="0" tIns="0" rIns="0" bIns="0" rtlCol="0" anchor="ctr"/>
          <a:lstStyle/>
          <a:p>
            <a:pPr marL="0" indent="0" algn="ctr">
              <a:buNone/>
            </a:pPr>
            <a:r>
              <a:rPr lang="en-US" sz="950" dirty="0">
                <a:solidFill>
                  <a:srgbClr val="00D4AA"/>
                </a:solidFill>
                <a:latin typeface="Calibri" pitchFamily="34" charset="0"/>
                <a:ea typeface="Calibri" pitchFamily="34" charset="-122"/>
                <a:cs typeface="Calibri" pitchFamily="34" charset="-120"/>
              </a:rPr>
              <a:t>🔗 Blockchain</a:t>
            </a:r>
            <a:endParaRPr lang="en-US" sz="950" dirty="0"/>
          </a:p>
        </p:txBody>
      </p:sp>
      <p:sp>
        <p:nvSpPr>
          <p:cNvPr id="44" name="Shape 42"/>
          <p:cNvSpPr/>
          <p:nvPr/>
        </p:nvSpPr>
        <p:spPr>
          <a:xfrm>
            <a:off x="4585716" y="4663440"/>
            <a:ext cx="1316736" cy="384048"/>
          </a:xfrm>
          <a:prstGeom prst="rect">
            <a:avLst/>
          </a:prstGeom>
          <a:solidFill>
            <a:srgbClr val="0E2040"/>
          </a:solidFill>
          <a:ln/>
          <a:effectLst>
            <a:outerShdw blurRad="76200" dist="25400" dir="8100000" algn="bl" rotWithShape="0">
              <a:srgbClr val="000000">
                <a:alpha val="18000"/>
              </a:srgbClr>
            </a:outerShdw>
          </a:effectLst>
        </p:spPr>
      </p:sp>
      <p:sp>
        <p:nvSpPr>
          <p:cNvPr id="45" name="Text 43"/>
          <p:cNvSpPr/>
          <p:nvPr/>
        </p:nvSpPr>
        <p:spPr>
          <a:xfrm>
            <a:off x="4585716" y="4672584"/>
            <a:ext cx="1316736" cy="365760"/>
          </a:xfrm>
          <a:prstGeom prst="rect">
            <a:avLst/>
          </a:prstGeom>
          <a:noFill/>
          <a:ln/>
        </p:spPr>
        <p:txBody>
          <a:bodyPr wrap="square" lIns="0" tIns="0" rIns="0" bIns="0" rtlCol="0" anchor="ctr"/>
          <a:lstStyle/>
          <a:p>
            <a:pPr marL="0" indent="0" algn="ctr">
              <a:buNone/>
            </a:pPr>
            <a:r>
              <a:rPr lang="en-US" sz="950" dirty="0">
                <a:solidFill>
                  <a:srgbClr val="00D4AA"/>
                </a:solidFill>
                <a:latin typeface="Calibri" pitchFamily="34" charset="0"/>
                <a:ea typeface="Calibri" pitchFamily="34" charset="-122"/>
                <a:cs typeface="Calibri" pitchFamily="34" charset="-120"/>
              </a:rPr>
              <a:t>🌐 No USD</a:t>
            </a:r>
            <a:endParaRPr lang="en-US" sz="950" dirty="0"/>
          </a:p>
        </p:txBody>
      </p:sp>
      <p:sp>
        <p:nvSpPr>
          <p:cNvPr id="46" name="Shape 44"/>
          <p:cNvSpPr/>
          <p:nvPr/>
        </p:nvSpPr>
        <p:spPr>
          <a:xfrm>
            <a:off x="6007608" y="4663440"/>
            <a:ext cx="1316736" cy="384048"/>
          </a:xfrm>
          <a:prstGeom prst="rect">
            <a:avLst/>
          </a:prstGeom>
          <a:solidFill>
            <a:srgbClr val="0E2040"/>
          </a:solidFill>
          <a:ln/>
          <a:effectLst>
            <a:outerShdw blurRad="76200" dist="25400" dir="8100000" algn="bl" rotWithShape="0">
              <a:srgbClr val="000000">
                <a:alpha val="18000"/>
              </a:srgbClr>
            </a:outerShdw>
          </a:effectLst>
        </p:spPr>
      </p:sp>
      <p:sp>
        <p:nvSpPr>
          <p:cNvPr id="47" name="Text 45"/>
          <p:cNvSpPr/>
          <p:nvPr/>
        </p:nvSpPr>
        <p:spPr>
          <a:xfrm>
            <a:off x="6007608" y="4672584"/>
            <a:ext cx="1316736" cy="365760"/>
          </a:xfrm>
          <a:prstGeom prst="rect">
            <a:avLst/>
          </a:prstGeom>
          <a:noFill/>
          <a:ln/>
        </p:spPr>
        <p:txBody>
          <a:bodyPr wrap="square" lIns="0" tIns="0" rIns="0" bIns="0" rtlCol="0" anchor="ctr"/>
          <a:lstStyle/>
          <a:p>
            <a:pPr marL="0" indent="0" algn="ctr">
              <a:buNone/>
            </a:pPr>
            <a:r>
              <a:rPr lang="en-US" sz="950" dirty="0">
                <a:solidFill>
                  <a:srgbClr val="00D4AA"/>
                </a:solidFill>
                <a:latin typeface="Calibri" pitchFamily="34" charset="0"/>
                <a:ea typeface="Calibri" pitchFamily="34" charset="-122"/>
                <a:cs typeface="Calibri" pitchFamily="34" charset="-120"/>
              </a:rPr>
              <a:t>🏊 Decentralized Liquidity</a:t>
            </a:r>
            <a:endParaRPr lang="en-US" sz="950" dirty="0"/>
          </a:p>
        </p:txBody>
      </p:sp>
      <p:sp>
        <p:nvSpPr>
          <p:cNvPr id="48" name="Shape 46"/>
          <p:cNvSpPr/>
          <p:nvPr/>
        </p:nvSpPr>
        <p:spPr>
          <a:xfrm>
            <a:off x="7429500" y="4663440"/>
            <a:ext cx="1316736" cy="384048"/>
          </a:xfrm>
          <a:prstGeom prst="rect">
            <a:avLst/>
          </a:prstGeom>
          <a:solidFill>
            <a:srgbClr val="0E2040"/>
          </a:solidFill>
          <a:ln/>
          <a:effectLst>
            <a:outerShdw blurRad="76200" dist="25400" dir="8100000" algn="bl" rotWithShape="0">
              <a:srgbClr val="000000">
                <a:alpha val="18000"/>
              </a:srgbClr>
            </a:outerShdw>
          </a:effectLst>
        </p:spPr>
      </p:sp>
      <p:sp>
        <p:nvSpPr>
          <p:cNvPr id="49" name="Text 47"/>
          <p:cNvSpPr/>
          <p:nvPr/>
        </p:nvSpPr>
        <p:spPr>
          <a:xfrm>
            <a:off x="7429500" y="4672584"/>
            <a:ext cx="1316736" cy="365760"/>
          </a:xfrm>
          <a:prstGeom prst="rect">
            <a:avLst/>
          </a:prstGeom>
          <a:noFill/>
          <a:ln/>
        </p:spPr>
        <p:txBody>
          <a:bodyPr wrap="square" lIns="0" tIns="0" rIns="0" bIns="0" rtlCol="0" anchor="ctr"/>
          <a:lstStyle/>
          <a:p>
            <a:pPr marL="0" indent="0" algn="ctr">
              <a:buNone/>
            </a:pPr>
            <a:r>
              <a:rPr lang="en-US" sz="950" dirty="0">
                <a:solidFill>
                  <a:srgbClr val="00D4AA"/>
                </a:solidFill>
                <a:latin typeface="Calibri" pitchFamily="34" charset="0"/>
                <a:ea typeface="Calibri" pitchFamily="34" charset="-122"/>
                <a:cs typeface="Calibri" pitchFamily="34" charset="-120"/>
              </a:rPr>
              <a:t>🔒 Fully Compliant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Universal Currency Spending</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Mr. B travels from Russia to South Africa — and spends like a local</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8503920" cy="658368"/>
          </a:xfrm>
          <a:prstGeom prst="rect">
            <a:avLst/>
          </a:prstGeom>
          <a:solidFill>
            <a:srgbClr val="0E2040"/>
          </a:solidFill>
          <a:ln/>
          <a:effectLst>
            <a:outerShdw blurRad="127000" dist="50800" dir="8100000" algn="bl" rotWithShape="0">
              <a:srgbClr val="000000">
                <a:alpha val="22000"/>
              </a:srgbClr>
            </a:outerShdw>
          </a:effectLst>
        </p:spPr>
      </p:sp>
      <p:sp>
        <p:nvSpPr>
          <p:cNvPr id="7" name="Shape 5"/>
          <p:cNvSpPr/>
          <p:nvPr/>
        </p:nvSpPr>
        <p:spPr>
          <a:xfrm>
            <a:off x="320040" y="1024128"/>
            <a:ext cx="73152" cy="658368"/>
          </a:xfrm>
          <a:prstGeom prst="rect">
            <a:avLst/>
          </a:prstGeom>
          <a:solidFill>
            <a:srgbClr val="FFB800"/>
          </a:solidFill>
          <a:ln/>
        </p:spPr>
      </p:sp>
      <p:sp>
        <p:nvSpPr>
          <p:cNvPr id="8" name="Text 6"/>
          <p:cNvSpPr/>
          <p:nvPr/>
        </p:nvSpPr>
        <p:spPr>
          <a:xfrm>
            <a:off x="493776" y="1060704"/>
            <a:ext cx="8138160" cy="274320"/>
          </a:xfrm>
          <a:prstGeom prst="rect">
            <a:avLst/>
          </a:prstGeom>
          <a:noFill/>
          <a:ln/>
        </p:spPr>
        <p:txBody>
          <a:bodyPr wrap="square" lIns="0" tIns="0" rIns="0" bIns="0" rtlCol="0" anchor="ctr"/>
          <a:lstStyle/>
          <a:p>
            <a:pPr marL="0" indent="0">
              <a:buNone/>
            </a:pPr>
            <a:r>
              <a:rPr lang="en-US" sz="1300" b="1" dirty="0">
                <a:solidFill>
                  <a:srgbClr val="FFB800"/>
                </a:solidFill>
                <a:latin typeface="Calibri" pitchFamily="34" charset="0"/>
                <a:ea typeface="Calibri" pitchFamily="34" charset="-122"/>
                <a:cs typeface="Calibri" pitchFamily="34" charset="-120"/>
              </a:rPr>
              <a:t>💡  The Game-Changing Feature: Spend Your Local Currency Anywhere in the World</a:t>
            </a:r>
            <a:endParaRPr lang="en-US" sz="1300" dirty="0"/>
          </a:p>
        </p:txBody>
      </p:sp>
      <p:sp>
        <p:nvSpPr>
          <p:cNvPr id="9" name="Text 7"/>
          <p:cNvSpPr/>
          <p:nvPr/>
        </p:nvSpPr>
        <p:spPr>
          <a:xfrm>
            <a:off x="493776" y="1344168"/>
            <a:ext cx="8138160" cy="274320"/>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HashPay's backend handles all currency conversion invisibly. The sender uses their local currency. The receiver gets their local currency. No app switching, no exchange offices, no lost value.</a:t>
            </a:r>
            <a:endParaRPr lang="en-US" sz="1050" dirty="0"/>
          </a:p>
        </p:txBody>
      </p:sp>
      <p:sp>
        <p:nvSpPr>
          <p:cNvPr id="10" name="Shape 8"/>
          <p:cNvSpPr/>
          <p:nvPr/>
        </p:nvSpPr>
        <p:spPr>
          <a:xfrm>
            <a:off x="320040" y="1828800"/>
            <a:ext cx="2011680" cy="3090672"/>
          </a:xfrm>
          <a:prstGeom prst="rect">
            <a:avLst/>
          </a:prstGeom>
          <a:solidFill>
            <a:srgbClr val="0D1E38"/>
          </a:solidFill>
          <a:ln/>
          <a:effectLst>
            <a:outerShdw blurRad="127000" dist="50800" dir="8100000" algn="bl" rotWithShape="0">
              <a:srgbClr val="000000">
                <a:alpha val="22000"/>
              </a:srgbClr>
            </a:outerShdw>
          </a:effectLst>
        </p:spPr>
      </p:sp>
      <p:sp>
        <p:nvSpPr>
          <p:cNvPr id="11" name="Shape 9"/>
          <p:cNvSpPr/>
          <p:nvPr/>
        </p:nvSpPr>
        <p:spPr>
          <a:xfrm>
            <a:off x="320040" y="1828800"/>
            <a:ext cx="2011680" cy="54864"/>
          </a:xfrm>
          <a:prstGeom prst="rect">
            <a:avLst/>
          </a:prstGeom>
          <a:solidFill>
            <a:srgbClr val="7C3AED"/>
          </a:solidFill>
          <a:ln/>
        </p:spPr>
      </p:sp>
      <p:sp>
        <p:nvSpPr>
          <p:cNvPr id="12" name="Shape 10"/>
          <p:cNvSpPr/>
          <p:nvPr/>
        </p:nvSpPr>
        <p:spPr>
          <a:xfrm>
            <a:off x="932688" y="1920240"/>
            <a:ext cx="804672" cy="804672"/>
          </a:xfrm>
          <a:prstGeom prst="line">
            <a:avLst/>
          </a:prstGeom>
          <a:solidFill>
            <a:srgbClr val="0E2040"/>
          </a:solidFill>
          <a:ln/>
        </p:spPr>
      </p:sp>
      <p:sp>
        <p:nvSpPr>
          <p:cNvPr id="13" name="Text 11"/>
          <p:cNvSpPr/>
          <p:nvPr/>
        </p:nvSpPr>
        <p:spPr>
          <a:xfrm>
            <a:off x="932688" y="1920240"/>
            <a:ext cx="804672" cy="80467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4" name="Shape 12"/>
          <p:cNvSpPr/>
          <p:nvPr/>
        </p:nvSpPr>
        <p:spPr>
          <a:xfrm>
            <a:off x="1078992" y="1901952"/>
            <a:ext cx="228600" cy="228600"/>
          </a:xfrm>
          <a:prstGeom prst="line">
            <a:avLst/>
          </a:prstGeom>
          <a:solidFill>
            <a:srgbClr val="7C3AED"/>
          </a:solidFill>
          <a:ln/>
        </p:spPr>
      </p:sp>
      <p:sp>
        <p:nvSpPr>
          <p:cNvPr id="15" name="Text 13"/>
          <p:cNvSpPr/>
          <p:nvPr/>
        </p:nvSpPr>
        <p:spPr>
          <a:xfrm>
            <a:off x="1078992" y="1901952"/>
            <a:ext cx="228600" cy="228600"/>
          </a:xfrm>
          <a:prstGeom prst="rect">
            <a:avLst/>
          </a:prstGeom>
          <a:noFill/>
          <a:ln/>
        </p:spPr>
        <p:txBody>
          <a:bodyPr wrap="square" lIns="0" tIns="0" rIns="0" bIns="0" rtlCol="0" anchor="ctr"/>
          <a:lstStyle/>
          <a:p>
            <a:pPr marL="0" indent="0" algn="ctr">
              <a:buNone/>
            </a:pPr>
            <a:r>
              <a:rPr lang="en-US" sz="900" b="1" dirty="0">
                <a:solidFill>
                  <a:srgbClr val="060E1F"/>
                </a:solidFill>
              </a:rPr>
              <a:t>1</a:t>
            </a:r>
            <a:endParaRPr lang="en-US" sz="900" dirty="0"/>
          </a:p>
        </p:txBody>
      </p:sp>
      <p:sp>
        <p:nvSpPr>
          <p:cNvPr id="16" name="Text 14"/>
          <p:cNvSpPr/>
          <p:nvPr/>
        </p:nvSpPr>
        <p:spPr>
          <a:xfrm>
            <a:off x="411480" y="2798064"/>
            <a:ext cx="1847088"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Ivan in Russia</a:t>
            </a:r>
            <a:endParaRPr lang="en-US" sz="1150" dirty="0"/>
          </a:p>
        </p:txBody>
      </p:sp>
      <p:sp>
        <p:nvSpPr>
          <p:cNvPr id="17" name="Text 15"/>
          <p:cNvSpPr/>
          <p:nvPr/>
        </p:nvSpPr>
        <p:spPr>
          <a:xfrm>
            <a:off x="411480" y="3200400"/>
            <a:ext cx="1847088" cy="1024128"/>
          </a:xfrm>
          <a:prstGeom prst="rect">
            <a:avLst/>
          </a:prstGeom>
          <a:noFill/>
          <a:ln/>
        </p:spPr>
        <p:txBody>
          <a:bodyPr wrap="square" lIns="0" tIns="0" rIns="0" bIns="0" rtlCol="0" anchor="ctr"/>
          <a:lstStyle/>
          <a:p>
            <a:pPr marL="0" indent="0" algn="ctr">
              <a:buNone/>
            </a:pPr>
            <a:r>
              <a:rPr lang="en-US" sz="1000" dirty="0">
                <a:solidFill>
                  <a:srgbClr val="8899A6"/>
                </a:solidFill>
                <a:latin typeface="Calibri" pitchFamily="34" charset="0"/>
                <a:ea typeface="Calibri" pitchFamily="34" charset="-122"/>
                <a:cs typeface="Calibri" pitchFamily="34" charset="-120"/>
              </a:rPr>
              <a:t>Ivan uses HashPay with his Russian Ruble (RUB) wallet. His balance shows in rubles. He thinks in rubles. He pays in rubles.</a:t>
            </a:r>
            <a:endParaRPr lang="en-US" sz="1000" dirty="0"/>
          </a:p>
        </p:txBody>
      </p:sp>
      <p:sp>
        <p:nvSpPr>
          <p:cNvPr id="18" name="Shape 16"/>
          <p:cNvSpPr/>
          <p:nvPr/>
        </p:nvSpPr>
        <p:spPr>
          <a:xfrm>
            <a:off x="411480" y="4251960"/>
            <a:ext cx="1847088" cy="502920"/>
          </a:xfrm>
          <a:prstGeom prst="rect">
            <a:avLst/>
          </a:prstGeom>
          <a:solidFill>
            <a:srgbClr val="0E2040"/>
          </a:solidFill>
          <a:ln/>
        </p:spPr>
      </p:sp>
      <p:sp>
        <p:nvSpPr>
          <p:cNvPr id="19" name="Text 17"/>
          <p:cNvSpPr/>
          <p:nvPr/>
        </p:nvSpPr>
        <p:spPr>
          <a:xfrm>
            <a:off x="411480" y="4279392"/>
            <a:ext cx="1847088" cy="438912"/>
          </a:xfrm>
          <a:prstGeom prst="rect">
            <a:avLst/>
          </a:prstGeom>
          <a:noFill/>
          <a:ln/>
        </p:spPr>
        <p:txBody>
          <a:bodyPr wrap="square" lIns="0" tIns="0" rIns="0" bIns="0" rtlCol="0" anchor="ctr"/>
          <a:lstStyle/>
          <a:p>
            <a:pPr marL="0" indent="0" algn="ctr">
              <a:buNone/>
            </a:pPr>
            <a:r>
              <a:rPr lang="en-US" sz="950" dirty="0">
                <a:solidFill>
                  <a:srgbClr val="7C3AED"/>
                </a:solidFill>
                <a:latin typeface="Calibri" pitchFamily="34" charset="0"/>
                <a:ea typeface="Calibri" pitchFamily="34" charset="-122"/>
                <a:cs typeface="Calibri" pitchFamily="34" charset="-120"/>
              </a:rPr>
              <a:t>Zero foreign currency knowledge needed</a:t>
            </a:r>
            <a:endParaRPr lang="en-US" sz="950" dirty="0"/>
          </a:p>
        </p:txBody>
      </p:sp>
      <p:sp>
        <p:nvSpPr>
          <p:cNvPr id="20" name="Text 18"/>
          <p:cNvSpPr/>
          <p:nvPr/>
        </p:nvSpPr>
        <p:spPr>
          <a:xfrm>
            <a:off x="2350008" y="2578608"/>
            <a:ext cx="128016" cy="411480"/>
          </a:xfrm>
          <a:prstGeom prst="rect">
            <a:avLst/>
          </a:prstGeom>
          <a:noFill/>
          <a:ln/>
        </p:spPr>
        <p:txBody>
          <a:bodyPr wrap="square" lIns="0" tIns="0" rIns="0" bIns="0" rtlCol="0" anchor="ctr"/>
          <a:lstStyle/>
          <a:p>
            <a:pPr marL="0" indent="0" algn="ctr">
              <a:buNone/>
            </a:pPr>
            <a:r>
              <a:rPr lang="en-US" sz="2000" b="1" dirty="0">
                <a:solidFill>
                  <a:srgbClr val="00D4AA"/>
                </a:solidFill>
              </a:rPr>
              <a:t>→</a:t>
            </a:r>
            <a:endParaRPr lang="en-US" sz="2000" dirty="0"/>
          </a:p>
        </p:txBody>
      </p:sp>
      <p:sp>
        <p:nvSpPr>
          <p:cNvPr id="21" name="Shape 19"/>
          <p:cNvSpPr/>
          <p:nvPr/>
        </p:nvSpPr>
        <p:spPr>
          <a:xfrm>
            <a:off x="2496312" y="1828800"/>
            <a:ext cx="2011680" cy="3090672"/>
          </a:xfrm>
          <a:prstGeom prst="rect">
            <a:avLst/>
          </a:prstGeom>
          <a:solidFill>
            <a:srgbClr val="0D1E38"/>
          </a:solidFill>
          <a:ln/>
          <a:effectLst>
            <a:outerShdw blurRad="127000" dist="50800" dir="8100000" algn="bl" rotWithShape="0">
              <a:srgbClr val="000000">
                <a:alpha val="22000"/>
              </a:srgbClr>
            </a:outerShdw>
          </a:effectLst>
        </p:spPr>
      </p:sp>
      <p:sp>
        <p:nvSpPr>
          <p:cNvPr id="22" name="Shape 20"/>
          <p:cNvSpPr/>
          <p:nvPr/>
        </p:nvSpPr>
        <p:spPr>
          <a:xfrm>
            <a:off x="2496312" y="1828800"/>
            <a:ext cx="2011680" cy="54864"/>
          </a:xfrm>
          <a:prstGeom prst="rect">
            <a:avLst/>
          </a:prstGeom>
          <a:solidFill>
            <a:srgbClr val="00D4AA"/>
          </a:solidFill>
          <a:ln/>
        </p:spPr>
      </p:sp>
      <p:sp>
        <p:nvSpPr>
          <p:cNvPr id="23" name="Shape 21"/>
          <p:cNvSpPr/>
          <p:nvPr/>
        </p:nvSpPr>
        <p:spPr>
          <a:xfrm>
            <a:off x="3108960" y="1920240"/>
            <a:ext cx="804672" cy="804672"/>
          </a:xfrm>
          <a:prstGeom prst="line">
            <a:avLst/>
          </a:prstGeom>
          <a:solidFill>
            <a:srgbClr val="0E2040"/>
          </a:solidFill>
          <a:ln/>
        </p:spPr>
      </p:sp>
      <p:sp>
        <p:nvSpPr>
          <p:cNvPr id="24" name="Text 22"/>
          <p:cNvSpPr/>
          <p:nvPr/>
        </p:nvSpPr>
        <p:spPr>
          <a:xfrm>
            <a:off x="3108960" y="1920240"/>
            <a:ext cx="804672" cy="80467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5" name="Shape 23"/>
          <p:cNvSpPr/>
          <p:nvPr/>
        </p:nvSpPr>
        <p:spPr>
          <a:xfrm>
            <a:off x="3255264" y="1901952"/>
            <a:ext cx="228600" cy="228600"/>
          </a:xfrm>
          <a:prstGeom prst="line">
            <a:avLst/>
          </a:prstGeom>
          <a:solidFill>
            <a:srgbClr val="00D4AA"/>
          </a:solidFill>
          <a:ln/>
        </p:spPr>
      </p:sp>
      <p:sp>
        <p:nvSpPr>
          <p:cNvPr id="26" name="Text 24"/>
          <p:cNvSpPr/>
          <p:nvPr/>
        </p:nvSpPr>
        <p:spPr>
          <a:xfrm>
            <a:off x="3255264" y="1901952"/>
            <a:ext cx="228600" cy="228600"/>
          </a:xfrm>
          <a:prstGeom prst="rect">
            <a:avLst/>
          </a:prstGeom>
          <a:noFill/>
          <a:ln/>
        </p:spPr>
        <p:txBody>
          <a:bodyPr wrap="square" lIns="0" tIns="0" rIns="0" bIns="0" rtlCol="0" anchor="ctr"/>
          <a:lstStyle/>
          <a:p>
            <a:pPr marL="0" indent="0" algn="ctr">
              <a:buNone/>
            </a:pPr>
            <a:r>
              <a:rPr lang="en-US" sz="900" b="1" dirty="0">
                <a:solidFill>
                  <a:srgbClr val="060E1F"/>
                </a:solidFill>
              </a:rPr>
              <a:t>2</a:t>
            </a:r>
            <a:endParaRPr lang="en-US" sz="900" dirty="0"/>
          </a:p>
        </p:txBody>
      </p:sp>
      <p:sp>
        <p:nvSpPr>
          <p:cNvPr id="27" name="Text 25"/>
          <p:cNvSpPr/>
          <p:nvPr/>
        </p:nvSpPr>
        <p:spPr>
          <a:xfrm>
            <a:off x="2587752" y="2798064"/>
            <a:ext cx="1847088"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Ivan Travels to South Africa</a:t>
            </a:r>
            <a:endParaRPr lang="en-US" sz="1150" dirty="0"/>
          </a:p>
        </p:txBody>
      </p:sp>
      <p:sp>
        <p:nvSpPr>
          <p:cNvPr id="28" name="Text 26"/>
          <p:cNvSpPr/>
          <p:nvPr/>
        </p:nvSpPr>
        <p:spPr>
          <a:xfrm>
            <a:off x="2587752" y="3200400"/>
            <a:ext cx="1847088" cy="1024128"/>
          </a:xfrm>
          <a:prstGeom prst="rect">
            <a:avLst/>
          </a:prstGeom>
          <a:noFill/>
          <a:ln/>
        </p:spPr>
        <p:txBody>
          <a:bodyPr wrap="square" lIns="0" tIns="0" rIns="0" bIns="0" rtlCol="0" anchor="ctr"/>
          <a:lstStyle/>
          <a:p>
            <a:pPr marL="0" indent="0" algn="ctr">
              <a:buNone/>
            </a:pPr>
            <a:r>
              <a:rPr lang="en-US" sz="1000" dirty="0">
                <a:solidFill>
                  <a:srgbClr val="8899A6"/>
                </a:solidFill>
                <a:latin typeface="Calibri" pitchFamily="34" charset="0"/>
                <a:ea typeface="Calibri" pitchFamily="34" charset="-122"/>
                <a:cs typeface="Calibri" pitchFamily="34" charset="-120"/>
              </a:rPr>
              <a:t>Ivan lands in Cape Town for a business conference. He opens HashPay. His ruble balance is exactly as he left it. No currency exchange office. No tourist tax.</a:t>
            </a:r>
            <a:endParaRPr lang="en-US" sz="1000" dirty="0"/>
          </a:p>
        </p:txBody>
      </p:sp>
      <p:sp>
        <p:nvSpPr>
          <p:cNvPr id="29" name="Shape 27"/>
          <p:cNvSpPr/>
          <p:nvPr/>
        </p:nvSpPr>
        <p:spPr>
          <a:xfrm>
            <a:off x="2587752" y="4251960"/>
            <a:ext cx="1847088" cy="502920"/>
          </a:xfrm>
          <a:prstGeom prst="rect">
            <a:avLst/>
          </a:prstGeom>
          <a:solidFill>
            <a:srgbClr val="0E2040"/>
          </a:solidFill>
          <a:ln/>
        </p:spPr>
      </p:sp>
      <p:sp>
        <p:nvSpPr>
          <p:cNvPr id="30" name="Text 28"/>
          <p:cNvSpPr/>
          <p:nvPr/>
        </p:nvSpPr>
        <p:spPr>
          <a:xfrm>
            <a:off x="2587752" y="4279392"/>
            <a:ext cx="1847088" cy="438912"/>
          </a:xfrm>
          <a:prstGeom prst="rect">
            <a:avLst/>
          </a:prstGeom>
          <a:noFill/>
          <a:ln/>
        </p:spPr>
        <p:txBody>
          <a:bodyPr wrap="square" lIns="0" tIns="0" rIns="0" bIns="0" rtlCol="0" anchor="ctr"/>
          <a:lstStyle/>
          <a:p>
            <a:pPr marL="0" indent="0" algn="ctr">
              <a:buNone/>
            </a:pPr>
            <a:r>
              <a:rPr lang="en-US" sz="950" dirty="0">
                <a:solidFill>
                  <a:srgbClr val="00D4AA"/>
                </a:solidFill>
                <a:latin typeface="Calibri" pitchFamily="34" charset="0"/>
                <a:ea typeface="Calibri" pitchFamily="34" charset="-122"/>
                <a:cs typeface="Calibri" pitchFamily="34" charset="-120"/>
              </a:rPr>
              <a:t>HashPay works in 100+ countries</a:t>
            </a:r>
            <a:endParaRPr lang="en-US" sz="950" dirty="0"/>
          </a:p>
        </p:txBody>
      </p:sp>
      <p:sp>
        <p:nvSpPr>
          <p:cNvPr id="31" name="Text 29"/>
          <p:cNvSpPr/>
          <p:nvPr/>
        </p:nvSpPr>
        <p:spPr>
          <a:xfrm>
            <a:off x="4526280" y="2578608"/>
            <a:ext cx="128016" cy="411480"/>
          </a:xfrm>
          <a:prstGeom prst="rect">
            <a:avLst/>
          </a:prstGeom>
          <a:noFill/>
          <a:ln/>
        </p:spPr>
        <p:txBody>
          <a:bodyPr wrap="square" lIns="0" tIns="0" rIns="0" bIns="0" rtlCol="0" anchor="ctr"/>
          <a:lstStyle/>
          <a:p>
            <a:pPr marL="0" indent="0" algn="ctr">
              <a:buNone/>
            </a:pPr>
            <a:r>
              <a:rPr lang="en-US" sz="2000" b="1" dirty="0">
                <a:solidFill>
                  <a:srgbClr val="00D4AA"/>
                </a:solidFill>
              </a:rPr>
              <a:t>→</a:t>
            </a:r>
            <a:endParaRPr lang="en-US" sz="2000" dirty="0"/>
          </a:p>
        </p:txBody>
      </p:sp>
      <p:sp>
        <p:nvSpPr>
          <p:cNvPr id="32" name="Shape 30"/>
          <p:cNvSpPr/>
          <p:nvPr/>
        </p:nvSpPr>
        <p:spPr>
          <a:xfrm>
            <a:off x="4672584" y="1828800"/>
            <a:ext cx="2011680" cy="3090672"/>
          </a:xfrm>
          <a:prstGeom prst="rect">
            <a:avLst/>
          </a:prstGeom>
          <a:solidFill>
            <a:srgbClr val="0D1E38"/>
          </a:solidFill>
          <a:ln/>
          <a:effectLst>
            <a:outerShdw blurRad="127000" dist="50800" dir="8100000" algn="bl" rotWithShape="0">
              <a:srgbClr val="000000">
                <a:alpha val="22000"/>
              </a:srgbClr>
            </a:outerShdw>
          </a:effectLst>
        </p:spPr>
      </p:sp>
      <p:sp>
        <p:nvSpPr>
          <p:cNvPr id="33" name="Shape 31"/>
          <p:cNvSpPr/>
          <p:nvPr/>
        </p:nvSpPr>
        <p:spPr>
          <a:xfrm>
            <a:off x="4672584" y="1828800"/>
            <a:ext cx="2011680" cy="54864"/>
          </a:xfrm>
          <a:prstGeom prst="rect">
            <a:avLst/>
          </a:prstGeom>
          <a:solidFill>
            <a:srgbClr val="FFB800"/>
          </a:solidFill>
          <a:ln/>
        </p:spPr>
      </p:sp>
      <p:sp>
        <p:nvSpPr>
          <p:cNvPr id="34" name="Shape 32"/>
          <p:cNvSpPr/>
          <p:nvPr/>
        </p:nvSpPr>
        <p:spPr>
          <a:xfrm>
            <a:off x="5285232" y="1920240"/>
            <a:ext cx="804672" cy="804672"/>
          </a:xfrm>
          <a:prstGeom prst="line">
            <a:avLst/>
          </a:prstGeom>
          <a:solidFill>
            <a:srgbClr val="0E2040"/>
          </a:solidFill>
          <a:ln/>
        </p:spPr>
      </p:sp>
      <p:sp>
        <p:nvSpPr>
          <p:cNvPr id="35" name="Text 33"/>
          <p:cNvSpPr/>
          <p:nvPr/>
        </p:nvSpPr>
        <p:spPr>
          <a:xfrm>
            <a:off x="5285232" y="1920240"/>
            <a:ext cx="804672" cy="80467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6" name="Shape 34"/>
          <p:cNvSpPr/>
          <p:nvPr/>
        </p:nvSpPr>
        <p:spPr>
          <a:xfrm>
            <a:off x="5431536" y="1901952"/>
            <a:ext cx="228600" cy="228600"/>
          </a:xfrm>
          <a:prstGeom prst="line">
            <a:avLst/>
          </a:prstGeom>
          <a:solidFill>
            <a:srgbClr val="FFB800"/>
          </a:solidFill>
          <a:ln/>
        </p:spPr>
      </p:sp>
      <p:sp>
        <p:nvSpPr>
          <p:cNvPr id="37" name="Text 35"/>
          <p:cNvSpPr/>
          <p:nvPr/>
        </p:nvSpPr>
        <p:spPr>
          <a:xfrm>
            <a:off x="5431536" y="1901952"/>
            <a:ext cx="228600" cy="228600"/>
          </a:xfrm>
          <a:prstGeom prst="rect">
            <a:avLst/>
          </a:prstGeom>
          <a:noFill/>
          <a:ln/>
        </p:spPr>
        <p:txBody>
          <a:bodyPr wrap="square" lIns="0" tIns="0" rIns="0" bIns="0" rtlCol="0" anchor="ctr"/>
          <a:lstStyle/>
          <a:p>
            <a:pPr marL="0" indent="0" algn="ctr">
              <a:buNone/>
            </a:pPr>
            <a:r>
              <a:rPr lang="en-US" sz="900" b="1" dirty="0">
                <a:solidFill>
                  <a:srgbClr val="060E1F"/>
                </a:solidFill>
              </a:rPr>
              <a:t>3</a:t>
            </a:r>
            <a:endParaRPr lang="en-US" sz="900" dirty="0"/>
          </a:p>
        </p:txBody>
      </p:sp>
      <p:sp>
        <p:nvSpPr>
          <p:cNvPr id="38" name="Text 36"/>
          <p:cNvSpPr/>
          <p:nvPr/>
        </p:nvSpPr>
        <p:spPr>
          <a:xfrm>
            <a:off x="4764024" y="2798064"/>
            <a:ext cx="1847088"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Ivan Buys from a South African Vendor</a:t>
            </a:r>
            <a:endParaRPr lang="en-US" sz="1150" dirty="0"/>
          </a:p>
        </p:txBody>
      </p:sp>
      <p:sp>
        <p:nvSpPr>
          <p:cNvPr id="39" name="Text 37"/>
          <p:cNvSpPr/>
          <p:nvPr/>
        </p:nvSpPr>
        <p:spPr>
          <a:xfrm>
            <a:off x="4764024" y="3200400"/>
            <a:ext cx="1847088" cy="1024128"/>
          </a:xfrm>
          <a:prstGeom prst="rect">
            <a:avLst/>
          </a:prstGeom>
          <a:noFill/>
          <a:ln/>
        </p:spPr>
        <p:txBody>
          <a:bodyPr wrap="square" lIns="0" tIns="0" rIns="0" bIns="0" rtlCol="0" anchor="ctr"/>
          <a:lstStyle/>
          <a:p>
            <a:pPr marL="0" indent="0" algn="ctr">
              <a:buNone/>
            </a:pPr>
            <a:r>
              <a:rPr lang="en-US" sz="1000" dirty="0">
                <a:solidFill>
                  <a:srgbClr val="8899A6"/>
                </a:solidFill>
                <a:latin typeface="Calibri" pitchFamily="34" charset="0"/>
                <a:ea typeface="Calibri" pitchFamily="34" charset="-122"/>
                <a:cs typeface="Calibri" pitchFamily="34" charset="-120"/>
              </a:rPr>
              <a:t>Ivan scans the vendor's HashPay QR code and pays 500 RUB for a meal. The vendor's screen shows they received 155 ZAR (South African Rand) — their local currency.</a:t>
            </a:r>
            <a:endParaRPr lang="en-US" sz="1000" dirty="0"/>
          </a:p>
        </p:txBody>
      </p:sp>
      <p:sp>
        <p:nvSpPr>
          <p:cNvPr id="40" name="Shape 38"/>
          <p:cNvSpPr/>
          <p:nvPr/>
        </p:nvSpPr>
        <p:spPr>
          <a:xfrm>
            <a:off x="4764024" y="4251960"/>
            <a:ext cx="1847088" cy="502920"/>
          </a:xfrm>
          <a:prstGeom prst="rect">
            <a:avLst/>
          </a:prstGeom>
          <a:solidFill>
            <a:srgbClr val="0E2040"/>
          </a:solidFill>
          <a:ln/>
        </p:spPr>
      </p:sp>
      <p:sp>
        <p:nvSpPr>
          <p:cNvPr id="41" name="Text 39"/>
          <p:cNvSpPr/>
          <p:nvPr/>
        </p:nvSpPr>
        <p:spPr>
          <a:xfrm>
            <a:off x="4764024" y="4279392"/>
            <a:ext cx="1847088" cy="438912"/>
          </a:xfrm>
          <a:prstGeom prst="rect">
            <a:avLst/>
          </a:prstGeom>
          <a:noFill/>
          <a:ln/>
        </p:spPr>
        <p:txBody>
          <a:bodyPr wrap="square" lIns="0" tIns="0" rIns="0" bIns="0" rtlCol="0" anchor="ctr"/>
          <a:lstStyle/>
          <a:p>
            <a:pPr marL="0" indent="0" algn="ctr">
              <a:buNone/>
            </a:pPr>
            <a:r>
              <a:rPr lang="en-US" sz="950" dirty="0">
                <a:solidFill>
                  <a:srgbClr val="FFB800"/>
                </a:solidFill>
                <a:latin typeface="Calibri" pitchFamily="34" charset="0"/>
                <a:ea typeface="Calibri" pitchFamily="34" charset="-122"/>
                <a:cs typeface="Calibri" pitchFamily="34" charset="-120"/>
              </a:rPr>
              <a:t>Instant. Transparent. Zero friction.</a:t>
            </a:r>
            <a:endParaRPr lang="en-US" sz="950" dirty="0"/>
          </a:p>
        </p:txBody>
      </p:sp>
      <p:sp>
        <p:nvSpPr>
          <p:cNvPr id="42" name="Text 40"/>
          <p:cNvSpPr/>
          <p:nvPr/>
        </p:nvSpPr>
        <p:spPr>
          <a:xfrm>
            <a:off x="6702552" y="2578608"/>
            <a:ext cx="128016" cy="411480"/>
          </a:xfrm>
          <a:prstGeom prst="rect">
            <a:avLst/>
          </a:prstGeom>
          <a:noFill/>
          <a:ln/>
        </p:spPr>
        <p:txBody>
          <a:bodyPr wrap="square" lIns="0" tIns="0" rIns="0" bIns="0" rtlCol="0" anchor="ctr"/>
          <a:lstStyle/>
          <a:p>
            <a:pPr marL="0" indent="0" algn="ctr">
              <a:buNone/>
            </a:pPr>
            <a:r>
              <a:rPr lang="en-US" sz="2000" b="1" dirty="0">
                <a:solidFill>
                  <a:srgbClr val="00D4AA"/>
                </a:solidFill>
              </a:rPr>
              <a:t>→</a:t>
            </a:r>
            <a:endParaRPr lang="en-US" sz="2000" dirty="0"/>
          </a:p>
        </p:txBody>
      </p:sp>
      <p:sp>
        <p:nvSpPr>
          <p:cNvPr id="43" name="Shape 41"/>
          <p:cNvSpPr/>
          <p:nvPr/>
        </p:nvSpPr>
        <p:spPr>
          <a:xfrm>
            <a:off x="6848856" y="1828800"/>
            <a:ext cx="2011680" cy="3090672"/>
          </a:xfrm>
          <a:prstGeom prst="rect">
            <a:avLst/>
          </a:prstGeom>
          <a:solidFill>
            <a:srgbClr val="0D1E38"/>
          </a:solidFill>
          <a:ln/>
          <a:effectLst>
            <a:outerShdw blurRad="127000" dist="50800" dir="8100000" algn="bl" rotWithShape="0">
              <a:srgbClr val="000000">
                <a:alpha val="22000"/>
              </a:srgbClr>
            </a:outerShdw>
          </a:effectLst>
        </p:spPr>
      </p:sp>
      <p:sp>
        <p:nvSpPr>
          <p:cNvPr id="44" name="Shape 42"/>
          <p:cNvSpPr/>
          <p:nvPr/>
        </p:nvSpPr>
        <p:spPr>
          <a:xfrm>
            <a:off x="6848856" y="1828800"/>
            <a:ext cx="2011680" cy="54864"/>
          </a:xfrm>
          <a:prstGeom prst="rect">
            <a:avLst/>
          </a:prstGeom>
          <a:solidFill>
            <a:srgbClr val="10B981"/>
          </a:solidFill>
          <a:ln/>
        </p:spPr>
      </p:sp>
      <p:sp>
        <p:nvSpPr>
          <p:cNvPr id="45" name="Shape 43"/>
          <p:cNvSpPr/>
          <p:nvPr/>
        </p:nvSpPr>
        <p:spPr>
          <a:xfrm>
            <a:off x="7461504" y="1920240"/>
            <a:ext cx="804672" cy="804672"/>
          </a:xfrm>
          <a:prstGeom prst="line">
            <a:avLst/>
          </a:prstGeom>
          <a:solidFill>
            <a:srgbClr val="0E2040"/>
          </a:solidFill>
          <a:ln/>
        </p:spPr>
      </p:sp>
      <p:sp>
        <p:nvSpPr>
          <p:cNvPr id="46" name="Text 44"/>
          <p:cNvSpPr/>
          <p:nvPr/>
        </p:nvSpPr>
        <p:spPr>
          <a:xfrm>
            <a:off x="7461504" y="1920240"/>
            <a:ext cx="804672" cy="80467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47" name="Shape 45"/>
          <p:cNvSpPr/>
          <p:nvPr/>
        </p:nvSpPr>
        <p:spPr>
          <a:xfrm>
            <a:off x="7607808" y="1901952"/>
            <a:ext cx="228600" cy="228600"/>
          </a:xfrm>
          <a:prstGeom prst="line">
            <a:avLst/>
          </a:prstGeom>
          <a:solidFill>
            <a:srgbClr val="10B981"/>
          </a:solidFill>
          <a:ln/>
        </p:spPr>
      </p:sp>
      <p:sp>
        <p:nvSpPr>
          <p:cNvPr id="48" name="Text 46"/>
          <p:cNvSpPr/>
          <p:nvPr/>
        </p:nvSpPr>
        <p:spPr>
          <a:xfrm>
            <a:off x="7607808" y="1901952"/>
            <a:ext cx="228600" cy="228600"/>
          </a:xfrm>
          <a:prstGeom prst="rect">
            <a:avLst/>
          </a:prstGeom>
          <a:noFill/>
          <a:ln/>
        </p:spPr>
        <p:txBody>
          <a:bodyPr wrap="square" lIns="0" tIns="0" rIns="0" bIns="0" rtlCol="0" anchor="ctr"/>
          <a:lstStyle/>
          <a:p>
            <a:pPr marL="0" indent="0" algn="ctr">
              <a:buNone/>
            </a:pPr>
            <a:r>
              <a:rPr lang="en-US" sz="900" b="1" dirty="0">
                <a:solidFill>
                  <a:srgbClr val="060E1F"/>
                </a:solidFill>
              </a:rPr>
              <a:t>4</a:t>
            </a:r>
            <a:endParaRPr lang="en-US" sz="900" dirty="0"/>
          </a:p>
        </p:txBody>
      </p:sp>
      <p:sp>
        <p:nvSpPr>
          <p:cNvPr id="49" name="Text 47"/>
          <p:cNvSpPr/>
          <p:nvPr/>
        </p:nvSpPr>
        <p:spPr>
          <a:xfrm>
            <a:off x="6940296" y="2798064"/>
            <a:ext cx="1847088"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The Vendor Receives ZAR</a:t>
            </a:r>
            <a:endParaRPr lang="en-US" sz="1150" dirty="0"/>
          </a:p>
        </p:txBody>
      </p:sp>
      <p:sp>
        <p:nvSpPr>
          <p:cNvPr id="50" name="Text 48"/>
          <p:cNvSpPr/>
          <p:nvPr/>
        </p:nvSpPr>
        <p:spPr>
          <a:xfrm>
            <a:off x="6940296" y="3200400"/>
            <a:ext cx="1847088" cy="1024128"/>
          </a:xfrm>
          <a:prstGeom prst="rect">
            <a:avLst/>
          </a:prstGeom>
          <a:noFill/>
          <a:ln/>
        </p:spPr>
        <p:txBody>
          <a:bodyPr wrap="square" lIns="0" tIns="0" rIns="0" bIns="0" rtlCol="0" anchor="ctr"/>
          <a:lstStyle/>
          <a:p>
            <a:pPr marL="0" indent="0" algn="ctr">
              <a:buNone/>
            </a:pPr>
            <a:r>
              <a:rPr lang="en-US" sz="1000" dirty="0">
                <a:solidFill>
                  <a:srgbClr val="8899A6"/>
                </a:solidFill>
                <a:latin typeface="Calibri" pitchFamily="34" charset="0"/>
                <a:ea typeface="Calibri" pitchFamily="34" charset="-122"/>
                <a:cs typeface="Calibri" pitchFamily="34" charset="-120"/>
              </a:rPr>
              <a:t>The vendor's HashPay wallet shows 155 ZAR credited in 3–10 seconds. They never saw rubles. They never needed to. HashPay converted everything in the background.</a:t>
            </a:r>
            <a:endParaRPr lang="en-US" sz="1000" dirty="0"/>
          </a:p>
        </p:txBody>
      </p:sp>
      <p:sp>
        <p:nvSpPr>
          <p:cNvPr id="51" name="Shape 49"/>
          <p:cNvSpPr/>
          <p:nvPr/>
        </p:nvSpPr>
        <p:spPr>
          <a:xfrm>
            <a:off x="6940296" y="4251960"/>
            <a:ext cx="1847088" cy="502920"/>
          </a:xfrm>
          <a:prstGeom prst="rect">
            <a:avLst/>
          </a:prstGeom>
          <a:solidFill>
            <a:srgbClr val="0E2040"/>
          </a:solidFill>
          <a:ln/>
        </p:spPr>
      </p:sp>
      <p:sp>
        <p:nvSpPr>
          <p:cNvPr id="52" name="Text 50"/>
          <p:cNvSpPr/>
          <p:nvPr/>
        </p:nvSpPr>
        <p:spPr>
          <a:xfrm>
            <a:off x="6940296" y="4279392"/>
            <a:ext cx="1847088" cy="438912"/>
          </a:xfrm>
          <a:prstGeom prst="rect">
            <a:avLst/>
          </a:prstGeom>
          <a:noFill/>
          <a:ln/>
        </p:spPr>
        <p:txBody>
          <a:bodyPr wrap="square" lIns="0" tIns="0" rIns="0" bIns="0" rtlCol="0" anchor="ctr"/>
          <a:lstStyle/>
          <a:p>
            <a:pPr marL="0" indent="0" algn="ctr">
              <a:buNone/>
            </a:pPr>
            <a:r>
              <a:rPr lang="en-US" sz="950" dirty="0">
                <a:solidFill>
                  <a:srgbClr val="10B981"/>
                </a:solidFill>
                <a:latin typeface="Calibri" pitchFamily="34" charset="0"/>
                <a:ea typeface="Calibri" pitchFamily="34" charset="-122"/>
                <a:cs typeface="Calibri" pitchFamily="34" charset="-120"/>
              </a:rPr>
              <a:t>0.7% fee — both parties save vs traditional FX</a:t>
            </a:r>
            <a:endParaRPr lang="en-US" sz="950" dirty="0"/>
          </a:p>
        </p:txBody>
      </p:sp>
      <p:sp>
        <p:nvSpPr>
          <p:cNvPr id="53" name="Shape 51"/>
          <p:cNvSpPr/>
          <p:nvPr/>
        </p:nvSpPr>
        <p:spPr>
          <a:xfrm>
            <a:off x="320040" y="5029200"/>
            <a:ext cx="8503920" cy="0"/>
          </a:xfrm>
          <a:prstGeom prst="rect">
            <a:avLst/>
          </a:prstGeom>
          <a:solidFill>
            <a:srgbClr val="0E2040"/>
          </a:solidFill>
          <a:ln/>
        </p:spPr>
      </p:sp>
      <p:sp>
        <p:nvSpPr>
          <p:cNvPr id="54" name="Text 52"/>
          <p:cNvSpPr/>
          <p:nvPr/>
        </p:nvSpPr>
        <p:spPr>
          <a:xfrm>
            <a:off x="411480" y="4718304"/>
            <a:ext cx="8321040" cy="274320"/>
          </a:xfrm>
          <a:prstGeom prst="rect">
            <a:avLst/>
          </a:prstGeom>
          <a:noFill/>
          <a:ln/>
        </p:spPr>
        <p:txBody>
          <a:bodyPr wrap="square" lIns="0" tIns="0" rIns="0" bIns="0" rtlCol="0" anchor="ctr"/>
          <a:lstStyle/>
          <a:p>
            <a:pPr marL="0" indent="0" algn="ctr">
              <a:buNone/>
            </a:pPr>
            <a:r>
              <a:rPr lang="en-US" sz="1000" dirty="0">
                <a:solidFill>
                  <a:srgbClr val="00D4AA"/>
                </a:solidFill>
                <a:latin typeface="Calibri" pitchFamily="34" charset="0"/>
                <a:ea typeface="Calibri" pitchFamily="34" charset="-122"/>
                <a:cs typeface="Calibri" pitchFamily="34" charset="-120"/>
              </a:rPr>
              <a:t>This feature works for consumers, tourists, freelancers, merchants, and businesses worldwide — making HashPay the only wallet you'll ever need.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Web3 Infrastructure: Crypto On-Ramp &amp; Off-Ramp</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The bridge between the crypto economy and local currencies worldwide</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8503920" cy="640080"/>
          </a:xfrm>
          <a:prstGeom prst="rect">
            <a:avLst/>
          </a:prstGeom>
          <a:solidFill>
            <a:srgbClr val="0E2040"/>
          </a:solidFill>
          <a:ln/>
          <a:effectLst>
            <a:outerShdw blurRad="127000" dist="50800" dir="8100000" algn="bl" rotWithShape="0">
              <a:srgbClr val="000000">
                <a:alpha val="22000"/>
              </a:srgbClr>
            </a:outerShdw>
          </a:effectLst>
        </p:spPr>
      </p:sp>
      <p:sp>
        <p:nvSpPr>
          <p:cNvPr id="7" name="Shape 5"/>
          <p:cNvSpPr/>
          <p:nvPr/>
        </p:nvSpPr>
        <p:spPr>
          <a:xfrm>
            <a:off x="320040" y="1024128"/>
            <a:ext cx="73152" cy="640080"/>
          </a:xfrm>
          <a:prstGeom prst="rect">
            <a:avLst/>
          </a:prstGeom>
          <a:solidFill>
            <a:srgbClr val="8B5CF6"/>
          </a:solidFill>
          <a:ln/>
        </p:spPr>
      </p:sp>
      <p:sp>
        <p:nvSpPr>
          <p:cNvPr id="8" name="Text 6"/>
          <p:cNvSpPr/>
          <p:nvPr/>
        </p:nvSpPr>
        <p:spPr>
          <a:xfrm>
            <a:off x="493776" y="1097280"/>
            <a:ext cx="8229600" cy="493776"/>
          </a:xfrm>
          <a:prstGeom prst="rect">
            <a:avLst/>
          </a:prstGeom>
          <a:noFill/>
          <a:ln/>
        </p:spPr>
        <p:txBody>
          <a:bodyPr wrap="square" lIns="0" tIns="0" rIns="0" bIns="0" rtlCol="0" anchor="ctr"/>
          <a:lstStyle/>
          <a:p>
            <a:pPr marL="0" indent="0">
              <a:buNone/>
            </a:pPr>
            <a:r>
              <a:rPr lang="en-US" sz="1100" dirty="0">
                <a:solidFill>
                  <a:srgbClr val="8899A6"/>
                </a:solidFill>
                <a:latin typeface="Calibri" pitchFamily="34" charset="0"/>
                <a:ea typeface="Calibri" pitchFamily="34" charset="-122"/>
                <a:cs typeface="Calibri" pitchFamily="34" charset="-120"/>
              </a:rPr>
              <a:t>HashPay Web3 makes crypto universal: send Bitcoin, receive Naira. Send Naira, receive USDC. The entire crypto-to-fiat and fiat-to-crypto journey is handled invisibly, compliantly, and cheaply.</a:t>
            </a:r>
            <a:endParaRPr lang="en-US" sz="1100" dirty="0"/>
          </a:p>
        </p:txBody>
      </p:sp>
      <p:sp>
        <p:nvSpPr>
          <p:cNvPr id="9" name="Shape 7"/>
          <p:cNvSpPr/>
          <p:nvPr/>
        </p:nvSpPr>
        <p:spPr>
          <a:xfrm>
            <a:off x="320040" y="1783080"/>
            <a:ext cx="3977640" cy="3200400"/>
          </a:xfrm>
          <a:prstGeom prst="rect">
            <a:avLst/>
          </a:prstGeom>
          <a:solidFill>
            <a:srgbClr val="0D1E38"/>
          </a:solidFill>
          <a:ln/>
          <a:effectLst>
            <a:outerShdw blurRad="127000" dist="50800" dir="8100000" algn="bl" rotWithShape="0">
              <a:srgbClr val="000000">
                <a:alpha val="22000"/>
              </a:srgbClr>
            </a:outerShdw>
          </a:effectLst>
        </p:spPr>
      </p:sp>
      <p:sp>
        <p:nvSpPr>
          <p:cNvPr id="10" name="Shape 8"/>
          <p:cNvSpPr/>
          <p:nvPr/>
        </p:nvSpPr>
        <p:spPr>
          <a:xfrm>
            <a:off x="320040" y="1783080"/>
            <a:ext cx="3977640" cy="402336"/>
          </a:xfrm>
          <a:prstGeom prst="rect">
            <a:avLst/>
          </a:prstGeom>
          <a:solidFill>
            <a:srgbClr val="8B5CF6"/>
          </a:solidFill>
          <a:ln/>
        </p:spPr>
      </p:sp>
      <p:sp>
        <p:nvSpPr>
          <p:cNvPr id="11" name="Text 9"/>
          <p:cNvSpPr/>
          <p:nvPr/>
        </p:nvSpPr>
        <p:spPr>
          <a:xfrm>
            <a:off x="411480" y="1810512"/>
            <a:ext cx="379476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CRYPTO ON-RAMP</a:t>
            </a:r>
            <a:endParaRPr lang="en-US" sz="1300" dirty="0"/>
          </a:p>
        </p:txBody>
      </p:sp>
      <p:sp>
        <p:nvSpPr>
          <p:cNvPr id="12" name="Text 10"/>
          <p:cNvSpPr/>
          <p:nvPr/>
        </p:nvSpPr>
        <p:spPr>
          <a:xfrm>
            <a:off x="457200" y="2304288"/>
            <a:ext cx="3749040" cy="292608"/>
          </a:xfrm>
          <a:prstGeom prst="rect">
            <a:avLst/>
          </a:prstGeom>
          <a:noFill/>
          <a:ln/>
        </p:spPr>
        <p:txBody>
          <a:bodyPr wrap="square" lIns="0" tIns="0" rIns="0" bIns="0"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  Fiat → Crypto</a:t>
            </a:r>
            <a:endParaRPr lang="en-US" sz="1200" dirty="0"/>
          </a:p>
        </p:txBody>
      </p:sp>
      <p:sp>
        <p:nvSpPr>
          <p:cNvPr id="13" name="Text 11"/>
          <p:cNvSpPr/>
          <p:nvPr/>
        </p:nvSpPr>
        <p:spPr>
          <a:xfrm>
            <a:off x="457200" y="2606040"/>
            <a:ext cx="3749040" cy="475488"/>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Users deposit local currency (NGN, ZAR, RUB, INR) via bank transfer, card, or mobile money. HashPay mints or purchases equivalent stablecoins (USDC, USDT) or target crypto instantly.</a:t>
            </a:r>
            <a:endParaRPr lang="en-US" sz="1000" dirty="0"/>
          </a:p>
        </p:txBody>
      </p:sp>
      <p:sp>
        <p:nvSpPr>
          <p:cNvPr id="14" name="Text 12"/>
          <p:cNvSpPr/>
          <p:nvPr/>
        </p:nvSpPr>
        <p:spPr>
          <a:xfrm>
            <a:off x="457200" y="3172968"/>
            <a:ext cx="3749040" cy="292608"/>
          </a:xfrm>
          <a:prstGeom prst="rect">
            <a:avLst/>
          </a:prstGeom>
          <a:noFill/>
          <a:ln/>
        </p:spPr>
        <p:txBody>
          <a:bodyPr wrap="square" lIns="0" tIns="0" rIns="0" bIns="0"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  Secure Custody</a:t>
            </a:r>
            <a:endParaRPr lang="en-US" sz="1200" dirty="0"/>
          </a:p>
        </p:txBody>
      </p:sp>
      <p:sp>
        <p:nvSpPr>
          <p:cNvPr id="15" name="Text 13"/>
          <p:cNvSpPr/>
          <p:nvPr/>
        </p:nvSpPr>
        <p:spPr>
          <a:xfrm>
            <a:off x="457200" y="3474720"/>
            <a:ext cx="3749040" cy="475488"/>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User's crypto is held in HashPay's non-custodial multi-sig wallet infrastructure. Full AML/KYC compliance built in. Users can send, swap, or hold.</a:t>
            </a:r>
            <a:endParaRPr lang="en-US" sz="1000" dirty="0"/>
          </a:p>
        </p:txBody>
      </p:sp>
      <p:sp>
        <p:nvSpPr>
          <p:cNvPr id="16" name="Text 14"/>
          <p:cNvSpPr/>
          <p:nvPr/>
        </p:nvSpPr>
        <p:spPr>
          <a:xfrm>
            <a:off x="457200" y="4041648"/>
            <a:ext cx="3749040" cy="292608"/>
          </a:xfrm>
          <a:prstGeom prst="rect">
            <a:avLst/>
          </a:prstGeom>
          <a:noFill/>
          <a:ln/>
        </p:spPr>
        <p:txBody>
          <a:bodyPr wrap="square" lIns="0" tIns="0" rIns="0" bIns="0"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  DeFi Access</a:t>
            </a:r>
            <a:endParaRPr lang="en-US" sz="1200" dirty="0"/>
          </a:p>
        </p:txBody>
      </p:sp>
      <p:sp>
        <p:nvSpPr>
          <p:cNvPr id="17" name="Text 15"/>
          <p:cNvSpPr/>
          <p:nvPr/>
        </p:nvSpPr>
        <p:spPr>
          <a:xfrm>
            <a:off x="457200" y="4343400"/>
            <a:ext cx="3749040" cy="475488"/>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HashPay Web3 gives users entry to DeFi liquidity, staking, and yield — all from a single interface, powered by HashPay's smart routing engine.</a:t>
            </a:r>
            <a:endParaRPr lang="en-US" sz="1000" dirty="0"/>
          </a:p>
        </p:txBody>
      </p:sp>
      <p:sp>
        <p:nvSpPr>
          <p:cNvPr id="18" name="Shape 16"/>
          <p:cNvSpPr/>
          <p:nvPr/>
        </p:nvSpPr>
        <p:spPr>
          <a:xfrm>
            <a:off x="4572000" y="1783080"/>
            <a:ext cx="4251960" cy="3200400"/>
          </a:xfrm>
          <a:prstGeom prst="rect">
            <a:avLst/>
          </a:prstGeom>
          <a:solidFill>
            <a:srgbClr val="0D1E38"/>
          </a:solidFill>
          <a:ln/>
          <a:effectLst>
            <a:outerShdw blurRad="127000" dist="50800" dir="8100000" algn="bl" rotWithShape="0">
              <a:srgbClr val="000000">
                <a:alpha val="22000"/>
              </a:srgbClr>
            </a:outerShdw>
          </a:effectLst>
        </p:spPr>
      </p:sp>
      <p:sp>
        <p:nvSpPr>
          <p:cNvPr id="19" name="Shape 17"/>
          <p:cNvSpPr/>
          <p:nvPr/>
        </p:nvSpPr>
        <p:spPr>
          <a:xfrm>
            <a:off x="4572000" y="1783080"/>
            <a:ext cx="4251960" cy="402336"/>
          </a:xfrm>
          <a:prstGeom prst="rect">
            <a:avLst/>
          </a:prstGeom>
          <a:solidFill>
            <a:srgbClr val="00D4AA"/>
          </a:solidFill>
          <a:ln/>
        </p:spPr>
      </p:sp>
      <p:sp>
        <p:nvSpPr>
          <p:cNvPr id="20" name="Text 18"/>
          <p:cNvSpPr/>
          <p:nvPr/>
        </p:nvSpPr>
        <p:spPr>
          <a:xfrm>
            <a:off x="4663440" y="1810512"/>
            <a:ext cx="4069080" cy="347472"/>
          </a:xfrm>
          <a:prstGeom prst="rect">
            <a:avLst/>
          </a:prstGeom>
          <a:noFill/>
          <a:ln/>
        </p:spPr>
        <p:txBody>
          <a:bodyPr wrap="square" lIns="0" tIns="0" rIns="0" bIns="0" rtlCol="0" anchor="ctr"/>
          <a:lstStyle/>
          <a:p>
            <a:pPr marL="0" indent="0">
              <a:buNone/>
            </a:pPr>
            <a:r>
              <a:rPr lang="en-US" sz="1300" b="1" dirty="0">
                <a:solidFill>
                  <a:srgbClr val="060E1F"/>
                </a:solidFill>
                <a:latin typeface="Calibri" pitchFamily="34" charset="0"/>
                <a:ea typeface="Calibri" pitchFamily="34" charset="-122"/>
                <a:cs typeface="Calibri" pitchFamily="34" charset="-120"/>
              </a:rPr>
              <a:t>🔽  CRYPTO OFF-RAMP</a:t>
            </a:r>
            <a:endParaRPr lang="en-US" sz="1300" dirty="0"/>
          </a:p>
        </p:txBody>
      </p:sp>
      <p:sp>
        <p:nvSpPr>
          <p:cNvPr id="21" name="Text 19"/>
          <p:cNvSpPr/>
          <p:nvPr/>
        </p:nvSpPr>
        <p:spPr>
          <a:xfrm>
            <a:off x="4681728" y="2304288"/>
            <a:ext cx="4041648" cy="292608"/>
          </a:xfrm>
          <a:prstGeom prst="rect">
            <a:avLst/>
          </a:prstGeom>
          <a:noFill/>
          <a:ln/>
        </p:spPr>
        <p:txBody>
          <a:bodyPr wrap="square" lIns="0" tIns="0" rIns="0" bIns="0"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  Send Crypto → Receive Local</a:t>
            </a:r>
            <a:endParaRPr lang="en-US" sz="1200" dirty="0"/>
          </a:p>
        </p:txBody>
      </p:sp>
      <p:sp>
        <p:nvSpPr>
          <p:cNvPr id="22" name="Text 20"/>
          <p:cNvSpPr/>
          <p:nvPr/>
        </p:nvSpPr>
        <p:spPr>
          <a:xfrm>
            <a:off x="4681728" y="2606040"/>
            <a:ext cx="4041648" cy="475488"/>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A crypto user in London sends ETH. A vendor in Lagos receives NGN directly in their bank account or HashPay wallet. No crypto knowledge required by the receiver.</a:t>
            </a:r>
            <a:endParaRPr lang="en-US" sz="1000" dirty="0"/>
          </a:p>
        </p:txBody>
      </p:sp>
      <p:sp>
        <p:nvSpPr>
          <p:cNvPr id="23" name="Text 21"/>
          <p:cNvSpPr/>
          <p:nvPr/>
        </p:nvSpPr>
        <p:spPr>
          <a:xfrm>
            <a:off x="4681728" y="3172968"/>
            <a:ext cx="4041648" cy="292608"/>
          </a:xfrm>
          <a:prstGeom prst="rect">
            <a:avLst/>
          </a:prstGeom>
          <a:noFill/>
          <a:ln/>
        </p:spPr>
        <p:txBody>
          <a:bodyPr wrap="square" lIns="0" tIns="0" rIns="0" bIns="0"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  Payout to Any Bank</a:t>
            </a:r>
            <a:endParaRPr lang="en-US" sz="1200" dirty="0"/>
          </a:p>
        </p:txBody>
      </p:sp>
      <p:sp>
        <p:nvSpPr>
          <p:cNvPr id="24" name="Text 22"/>
          <p:cNvSpPr/>
          <p:nvPr/>
        </p:nvSpPr>
        <p:spPr>
          <a:xfrm>
            <a:off x="4681728" y="3474720"/>
            <a:ext cx="4041648" cy="475488"/>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HashPay's off-ramp connects to 100+ local banking networks. Crypto converts to local fiat and settles directly into the recipient's bank account within seconds.</a:t>
            </a:r>
            <a:endParaRPr lang="en-US" sz="1000" dirty="0"/>
          </a:p>
        </p:txBody>
      </p:sp>
      <p:sp>
        <p:nvSpPr>
          <p:cNvPr id="25" name="Text 23"/>
          <p:cNvSpPr/>
          <p:nvPr/>
        </p:nvSpPr>
        <p:spPr>
          <a:xfrm>
            <a:off x="4681728" y="4041648"/>
            <a:ext cx="4041648" cy="292608"/>
          </a:xfrm>
          <a:prstGeom prst="rect">
            <a:avLst/>
          </a:prstGeom>
          <a:noFill/>
          <a:ln/>
        </p:spPr>
        <p:txBody>
          <a:bodyPr wrap="square" lIns="0" tIns="0" rIns="0" bIns="0"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  Stablecoin Bridge</a:t>
            </a:r>
            <a:endParaRPr lang="en-US" sz="1200" dirty="0"/>
          </a:p>
        </p:txBody>
      </p:sp>
      <p:sp>
        <p:nvSpPr>
          <p:cNvPr id="26" name="Text 24"/>
          <p:cNvSpPr/>
          <p:nvPr/>
        </p:nvSpPr>
        <p:spPr>
          <a:xfrm>
            <a:off x="4681728" y="4343400"/>
            <a:ext cx="4041648" cy="475488"/>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HashPay uses USDC, USDT, and regional stablecoins as settlement bridges. $27.6 trillion in stablecoin volume processed in 2024 validates this infrastructure's scale.</a:t>
            </a:r>
            <a:endParaRPr lang="en-US" sz="1000" dirty="0"/>
          </a:p>
        </p:txBody>
      </p:sp>
      <p:sp>
        <p:nvSpPr>
          <p:cNvPr id="27" name="Shape 25"/>
          <p:cNvSpPr/>
          <p:nvPr/>
        </p:nvSpPr>
        <p:spPr>
          <a:xfrm>
            <a:off x="320040" y="5102352"/>
            <a:ext cx="8503920" cy="0"/>
          </a:xfrm>
          <a:prstGeom prst="rect">
            <a:avLst/>
          </a:prstGeom>
          <a:solidFill>
            <a:srgbClr val="0E2040"/>
          </a:solidFill>
          <a:ln/>
        </p:spPr>
      </p:sp>
      <p:sp>
        <p:nvSpPr>
          <p:cNvPr id="28" name="Text 26"/>
          <p:cNvSpPr/>
          <p:nvPr/>
        </p:nvSpPr>
        <p:spPr>
          <a:xfrm>
            <a:off x="411480" y="4736592"/>
            <a:ext cx="8321040" cy="274320"/>
          </a:xfrm>
          <a:prstGeom prst="rect">
            <a:avLst/>
          </a:prstGeom>
          <a:noFill/>
          <a:ln/>
        </p:spPr>
        <p:txBody>
          <a:bodyPr wrap="square" lIns="0" tIns="0" rIns="0" bIns="0" rtlCol="0" anchor="ctr"/>
          <a:lstStyle/>
          <a:p>
            <a:pPr marL="0" indent="0" algn="ctr">
              <a:buNone/>
            </a:pPr>
            <a:r>
              <a:rPr lang="en-US" sz="1000" dirty="0">
                <a:solidFill>
                  <a:srgbClr val="00D4AA"/>
                </a:solidFill>
                <a:latin typeface="Calibri" pitchFamily="34" charset="0"/>
                <a:ea typeface="Calibri" pitchFamily="34" charset="-122"/>
                <a:cs typeface="Calibri" pitchFamily="34" charset="-120"/>
              </a:rPr>
              <a:t>📊  Market Validation: Stablecoins processed $27.6 trillion in 2024 — surpassing Visa + Mastercard combined.  Citi projects stablecoins reach multi-trillion dollar market by 2030.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E1F"/>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HashPay Technical Architecture</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Hybrid Web2 + Web3 infrastructure built for scale, compliance, and the future</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8503920" cy="1207008"/>
          </a:xfrm>
          <a:prstGeom prst="rect">
            <a:avLst/>
          </a:prstGeom>
          <a:solidFill>
            <a:srgbClr val="0D1E38"/>
          </a:solidFill>
          <a:ln/>
          <a:effectLst>
            <a:outerShdw blurRad="127000" dist="50800" dir="8100000" algn="bl" rotWithShape="0">
              <a:srgbClr val="000000">
                <a:alpha val="22000"/>
              </a:srgbClr>
            </a:outerShdw>
          </a:effectLst>
        </p:spPr>
      </p:sp>
      <p:sp>
        <p:nvSpPr>
          <p:cNvPr id="7" name="Shape 5"/>
          <p:cNvSpPr/>
          <p:nvPr/>
        </p:nvSpPr>
        <p:spPr>
          <a:xfrm>
            <a:off x="320040" y="1024128"/>
            <a:ext cx="8503920" cy="292608"/>
          </a:xfrm>
          <a:prstGeom prst="rect">
            <a:avLst/>
          </a:prstGeom>
          <a:solidFill>
            <a:srgbClr val="00D4AA">
              <a:alpha val="80000"/>
            </a:srgbClr>
          </a:solidFill>
          <a:ln/>
        </p:spPr>
      </p:sp>
      <p:sp>
        <p:nvSpPr>
          <p:cNvPr id="8" name="Text 6"/>
          <p:cNvSpPr/>
          <p:nvPr/>
        </p:nvSpPr>
        <p:spPr>
          <a:xfrm>
            <a:off x="411480" y="1042416"/>
            <a:ext cx="83210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LAYER 1 — USER INTERFACE</a:t>
            </a:r>
            <a:endParaRPr lang="en-US" sz="1100" dirty="0"/>
          </a:p>
        </p:txBody>
      </p:sp>
      <p:sp>
        <p:nvSpPr>
          <p:cNvPr id="9" name="Text 7"/>
          <p:cNvSpPr/>
          <p:nvPr/>
        </p:nvSpPr>
        <p:spPr>
          <a:xfrm>
            <a:off x="347472" y="1371600"/>
            <a:ext cx="2560320" cy="256032"/>
          </a:xfrm>
          <a:prstGeom prst="rect">
            <a:avLst/>
          </a:prstGeom>
          <a:noFill/>
          <a:ln/>
        </p:spPr>
        <p:txBody>
          <a:bodyPr wrap="square" lIns="0" tIns="0" rIns="0" bIns="0"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  Mobile &amp; Web App</a:t>
            </a:r>
            <a:endParaRPr lang="en-US" sz="1100" dirty="0"/>
          </a:p>
        </p:txBody>
      </p:sp>
      <p:sp>
        <p:nvSpPr>
          <p:cNvPr id="10" name="Text 8"/>
          <p:cNvSpPr/>
          <p:nvPr/>
        </p:nvSpPr>
        <p:spPr>
          <a:xfrm>
            <a:off x="347472" y="1645920"/>
            <a:ext cx="2560320" cy="50292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iOS, Android, Web — seamless UX for consumers and businesses</a:t>
            </a:r>
            <a:endParaRPr lang="en-US" sz="950" dirty="0"/>
          </a:p>
        </p:txBody>
      </p:sp>
      <p:sp>
        <p:nvSpPr>
          <p:cNvPr id="11" name="Text 9"/>
          <p:cNvSpPr/>
          <p:nvPr/>
        </p:nvSpPr>
        <p:spPr>
          <a:xfrm>
            <a:off x="3200400" y="1371600"/>
            <a:ext cx="2560320" cy="256032"/>
          </a:xfrm>
          <a:prstGeom prst="rect">
            <a:avLst/>
          </a:prstGeom>
          <a:noFill/>
          <a:ln/>
        </p:spPr>
        <p:txBody>
          <a:bodyPr wrap="square" lIns="0" tIns="0" rIns="0" bIns="0"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  Merchant SDKs &amp; APIs</a:t>
            </a:r>
            <a:endParaRPr lang="en-US" sz="1100" dirty="0"/>
          </a:p>
        </p:txBody>
      </p:sp>
      <p:sp>
        <p:nvSpPr>
          <p:cNvPr id="12" name="Text 10"/>
          <p:cNvSpPr/>
          <p:nvPr/>
        </p:nvSpPr>
        <p:spPr>
          <a:xfrm>
            <a:off x="3200400" y="1645920"/>
            <a:ext cx="2560320" cy="50292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Plug-and-play payment buttons, POS integrations, e-commerce plugins</a:t>
            </a:r>
            <a:endParaRPr lang="en-US" sz="950" dirty="0"/>
          </a:p>
        </p:txBody>
      </p:sp>
      <p:sp>
        <p:nvSpPr>
          <p:cNvPr id="13" name="Text 11"/>
          <p:cNvSpPr/>
          <p:nvPr/>
        </p:nvSpPr>
        <p:spPr>
          <a:xfrm>
            <a:off x="6053328" y="1371600"/>
            <a:ext cx="2560320" cy="256032"/>
          </a:xfrm>
          <a:prstGeom prst="rect">
            <a:avLst/>
          </a:prstGeom>
          <a:noFill/>
          <a:ln/>
        </p:spPr>
        <p:txBody>
          <a:bodyPr wrap="square" lIns="0" tIns="0" rIns="0" bIns="0"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  Business Dashboard</a:t>
            </a:r>
            <a:endParaRPr lang="en-US" sz="1100" dirty="0"/>
          </a:p>
        </p:txBody>
      </p:sp>
      <p:sp>
        <p:nvSpPr>
          <p:cNvPr id="14" name="Text 12"/>
          <p:cNvSpPr/>
          <p:nvPr/>
        </p:nvSpPr>
        <p:spPr>
          <a:xfrm>
            <a:off x="6053328" y="1645920"/>
            <a:ext cx="2560320" cy="50292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Enterprise treasury management, bulk payments, analytics</a:t>
            </a:r>
            <a:endParaRPr lang="en-US" sz="950" dirty="0"/>
          </a:p>
        </p:txBody>
      </p:sp>
      <p:sp>
        <p:nvSpPr>
          <p:cNvPr id="15" name="Shape 13"/>
          <p:cNvSpPr/>
          <p:nvPr/>
        </p:nvSpPr>
        <p:spPr>
          <a:xfrm>
            <a:off x="320040" y="2350008"/>
            <a:ext cx="8503920" cy="1207008"/>
          </a:xfrm>
          <a:prstGeom prst="rect">
            <a:avLst/>
          </a:prstGeom>
          <a:solidFill>
            <a:srgbClr val="0D1E38"/>
          </a:solidFill>
          <a:ln/>
          <a:effectLst>
            <a:outerShdw blurRad="127000" dist="50800" dir="8100000" algn="bl" rotWithShape="0">
              <a:srgbClr val="000000">
                <a:alpha val="22000"/>
              </a:srgbClr>
            </a:outerShdw>
          </a:effectLst>
        </p:spPr>
      </p:sp>
      <p:sp>
        <p:nvSpPr>
          <p:cNvPr id="16" name="Shape 14"/>
          <p:cNvSpPr/>
          <p:nvPr/>
        </p:nvSpPr>
        <p:spPr>
          <a:xfrm>
            <a:off x="320040" y="2350008"/>
            <a:ext cx="8503920" cy="292608"/>
          </a:xfrm>
          <a:prstGeom prst="rect">
            <a:avLst/>
          </a:prstGeom>
          <a:solidFill>
            <a:srgbClr val="FFB800"/>
          </a:solidFill>
          <a:ln/>
        </p:spPr>
      </p:sp>
      <p:sp>
        <p:nvSpPr>
          <p:cNvPr id="17" name="Text 15"/>
          <p:cNvSpPr/>
          <p:nvPr/>
        </p:nvSpPr>
        <p:spPr>
          <a:xfrm>
            <a:off x="411480" y="2368296"/>
            <a:ext cx="8321040" cy="256032"/>
          </a:xfrm>
          <a:prstGeom prst="rect">
            <a:avLst/>
          </a:prstGeom>
          <a:noFill/>
          <a:ln/>
        </p:spPr>
        <p:txBody>
          <a:bodyPr wrap="square" lIns="0" tIns="0" rIns="0" bIns="0" rtlCol="0" anchor="ctr"/>
          <a:lstStyle/>
          <a:p>
            <a:pPr marL="0" indent="0">
              <a:buNone/>
            </a:pPr>
            <a:r>
              <a:rPr lang="en-US" sz="1100" b="1" dirty="0">
                <a:solidFill>
                  <a:srgbClr val="060E1F"/>
                </a:solidFill>
                <a:latin typeface="Calibri" pitchFamily="34" charset="0"/>
                <a:ea typeface="Calibri" pitchFamily="34" charset="-122"/>
                <a:cs typeface="Calibri" pitchFamily="34" charset="-120"/>
              </a:rPr>
              <a:t>LAYER 2 — SMART ENGINE (Web2 + Web3)</a:t>
            </a:r>
            <a:endParaRPr lang="en-US" sz="1100" dirty="0"/>
          </a:p>
        </p:txBody>
      </p:sp>
      <p:sp>
        <p:nvSpPr>
          <p:cNvPr id="18" name="Text 16"/>
          <p:cNvSpPr/>
          <p:nvPr/>
        </p:nvSpPr>
        <p:spPr>
          <a:xfrm>
            <a:off x="347472" y="2697480"/>
            <a:ext cx="2011680" cy="256032"/>
          </a:xfrm>
          <a:prstGeom prst="rect">
            <a:avLst/>
          </a:prstGeom>
          <a:noFill/>
          <a:ln/>
        </p:spPr>
        <p:txBody>
          <a:bodyPr wrap="square" lIns="0" tIns="0" rIns="0" bIns="0" rtlCol="0" anchor="ctr"/>
          <a:lstStyle/>
          <a:p>
            <a:pPr marL="0" indent="0">
              <a:buNone/>
            </a:pPr>
            <a:r>
              <a:rPr lang="en-US" sz="1100" b="1" dirty="0">
                <a:solidFill>
                  <a:srgbClr val="FFB800"/>
                </a:solidFill>
                <a:latin typeface="Calibri" pitchFamily="34" charset="0"/>
                <a:ea typeface="Calibri" pitchFamily="34" charset="-122"/>
                <a:cs typeface="Calibri" pitchFamily="34" charset="-120"/>
              </a:rPr>
              <a:t>🔀  Smart Currency Router</a:t>
            </a:r>
            <a:endParaRPr lang="en-US" sz="1100" dirty="0"/>
          </a:p>
        </p:txBody>
      </p:sp>
      <p:sp>
        <p:nvSpPr>
          <p:cNvPr id="19" name="Text 17"/>
          <p:cNvSpPr/>
          <p:nvPr/>
        </p:nvSpPr>
        <p:spPr>
          <a:xfrm>
            <a:off x="347472" y="2971800"/>
            <a:ext cx="2011680" cy="50292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AI-powered routing finds the optimal liquidity path for every transaction</a:t>
            </a:r>
            <a:endParaRPr lang="en-US" sz="950" dirty="0"/>
          </a:p>
        </p:txBody>
      </p:sp>
      <p:sp>
        <p:nvSpPr>
          <p:cNvPr id="20" name="Text 18"/>
          <p:cNvSpPr/>
          <p:nvPr/>
        </p:nvSpPr>
        <p:spPr>
          <a:xfrm>
            <a:off x="2473452" y="2697480"/>
            <a:ext cx="2011680" cy="256032"/>
          </a:xfrm>
          <a:prstGeom prst="rect">
            <a:avLst/>
          </a:prstGeom>
          <a:noFill/>
          <a:ln/>
        </p:spPr>
        <p:txBody>
          <a:bodyPr wrap="square" lIns="0" tIns="0" rIns="0" bIns="0" rtlCol="0" anchor="ctr"/>
          <a:lstStyle/>
          <a:p>
            <a:pPr marL="0" indent="0">
              <a:buNone/>
            </a:pPr>
            <a:r>
              <a:rPr lang="en-US" sz="1100" b="1" dirty="0">
                <a:solidFill>
                  <a:srgbClr val="FFB800"/>
                </a:solidFill>
                <a:latin typeface="Calibri" pitchFamily="34" charset="0"/>
                <a:ea typeface="Calibri" pitchFamily="34" charset="-122"/>
                <a:cs typeface="Calibri" pitchFamily="34" charset="-120"/>
              </a:rPr>
              <a:t>⛓️  Blockchain Settlement Layer</a:t>
            </a:r>
            <a:endParaRPr lang="en-US" sz="1100" dirty="0"/>
          </a:p>
        </p:txBody>
      </p:sp>
      <p:sp>
        <p:nvSpPr>
          <p:cNvPr id="21" name="Text 19"/>
          <p:cNvSpPr/>
          <p:nvPr/>
        </p:nvSpPr>
        <p:spPr>
          <a:xfrm>
            <a:off x="2473452" y="2971800"/>
            <a:ext cx="2011680" cy="50292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Transactions recorded on-chain for immutability, transparency &amp; auditability</a:t>
            </a:r>
            <a:endParaRPr lang="en-US" sz="950" dirty="0"/>
          </a:p>
        </p:txBody>
      </p:sp>
      <p:sp>
        <p:nvSpPr>
          <p:cNvPr id="22" name="Text 20"/>
          <p:cNvSpPr/>
          <p:nvPr/>
        </p:nvSpPr>
        <p:spPr>
          <a:xfrm>
            <a:off x="4599432" y="2697480"/>
            <a:ext cx="2011680" cy="256032"/>
          </a:xfrm>
          <a:prstGeom prst="rect">
            <a:avLst/>
          </a:prstGeom>
          <a:noFill/>
          <a:ln/>
        </p:spPr>
        <p:txBody>
          <a:bodyPr wrap="square" lIns="0" tIns="0" rIns="0" bIns="0" rtlCol="0" anchor="ctr"/>
          <a:lstStyle/>
          <a:p>
            <a:pPr marL="0" indent="0">
              <a:buNone/>
            </a:pPr>
            <a:r>
              <a:rPr lang="en-US" sz="1100" b="1" dirty="0">
                <a:solidFill>
                  <a:srgbClr val="FFB800"/>
                </a:solidFill>
                <a:latin typeface="Calibri" pitchFamily="34" charset="0"/>
                <a:ea typeface="Calibri" pitchFamily="34" charset="-122"/>
                <a:cs typeface="Calibri" pitchFamily="34" charset="-120"/>
              </a:rPr>
              <a:t>🏊  Decentralized Liquidity Pools</a:t>
            </a:r>
            <a:endParaRPr lang="en-US" sz="1100" dirty="0"/>
          </a:p>
        </p:txBody>
      </p:sp>
      <p:sp>
        <p:nvSpPr>
          <p:cNvPr id="23" name="Text 21"/>
          <p:cNvSpPr/>
          <p:nvPr/>
        </p:nvSpPr>
        <p:spPr>
          <a:xfrm>
            <a:off x="4599432" y="2971800"/>
            <a:ext cx="2011680" cy="50292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Multi-currency pools funded by institutional and retail liquidity providers</a:t>
            </a:r>
            <a:endParaRPr lang="en-US" sz="950" dirty="0"/>
          </a:p>
        </p:txBody>
      </p:sp>
      <p:sp>
        <p:nvSpPr>
          <p:cNvPr id="24" name="Text 22"/>
          <p:cNvSpPr/>
          <p:nvPr/>
        </p:nvSpPr>
        <p:spPr>
          <a:xfrm>
            <a:off x="6725412" y="2697480"/>
            <a:ext cx="2011680" cy="256032"/>
          </a:xfrm>
          <a:prstGeom prst="rect">
            <a:avLst/>
          </a:prstGeom>
          <a:noFill/>
          <a:ln/>
        </p:spPr>
        <p:txBody>
          <a:bodyPr wrap="square" lIns="0" tIns="0" rIns="0" bIns="0" rtlCol="0" anchor="ctr"/>
          <a:lstStyle/>
          <a:p>
            <a:pPr marL="0" indent="0">
              <a:buNone/>
            </a:pPr>
            <a:r>
              <a:rPr lang="en-US" sz="1100" b="1" dirty="0">
                <a:solidFill>
                  <a:srgbClr val="FFB800"/>
                </a:solidFill>
                <a:latin typeface="Calibri" pitchFamily="34" charset="0"/>
                <a:ea typeface="Calibri" pitchFamily="34" charset="-122"/>
                <a:cs typeface="Calibri" pitchFamily="34" charset="-120"/>
              </a:rPr>
              <a:t>🤖  Smart Contract FX Engine</a:t>
            </a:r>
            <a:endParaRPr lang="en-US" sz="1100" dirty="0"/>
          </a:p>
        </p:txBody>
      </p:sp>
      <p:sp>
        <p:nvSpPr>
          <p:cNvPr id="25" name="Text 23"/>
          <p:cNvSpPr/>
          <p:nvPr/>
        </p:nvSpPr>
        <p:spPr>
          <a:xfrm>
            <a:off x="6725412" y="2971800"/>
            <a:ext cx="2011680" cy="50292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Automated conversion rates coded into contracts — no manual intervention</a:t>
            </a:r>
            <a:endParaRPr lang="en-US" sz="950" dirty="0"/>
          </a:p>
        </p:txBody>
      </p:sp>
      <p:sp>
        <p:nvSpPr>
          <p:cNvPr id="26" name="Shape 24"/>
          <p:cNvSpPr/>
          <p:nvPr/>
        </p:nvSpPr>
        <p:spPr>
          <a:xfrm>
            <a:off x="320040" y="3675888"/>
            <a:ext cx="8503920" cy="1207008"/>
          </a:xfrm>
          <a:prstGeom prst="rect">
            <a:avLst/>
          </a:prstGeom>
          <a:solidFill>
            <a:srgbClr val="0D1E38"/>
          </a:solidFill>
          <a:ln/>
          <a:effectLst>
            <a:outerShdw blurRad="127000" dist="50800" dir="8100000" algn="bl" rotWithShape="0">
              <a:srgbClr val="000000">
                <a:alpha val="22000"/>
              </a:srgbClr>
            </a:outerShdw>
          </a:effectLst>
        </p:spPr>
      </p:sp>
      <p:sp>
        <p:nvSpPr>
          <p:cNvPr id="27" name="Shape 25"/>
          <p:cNvSpPr/>
          <p:nvPr/>
        </p:nvSpPr>
        <p:spPr>
          <a:xfrm>
            <a:off x="320040" y="3675888"/>
            <a:ext cx="8503920" cy="292608"/>
          </a:xfrm>
          <a:prstGeom prst="rect">
            <a:avLst/>
          </a:prstGeom>
          <a:solidFill>
            <a:srgbClr val="7C3AED">
              <a:alpha val="80000"/>
            </a:srgbClr>
          </a:solidFill>
          <a:ln/>
        </p:spPr>
      </p:sp>
      <p:sp>
        <p:nvSpPr>
          <p:cNvPr id="28" name="Text 26"/>
          <p:cNvSpPr/>
          <p:nvPr/>
        </p:nvSpPr>
        <p:spPr>
          <a:xfrm>
            <a:off x="411480" y="3694176"/>
            <a:ext cx="83210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LAYER 3 — FINANCIAL RAILS</a:t>
            </a:r>
            <a:endParaRPr lang="en-US" sz="1100" dirty="0"/>
          </a:p>
        </p:txBody>
      </p:sp>
      <p:sp>
        <p:nvSpPr>
          <p:cNvPr id="29" name="Text 27"/>
          <p:cNvSpPr/>
          <p:nvPr/>
        </p:nvSpPr>
        <p:spPr>
          <a:xfrm>
            <a:off x="347472" y="4023360"/>
            <a:ext cx="2560320" cy="256032"/>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  Banking API Network</a:t>
            </a:r>
            <a:endParaRPr lang="en-US" sz="1100" dirty="0"/>
          </a:p>
        </p:txBody>
      </p:sp>
      <p:sp>
        <p:nvSpPr>
          <p:cNvPr id="30" name="Text 28"/>
          <p:cNvSpPr/>
          <p:nvPr/>
        </p:nvSpPr>
        <p:spPr>
          <a:xfrm>
            <a:off x="347472" y="4297680"/>
            <a:ext cx="2560320" cy="50292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Direct connections to 100+ local banking systems — ACH, SEPA, NIBSS, and more</a:t>
            </a:r>
            <a:endParaRPr lang="en-US" sz="950" dirty="0"/>
          </a:p>
        </p:txBody>
      </p:sp>
      <p:sp>
        <p:nvSpPr>
          <p:cNvPr id="31" name="Text 29"/>
          <p:cNvSpPr/>
          <p:nvPr/>
        </p:nvSpPr>
        <p:spPr>
          <a:xfrm>
            <a:off x="3200400" y="4023360"/>
            <a:ext cx="2560320" cy="256032"/>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  Mobile Money Integration</a:t>
            </a:r>
            <a:endParaRPr lang="en-US" sz="1100" dirty="0"/>
          </a:p>
        </p:txBody>
      </p:sp>
      <p:sp>
        <p:nvSpPr>
          <p:cNvPr id="32" name="Text 30"/>
          <p:cNvSpPr/>
          <p:nvPr/>
        </p:nvSpPr>
        <p:spPr>
          <a:xfrm>
            <a:off x="3200400" y="4297680"/>
            <a:ext cx="2560320" cy="50292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M-Pesa, MTN MoMo, Airtel Money — reaching the unbanked</a:t>
            </a:r>
            <a:endParaRPr lang="en-US" sz="950" dirty="0"/>
          </a:p>
        </p:txBody>
      </p:sp>
      <p:sp>
        <p:nvSpPr>
          <p:cNvPr id="33" name="Text 31"/>
          <p:cNvSpPr/>
          <p:nvPr/>
        </p:nvSpPr>
        <p:spPr>
          <a:xfrm>
            <a:off x="6053328" y="4023360"/>
            <a:ext cx="2560320" cy="256032"/>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  Compliance Engine</a:t>
            </a:r>
            <a:endParaRPr lang="en-US" sz="1100" dirty="0"/>
          </a:p>
        </p:txBody>
      </p:sp>
      <p:sp>
        <p:nvSpPr>
          <p:cNvPr id="34" name="Text 32"/>
          <p:cNvSpPr/>
          <p:nvPr/>
        </p:nvSpPr>
        <p:spPr>
          <a:xfrm>
            <a:off x="6053328" y="4297680"/>
            <a:ext cx="2560320" cy="50292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Real-time KYC/AML screening, regulatory reporting, sanctions checking</a:t>
            </a:r>
            <a:endParaRPr lang="en-US" sz="950" dirty="0"/>
          </a:p>
        </p:txBody>
      </p:sp>
      <p:sp>
        <p:nvSpPr>
          <p:cNvPr id="35" name="Text 33"/>
          <p:cNvSpPr/>
          <p:nvPr/>
        </p:nvSpPr>
        <p:spPr>
          <a:xfrm>
            <a:off x="8906256" y="4023360"/>
            <a:ext cx="2560320" cy="256032"/>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   SMART ESCROW </a:t>
            </a:r>
            <a:endParaRPr lang="en-US" sz="1100" dirty="0"/>
          </a:p>
        </p:txBody>
      </p:sp>
      <p:sp>
        <p:nvSpPr>
          <p:cNvPr id="36" name="Text 34"/>
          <p:cNvSpPr/>
          <p:nvPr/>
        </p:nvSpPr>
        <p:spPr>
          <a:xfrm>
            <a:off x="9209314" y="4297680"/>
            <a:ext cx="1129004" cy="502920"/>
          </a:xfrm>
          <a:prstGeom prst="rect">
            <a:avLst/>
          </a:prstGeom>
          <a:noFill/>
          <a:ln/>
        </p:spPr>
        <p:txBody>
          <a:bodyPr wrap="square" lIns="0" tIns="0" rIns="0" bIns="0" rtlCol="0" anchor="ctr"/>
          <a:lstStyle/>
          <a:p>
            <a:pPr marL="0" indent="0">
              <a:buNone/>
            </a:pPr>
            <a:r>
              <a:rPr lang="en-US" sz="950" dirty="0">
                <a:solidFill>
                  <a:schemeClr val="accent1"/>
                </a:solidFill>
                <a:latin typeface="Calibri" pitchFamily="34" charset="0"/>
                <a:ea typeface="Calibri" pitchFamily="34" charset="-122"/>
                <a:cs typeface="Calibri" pitchFamily="34" charset="-120"/>
              </a:rPr>
              <a:t>Implementation of Smart Escrow Systems for cross business and service payment</a:t>
            </a:r>
            <a:endParaRPr lang="en-US" sz="950" dirty="0">
              <a:solidFill>
                <a:schemeClr val="accent1"/>
              </a:solidFill>
            </a:endParaRPr>
          </a:p>
        </p:txBody>
      </p:sp>
      <p:sp>
        <p:nvSpPr>
          <p:cNvPr id="37" name="Shape 35"/>
          <p:cNvSpPr/>
          <p:nvPr/>
        </p:nvSpPr>
        <p:spPr>
          <a:xfrm>
            <a:off x="320040" y="5065776"/>
            <a:ext cx="8503920" cy="0"/>
          </a:xfrm>
          <a:prstGeom prst="rect">
            <a:avLst/>
          </a:prstGeom>
          <a:solidFill>
            <a:srgbClr val="0E2040"/>
          </a:solidFill>
          <a:ln/>
        </p:spPr>
      </p:sp>
      <p:sp>
        <p:nvSpPr>
          <p:cNvPr id="38" name="Text 36"/>
          <p:cNvSpPr/>
          <p:nvPr/>
        </p:nvSpPr>
        <p:spPr>
          <a:xfrm>
            <a:off x="411480" y="4736592"/>
            <a:ext cx="8321040" cy="274320"/>
          </a:xfrm>
          <a:prstGeom prst="rect">
            <a:avLst/>
          </a:prstGeom>
          <a:noFill/>
          <a:ln/>
        </p:spPr>
        <p:txBody>
          <a:bodyPr wrap="square" lIns="0" tIns="0" rIns="0" bIns="0" rtlCol="0" anchor="ctr"/>
          <a:lstStyle/>
          <a:p>
            <a:pPr marL="0" indent="0" algn="ctr">
              <a:buNone/>
            </a:pPr>
            <a:r>
              <a:rPr lang="en-US" sz="1000" dirty="0">
                <a:solidFill>
                  <a:srgbClr val="00D4AA"/>
                </a:solidFill>
                <a:latin typeface="Calibri" pitchFamily="34" charset="0"/>
                <a:ea typeface="Calibri" pitchFamily="34" charset="-122"/>
                <a:cs typeface="Calibri" pitchFamily="34" charset="-120"/>
              </a:rPr>
              <a:t>Settlement Speed: 3–10 seconds  |  Uptime: 99.9% SLA  |  Security: Multi-sig HSM + real-time fraud detection  |  Compliance: FATF-aligned global AML/KYC framework</a:t>
            </a:r>
            <a:endParaRPr lang="en-US" sz="1000" dirty="0"/>
          </a:p>
        </p:txBody>
      </p:sp>
      <p:sp>
        <p:nvSpPr>
          <p:cNvPr id="39" name="Text 33">
            <a:extLst>
              <a:ext uri="{FF2B5EF4-FFF2-40B4-BE49-F238E27FC236}">
                <a16:creationId xmlns:a16="http://schemas.microsoft.com/office/drawing/2014/main" id="{EDB4EDD0-E6EA-45F3-B20B-A55A81D33714}"/>
              </a:ext>
            </a:extLst>
          </p:cNvPr>
          <p:cNvSpPr/>
          <p:nvPr/>
        </p:nvSpPr>
        <p:spPr>
          <a:xfrm>
            <a:off x="8814816" y="4023360"/>
            <a:ext cx="2560320" cy="256032"/>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The $320 Billion Market Opportunity</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Cross-border payments: the world's fastest-growing financial infrastructure sector</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05840"/>
            <a:ext cx="2011680" cy="1115568"/>
          </a:xfrm>
          <a:prstGeom prst="rect">
            <a:avLst/>
          </a:prstGeom>
          <a:solidFill>
            <a:srgbClr val="0D1E38"/>
          </a:solidFill>
          <a:ln/>
          <a:effectLst>
            <a:outerShdw blurRad="127000" dist="50800" dir="8100000" algn="bl" rotWithShape="0">
              <a:srgbClr val="000000">
                <a:alpha val="22000"/>
              </a:srgbClr>
            </a:outerShdw>
          </a:effectLst>
        </p:spPr>
      </p:sp>
      <p:sp>
        <p:nvSpPr>
          <p:cNvPr id="7" name="Shape 5"/>
          <p:cNvSpPr/>
          <p:nvPr/>
        </p:nvSpPr>
        <p:spPr>
          <a:xfrm>
            <a:off x="320040" y="1005840"/>
            <a:ext cx="2011680" cy="50292"/>
          </a:xfrm>
          <a:prstGeom prst="rect">
            <a:avLst/>
          </a:prstGeom>
          <a:solidFill>
            <a:srgbClr val="00D4AA"/>
          </a:solidFill>
          <a:ln/>
        </p:spPr>
      </p:sp>
      <p:sp>
        <p:nvSpPr>
          <p:cNvPr id="8" name="Text 6"/>
          <p:cNvSpPr/>
          <p:nvPr/>
        </p:nvSpPr>
        <p:spPr>
          <a:xfrm>
            <a:off x="320040" y="1060704"/>
            <a:ext cx="2011680" cy="566928"/>
          </a:xfrm>
          <a:prstGeom prst="rect">
            <a:avLst/>
          </a:prstGeom>
          <a:noFill/>
          <a:ln/>
        </p:spPr>
        <p:txBody>
          <a:bodyPr wrap="square" lIns="0" tIns="0" rIns="0" bIns="0" rtlCol="0" anchor="ctr"/>
          <a:lstStyle/>
          <a:p>
            <a:pPr marL="0" indent="0" algn="ctr">
              <a:buNone/>
            </a:pPr>
            <a:r>
              <a:rPr lang="en-US" sz="2800" b="1" dirty="0">
                <a:solidFill>
                  <a:srgbClr val="00D4AA"/>
                </a:solidFill>
                <a:latin typeface="Calibri" pitchFamily="34" charset="0"/>
                <a:ea typeface="Calibri" pitchFamily="34" charset="-122"/>
                <a:cs typeface="Calibri" pitchFamily="34" charset="-120"/>
              </a:rPr>
              <a:t>$194T+</a:t>
            </a:r>
            <a:endParaRPr lang="en-US" sz="2800" dirty="0"/>
          </a:p>
        </p:txBody>
      </p:sp>
      <p:sp>
        <p:nvSpPr>
          <p:cNvPr id="9" name="Text 7"/>
          <p:cNvSpPr/>
          <p:nvPr/>
        </p:nvSpPr>
        <p:spPr>
          <a:xfrm>
            <a:off x="393192" y="1636776"/>
            <a:ext cx="1865376" cy="402336"/>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Global cross-border</a:t>
            </a:r>
            <a:endParaRPr lang="en-US" sz="950" dirty="0"/>
          </a:p>
          <a:p>
            <a:pPr marL="0" indent="0" algn="ctr">
              <a:buNone/>
            </a:pPr>
            <a:r>
              <a:rPr lang="en-US" sz="950" dirty="0">
                <a:solidFill>
                  <a:srgbClr val="8899A6"/>
                </a:solidFill>
                <a:latin typeface="Calibri" pitchFamily="34" charset="0"/>
                <a:ea typeface="Calibri" pitchFamily="34" charset="-122"/>
                <a:cs typeface="Calibri" pitchFamily="34" charset="-120"/>
              </a:rPr>
              <a:t>payment volume 2024</a:t>
            </a:r>
            <a:endParaRPr lang="en-US" sz="950" dirty="0"/>
          </a:p>
        </p:txBody>
      </p:sp>
      <p:sp>
        <p:nvSpPr>
          <p:cNvPr id="10" name="Shape 8"/>
          <p:cNvSpPr/>
          <p:nvPr/>
        </p:nvSpPr>
        <p:spPr>
          <a:xfrm>
            <a:off x="2514600" y="1005840"/>
            <a:ext cx="2011680" cy="1115568"/>
          </a:xfrm>
          <a:prstGeom prst="rect">
            <a:avLst/>
          </a:prstGeom>
          <a:solidFill>
            <a:srgbClr val="0D1E38"/>
          </a:solidFill>
          <a:ln/>
          <a:effectLst>
            <a:outerShdw blurRad="127000" dist="50800" dir="8100000" algn="bl" rotWithShape="0">
              <a:srgbClr val="000000">
                <a:alpha val="22000"/>
              </a:srgbClr>
            </a:outerShdw>
          </a:effectLst>
        </p:spPr>
      </p:sp>
      <p:sp>
        <p:nvSpPr>
          <p:cNvPr id="11" name="Shape 9"/>
          <p:cNvSpPr/>
          <p:nvPr/>
        </p:nvSpPr>
        <p:spPr>
          <a:xfrm>
            <a:off x="2514600" y="1005840"/>
            <a:ext cx="2011680" cy="50292"/>
          </a:xfrm>
          <a:prstGeom prst="rect">
            <a:avLst/>
          </a:prstGeom>
          <a:solidFill>
            <a:srgbClr val="FFB800"/>
          </a:solidFill>
          <a:ln/>
        </p:spPr>
      </p:sp>
      <p:sp>
        <p:nvSpPr>
          <p:cNvPr id="12" name="Text 10"/>
          <p:cNvSpPr/>
          <p:nvPr/>
        </p:nvSpPr>
        <p:spPr>
          <a:xfrm>
            <a:off x="2514600" y="1060704"/>
            <a:ext cx="2011680" cy="566928"/>
          </a:xfrm>
          <a:prstGeom prst="rect">
            <a:avLst/>
          </a:prstGeom>
          <a:noFill/>
          <a:ln/>
        </p:spPr>
        <p:txBody>
          <a:bodyPr wrap="square" lIns="0" tIns="0" rIns="0" bIns="0" rtlCol="0" anchor="ctr"/>
          <a:lstStyle/>
          <a:p>
            <a:pPr marL="0" indent="0" algn="ctr">
              <a:buNone/>
            </a:pPr>
            <a:r>
              <a:rPr lang="en-US" sz="2800" b="1" dirty="0">
                <a:solidFill>
                  <a:srgbClr val="FFB800"/>
                </a:solidFill>
                <a:latin typeface="Calibri" pitchFamily="34" charset="0"/>
                <a:ea typeface="Calibri" pitchFamily="34" charset="-122"/>
                <a:cs typeface="Calibri" pitchFamily="34" charset="-120"/>
              </a:rPr>
              <a:t>7.1%</a:t>
            </a:r>
            <a:endParaRPr lang="en-US" sz="2800" dirty="0"/>
          </a:p>
        </p:txBody>
      </p:sp>
      <p:sp>
        <p:nvSpPr>
          <p:cNvPr id="13" name="Text 11"/>
          <p:cNvSpPr/>
          <p:nvPr/>
        </p:nvSpPr>
        <p:spPr>
          <a:xfrm>
            <a:off x="2587752" y="1636776"/>
            <a:ext cx="1865376" cy="402336"/>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Annual CAGR through</a:t>
            </a:r>
            <a:endParaRPr lang="en-US" sz="950" dirty="0"/>
          </a:p>
          <a:p>
            <a:pPr marL="0" indent="0" algn="ctr">
              <a:buNone/>
            </a:pPr>
            <a:r>
              <a:rPr lang="en-US" sz="950" dirty="0">
                <a:solidFill>
                  <a:srgbClr val="8899A6"/>
                </a:solidFill>
                <a:latin typeface="Calibri" pitchFamily="34" charset="0"/>
                <a:ea typeface="Calibri" pitchFamily="34" charset="-122"/>
                <a:cs typeface="Calibri" pitchFamily="34" charset="-120"/>
              </a:rPr>
              <a:t>2030 (Grand View Research)</a:t>
            </a:r>
            <a:endParaRPr lang="en-US" sz="950" dirty="0"/>
          </a:p>
        </p:txBody>
      </p:sp>
      <p:sp>
        <p:nvSpPr>
          <p:cNvPr id="14" name="Shape 12"/>
          <p:cNvSpPr/>
          <p:nvPr/>
        </p:nvSpPr>
        <p:spPr>
          <a:xfrm>
            <a:off x="4709160" y="1005840"/>
            <a:ext cx="2011680" cy="1115568"/>
          </a:xfrm>
          <a:prstGeom prst="rect">
            <a:avLst/>
          </a:prstGeom>
          <a:solidFill>
            <a:srgbClr val="0D1E38"/>
          </a:solidFill>
          <a:ln/>
          <a:effectLst>
            <a:outerShdw blurRad="127000" dist="50800" dir="8100000" algn="bl" rotWithShape="0">
              <a:srgbClr val="000000">
                <a:alpha val="22000"/>
              </a:srgbClr>
            </a:outerShdw>
          </a:effectLst>
        </p:spPr>
      </p:sp>
      <p:sp>
        <p:nvSpPr>
          <p:cNvPr id="15" name="Shape 13"/>
          <p:cNvSpPr/>
          <p:nvPr/>
        </p:nvSpPr>
        <p:spPr>
          <a:xfrm>
            <a:off x="4709160" y="1005840"/>
            <a:ext cx="2011680" cy="50292"/>
          </a:xfrm>
          <a:prstGeom prst="rect">
            <a:avLst/>
          </a:prstGeom>
          <a:solidFill>
            <a:srgbClr val="F97316"/>
          </a:solidFill>
          <a:ln/>
        </p:spPr>
      </p:sp>
      <p:sp>
        <p:nvSpPr>
          <p:cNvPr id="16" name="Text 14"/>
          <p:cNvSpPr/>
          <p:nvPr/>
        </p:nvSpPr>
        <p:spPr>
          <a:xfrm>
            <a:off x="4709160" y="1060704"/>
            <a:ext cx="2011680" cy="566928"/>
          </a:xfrm>
          <a:prstGeom prst="rect">
            <a:avLst/>
          </a:prstGeom>
          <a:noFill/>
          <a:ln/>
        </p:spPr>
        <p:txBody>
          <a:bodyPr wrap="square" lIns="0" tIns="0" rIns="0" bIns="0" rtlCol="0" anchor="ctr"/>
          <a:lstStyle/>
          <a:p>
            <a:pPr marL="0" indent="0" algn="ctr">
              <a:buNone/>
            </a:pPr>
            <a:r>
              <a:rPr lang="en-US" sz="2800" b="1" dirty="0">
                <a:solidFill>
                  <a:srgbClr val="F97316"/>
                </a:solidFill>
                <a:latin typeface="Calibri" pitchFamily="34" charset="0"/>
                <a:ea typeface="Calibri" pitchFamily="34" charset="-122"/>
                <a:cs typeface="Calibri" pitchFamily="34" charset="-120"/>
              </a:rPr>
              <a:t>$685B</a:t>
            </a:r>
            <a:endParaRPr lang="en-US" sz="2800" dirty="0"/>
          </a:p>
        </p:txBody>
      </p:sp>
      <p:sp>
        <p:nvSpPr>
          <p:cNvPr id="17" name="Text 15"/>
          <p:cNvSpPr/>
          <p:nvPr/>
        </p:nvSpPr>
        <p:spPr>
          <a:xfrm>
            <a:off x="4782312" y="1636776"/>
            <a:ext cx="1865376" cy="402336"/>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Remittances to</a:t>
            </a:r>
            <a:endParaRPr lang="en-US" sz="950" dirty="0"/>
          </a:p>
          <a:p>
            <a:pPr marL="0" indent="0" algn="ctr">
              <a:buNone/>
            </a:pPr>
            <a:r>
              <a:rPr lang="en-US" sz="950" dirty="0">
                <a:solidFill>
                  <a:srgbClr val="8899A6"/>
                </a:solidFill>
                <a:latin typeface="Calibri" pitchFamily="34" charset="0"/>
                <a:ea typeface="Calibri" pitchFamily="34" charset="-122"/>
                <a:cs typeface="Calibri" pitchFamily="34" charset="-120"/>
              </a:rPr>
              <a:t>low-income countries 2024</a:t>
            </a:r>
            <a:endParaRPr lang="en-US" sz="950" dirty="0"/>
          </a:p>
        </p:txBody>
      </p:sp>
      <p:sp>
        <p:nvSpPr>
          <p:cNvPr id="18" name="Shape 16"/>
          <p:cNvSpPr/>
          <p:nvPr/>
        </p:nvSpPr>
        <p:spPr>
          <a:xfrm>
            <a:off x="6903720" y="1005840"/>
            <a:ext cx="2011680" cy="1115568"/>
          </a:xfrm>
          <a:prstGeom prst="rect">
            <a:avLst/>
          </a:prstGeom>
          <a:solidFill>
            <a:srgbClr val="0D1E38"/>
          </a:solidFill>
          <a:ln/>
          <a:effectLst>
            <a:outerShdw blurRad="127000" dist="50800" dir="8100000" algn="bl" rotWithShape="0">
              <a:srgbClr val="000000">
                <a:alpha val="22000"/>
              </a:srgbClr>
            </a:outerShdw>
          </a:effectLst>
        </p:spPr>
      </p:sp>
      <p:sp>
        <p:nvSpPr>
          <p:cNvPr id="19" name="Shape 17"/>
          <p:cNvSpPr/>
          <p:nvPr/>
        </p:nvSpPr>
        <p:spPr>
          <a:xfrm>
            <a:off x="6903720" y="1005840"/>
            <a:ext cx="2011680" cy="50292"/>
          </a:xfrm>
          <a:prstGeom prst="rect">
            <a:avLst/>
          </a:prstGeom>
          <a:solidFill>
            <a:srgbClr val="7C3AED"/>
          </a:solidFill>
          <a:ln/>
        </p:spPr>
      </p:sp>
      <p:sp>
        <p:nvSpPr>
          <p:cNvPr id="20" name="Text 18"/>
          <p:cNvSpPr/>
          <p:nvPr/>
        </p:nvSpPr>
        <p:spPr>
          <a:xfrm>
            <a:off x="6903720" y="1060704"/>
            <a:ext cx="2011680" cy="566928"/>
          </a:xfrm>
          <a:prstGeom prst="rect">
            <a:avLst/>
          </a:prstGeom>
          <a:noFill/>
          <a:ln/>
        </p:spPr>
        <p:txBody>
          <a:bodyPr wrap="square" lIns="0" tIns="0" rIns="0" bIns="0" rtlCol="0" anchor="ctr"/>
          <a:lstStyle/>
          <a:p>
            <a:pPr marL="0" indent="0" algn="ctr">
              <a:buNone/>
            </a:pPr>
            <a:r>
              <a:rPr lang="en-US" sz="2800" b="1" dirty="0">
                <a:solidFill>
                  <a:srgbClr val="7C3AED"/>
                </a:solidFill>
                <a:latin typeface="Calibri" pitchFamily="34" charset="0"/>
                <a:ea typeface="Calibri" pitchFamily="34" charset="-122"/>
                <a:cs typeface="Calibri" pitchFamily="34" charset="-120"/>
              </a:rPr>
              <a:t>$100B+</a:t>
            </a:r>
            <a:endParaRPr lang="en-US" sz="2800" dirty="0"/>
          </a:p>
        </p:txBody>
      </p:sp>
      <p:sp>
        <p:nvSpPr>
          <p:cNvPr id="21" name="Text 19"/>
          <p:cNvSpPr/>
          <p:nvPr/>
        </p:nvSpPr>
        <p:spPr>
          <a:xfrm>
            <a:off x="6976872" y="1636776"/>
            <a:ext cx="1865376" cy="402336"/>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Africa remittance</a:t>
            </a:r>
            <a:endParaRPr lang="en-US" sz="950" dirty="0"/>
          </a:p>
          <a:p>
            <a:pPr marL="0" indent="0" algn="ctr">
              <a:buNone/>
            </a:pPr>
            <a:r>
              <a:rPr lang="en-US" sz="950" dirty="0">
                <a:solidFill>
                  <a:srgbClr val="8899A6"/>
                </a:solidFill>
                <a:latin typeface="Calibri" pitchFamily="34" charset="0"/>
                <a:ea typeface="Calibri" pitchFamily="34" charset="-122"/>
                <a:cs typeface="Calibri" pitchFamily="34" charset="-120"/>
              </a:rPr>
              <a:t>inflows 2024 (World Bank)</a:t>
            </a:r>
            <a:endParaRPr lang="en-US" sz="950" dirty="0"/>
          </a:p>
        </p:txBody>
      </p:sp>
      <p:graphicFrame>
        <p:nvGraphicFramePr>
          <p:cNvPr id="22" name="Chart 0"/>
          <p:cNvGraphicFramePr/>
          <p:nvPr/>
        </p:nvGraphicFramePr>
        <p:xfrm>
          <a:off x="320040" y="2240280"/>
          <a:ext cx="5120640" cy="2606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1"/>
          <p:cNvGraphicFramePr/>
          <p:nvPr/>
        </p:nvGraphicFramePr>
        <p:xfrm>
          <a:off x="5577840" y="2240280"/>
          <a:ext cx="324612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24" name="Shape 20"/>
          <p:cNvSpPr/>
          <p:nvPr/>
        </p:nvSpPr>
        <p:spPr>
          <a:xfrm>
            <a:off x="320040" y="4928616"/>
            <a:ext cx="8503920" cy="109728"/>
          </a:xfrm>
          <a:prstGeom prst="rect">
            <a:avLst/>
          </a:prstGeom>
          <a:solidFill>
            <a:srgbClr val="0E2040"/>
          </a:solidFill>
          <a:ln/>
        </p:spPr>
      </p:sp>
      <p:sp>
        <p:nvSpPr>
          <p:cNvPr id="25" name="Text 21"/>
          <p:cNvSpPr/>
          <p:nvPr/>
        </p:nvSpPr>
        <p:spPr>
          <a:xfrm>
            <a:off x="411480" y="4736592"/>
            <a:ext cx="8321040" cy="274320"/>
          </a:xfrm>
          <a:prstGeom prst="rect">
            <a:avLst/>
          </a:prstGeom>
          <a:noFill/>
          <a:ln/>
        </p:spPr>
        <p:txBody>
          <a:bodyPr wrap="square" lIns="0" tIns="0" rIns="0" bIns="0" rtlCol="0" anchor="ctr"/>
          <a:lstStyle/>
          <a:p>
            <a:pPr marL="0" indent="0" algn="ctr">
              <a:buNone/>
            </a:pPr>
            <a:r>
              <a:rPr lang="en-US" sz="1000" dirty="0">
                <a:solidFill>
                  <a:srgbClr val="00D4AA"/>
                </a:solidFill>
                <a:latin typeface="Calibri" pitchFamily="34" charset="0"/>
                <a:ea typeface="Calibri" pitchFamily="34" charset="-122"/>
                <a:cs typeface="Calibri" pitchFamily="34" charset="-120"/>
              </a:rPr>
              <a:t>Key Drivers: Global e-commerce growth • Diaspora expansion • Gig economy • Crypto adoption • Financial inclusion mandates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Competitive Landscape</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HashPay is the only solution that combines all five critical capabilities</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05840"/>
            <a:ext cx="2706624" cy="502920"/>
          </a:xfrm>
          <a:prstGeom prst="rect">
            <a:avLst/>
          </a:prstGeom>
          <a:solidFill>
            <a:srgbClr val="0E2040"/>
          </a:solidFill>
          <a:ln/>
        </p:spPr>
      </p:sp>
      <p:sp>
        <p:nvSpPr>
          <p:cNvPr id="7" name="Text 5"/>
          <p:cNvSpPr/>
          <p:nvPr/>
        </p:nvSpPr>
        <p:spPr>
          <a:xfrm>
            <a:off x="320040" y="1024128"/>
            <a:ext cx="2706624" cy="466344"/>
          </a:xfrm>
          <a:prstGeom prst="rect">
            <a:avLst/>
          </a:prstGeom>
          <a:noFill/>
          <a:ln/>
        </p:spPr>
        <p:txBody>
          <a:bodyPr wrap="square" lIns="0" tIns="0" rIns="0" bIns="0" rtlCol="0" anchor="ctr"/>
          <a:lstStyle/>
          <a:p>
            <a:pPr marL="0" indent="0" algn="ctr">
              <a:buNone/>
            </a:pPr>
            <a:r>
              <a:rPr lang="en-US" sz="1000" b="1" dirty="0">
                <a:solidFill>
                  <a:srgbClr val="8899A6"/>
                </a:solidFill>
                <a:latin typeface="Calibri" pitchFamily="34" charset="0"/>
                <a:ea typeface="Calibri" pitchFamily="34" charset="-122"/>
                <a:cs typeface="Calibri" pitchFamily="34" charset="-120"/>
              </a:rPr>
              <a:t>Capability</a:t>
            </a:r>
            <a:endParaRPr lang="en-US" sz="1000" dirty="0"/>
          </a:p>
        </p:txBody>
      </p:sp>
      <p:sp>
        <p:nvSpPr>
          <p:cNvPr id="8" name="Shape 6"/>
          <p:cNvSpPr/>
          <p:nvPr/>
        </p:nvSpPr>
        <p:spPr>
          <a:xfrm>
            <a:off x="3127248" y="1005840"/>
            <a:ext cx="1197864" cy="502920"/>
          </a:xfrm>
          <a:prstGeom prst="rect">
            <a:avLst/>
          </a:prstGeom>
          <a:solidFill>
            <a:srgbClr val="00D4AA"/>
          </a:solidFill>
          <a:ln/>
        </p:spPr>
      </p:sp>
      <p:sp>
        <p:nvSpPr>
          <p:cNvPr id="9" name="Text 7"/>
          <p:cNvSpPr/>
          <p:nvPr/>
        </p:nvSpPr>
        <p:spPr>
          <a:xfrm>
            <a:off x="3127248" y="1024128"/>
            <a:ext cx="1197864" cy="466344"/>
          </a:xfrm>
          <a:prstGeom prst="rect">
            <a:avLst/>
          </a:prstGeom>
          <a:noFill/>
          <a:ln/>
        </p:spPr>
        <p:txBody>
          <a:bodyPr wrap="square" lIns="0" tIns="0" rIns="0" bIns="0" rtlCol="0" anchor="ctr"/>
          <a:lstStyle/>
          <a:p>
            <a:pPr marL="0" indent="0" algn="ctr">
              <a:buNone/>
            </a:pPr>
            <a:r>
              <a:rPr lang="en-US" sz="1000" b="1" dirty="0">
                <a:solidFill>
                  <a:srgbClr val="060E1F"/>
                </a:solidFill>
                <a:latin typeface="Calibri" pitchFamily="34" charset="0"/>
                <a:ea typeface="Calibri" pitchFamily="34" charset="-122"/>
                <a:cs typeface="Calibri" pitchFamily="34" charset="-120"/>
              </a:rPr>
              <a:t>HashPay</a:t>
            </a:r>
            <a:endParaRPr lang="en-US" sz="1000" dirty="0"/>
          </a:p>
          <a:p>
            <a:pPr marL="0" indent="0" algn="ctr">
              <a:buNone/>
            </a:pPr>
            <a:r>
              <a:rPr lang="en-US" sz="1000" b="1" dirty="0">
                <a:solidFill>
                  <a:srgbClr val="060E1F"/>
                </a:solidFill>
                <a:latin typeface="Calibri" pitchFamily="34" charset="0"/>
                <a:ea typeface="Calibri" pitchFamily="34" charset="-122"/>
                <a:cs typeface="Calibri" pitchFamily="34" charset="-120"/>
              </a:rPr>
              <a:t>Global</a:t>
            </a:r>
            <a:endParaRPr lang="en-US" sz="1000" dirty="0"/>
          </a:p>
        </p:txBody>
      </p:sp>
      <p:sp>
        <p:nvSpPr>
          <p:cNvPr id="10" name="Shape 8"/>
          <p:cNvSpPr/>
          <p:nvPr/>
        </p:nvSpPr>
        <p:spPr>
          <a:xfrm>
            <a:off x="4379976" y="1005840"/>
            <a:ext cx="969264" cy="502920"/>
          </a:xfrm>
          <a:prstGeom prst="rect">
            <a:avLst/>
          </a:prstGeom>
          <a:solidFill>
            <a:srgbClr val="0E2040"/>
          </a:solidFill>
          <a:ln/>
        </p:spPr>
      </p:sp>
      <p:sp>
        <p:nvSpPr>
          <p:cNvPr id="11" name="Text 9"/>
          <p:cNvSpPr/>
          <p:nvPr/>
        </p:nvSpPr>
        <p:spPr>
          <a:xfrm>
            <a:off x="4379976" y="1024128"/>
            <a:ext cx="969264" cy="466344"/>
          </a:xfrm>
          <a:prstGeom prst="rect">
            <a:avLst/>
          </a:prstGeom>
          <a:noFill/>
          <a:ln/>
        </p:spPr>
        <p:txBody>
          <a:bodyPr wrap="square" lIns="0" tIns="0" rIns="0" bIns="0" rtlCol="0" anchor="ctr"/>
          <a:lstStyle/>
          <a:p>
            <a:pPr marL="0" indent="0" algn="ctr">
              <a:buNone/>
            </a:pPr>
            <a:r>
              <a:rPr lang="en-US" sz="1000" b="1" dirty="0">
                <a:solidFill>
                  <a:srgbClr val="8899A6"/>
                </a:solidFill>
                <a:latin typeface="Calibri" pitchFamily="34" charset="0"/>
                <a:ea typeface="Calibri" pitchFamily="34" charset="-122"/>
                <a:cs typeface="Calibri" pitchFamily="34" charset="-120"/>
              </a:rPr>
              <a:t>SWIFT</a:t>
            </a:r>
            <a:endParaRPr lang="en-US" sz="1000" dirty="0"/>
          </a:p>
        </p:txBody>
      </p:sp>
      <p:sp>
        <p:nvSpPr>
          <p:cNvPr id="12" name="Shape 10"/>
          <p:cNvSpPr/>
          <p:nvPr/>
        </p:nvSpPr>
        <p:spPr>
          <a:xfrm>
            <a:off x="5404104" y="1005840"/>
            <a:ext cx="969264" cy="502920"/>
          </a:xfrm>
          <a:prstGeom prst="rect">
            <a:avLst/>
          </a:prstGeom>
          <a:solidFill>
            <a:srgbClr val="0E2040"/>
          </a:solidFill>
          <a:ln/>
        </p:spPr>
      </p:sp>
      <p:sp>
        <p:nvSpPr>
          <p:cNvPr id="13" name="Text 11"/>
          <p:cNvSpPr/>
          <p:nvPr/>
        </p:nvSpPr>
        <p:spPr>
          <a:xfrm>
            <a:off x="5404104" y="1024128"/>
            <a:ext cx="969264" cy="466344"/>
          </a:xfrm>
          <a:prstGeom prst="rect">
            <a:avLst/>
          </a:prstGeom>
          <a:noFill/>
          <a:ln/>
        </p:spPr>
        <p:txBody>
          <a:bodyPr wrap="square" lIns="0" tIns="0" rIns="0" bIns="0" rtlCol="0" anchor="ctr"/>
          <a:lstStyle/>
          <a:p>
            <a:pPr marL="0" indent="0" algn="ctr">
              <a:buNone/>
            </a:pPr>
            <a:r>
              <a:rPr lang="en-US" sz="1000" b="1" dirty="0">
                <a:solidFill>
                  <a:srgbClr val="8899A6"/>
                </a:solidFill>
                <a:latin typeface="Calibri" pitchFamily="34" charset="0"/>
                <a:ea typeface="Calibri" pitchFamily="34" charset="-122"/>
                <a:cs typeface="Calibri" pitchFamily="34" charset="-120"/>
              </a:rPr>
              <a:t>Wise</a:t>
            </a:r>
            <a:endParaRPr lang="en-US" sz="1000" dirty="0"/>
          </a:p>
        </p:txBody>
      </p:sp>
      <p:sp>
        <p:nvSpPr>
          <p:cNvPr id="14" name="Shape 12"/>
          <p:cNvSpPr/>
          <p:nvPr/>
        </p:nvSpPr>
        <p:spPr>
          <a:xfrm>
            <a:off x="6428232" y="1005840"/>
            <a:ext cx="969264" cy="502920"/>
          </a:xfrm>
          <a:prstGeom prst="rect">
            <a:avLst/>
          </a:prstGeom>
          <a:solidFill>
            <a:srgbClr val="0E2040"/>
          </a:solidFill>
          <a:ln/>
        </p:spPr>
      </p:sp>
      <p:sp>
        <p:nvSpPr>
          <p:cNvPr id="15" name="Text 13"/>
          <p:cNvSpPr/>
          <p:nvPr/>
        </p:nvSpPr>
        <p:spPr>
          <a:xfrm>
            <a:off x="6428232" y="1024128"/>
            <a:ext cx="969264" cy="466344"/>
          </a:xfrm>
          <a:prstGeom prst="rect">
            <a:avLst/>
          </a:prstGeom>
          <a:noFill/>
          <a:ln/>
        </p:spPr>
        <p:txBody>
          <a:bodyPr wrap="square" lIns="0" tIns="0" rIns="0" bIns="0" rtlCol="0" anchor="ctr"/>
          <a:lstStyle/>
          <a:p>
            <a:pPr marL="0" indent="0" algn="ctr">
              <a:buNone/>
            </a:pPr>
            <a:r>
              <a:rPr lang="en-US" sz="1000" b="1" dirty="0">
                <a:solidFill>
                  <a:srgbClr val="8899A6"/>
                </a:solidFill>
                <a:latin typeface="Calibri" pitchFamily="34" charset="0"/>
                <a:ea typeface="Calibri" pitchFamily="34" charset="-122"/>
                <a:cs typeface="Calibri" pitchFamily="34" charset="-120"/>
              </a:rPr>
              <a:t>PayPal</a:t>
            </a:r>
            <a:endParaRPr lang="en-US" sz="1000" dirty="0"/>
          </a:p>
        </p:txBody>
      </p:sp>
      <p:sp>
        <p:nvSpPr>
          <p:cNvPr id="16" name="Shape 14"/>
          <p:cNvSpPr/>
          <p:nvPr/>
        </p:nvSpPr>
        <p:spPr>
          <a:xfrm>
            <a:off x="7452360" y="1005840"/>
            <a:ext cx="969264" cy="502920"/>
          </a:xfrm>
          <a:prstGeom prst="rect">
            <a:avLst/>
          </a:prstGeom>
          <a:solidFill>
            <a:srgbClr val="0E2040"/>
          </a:solidFill>
          <a:ln/>
        </p:spPr>
      </p:sp>
      <p:sp>
        <p:nvSpPr>
          <p:cNvPr id="17" name="Text 15"/>
          <p:cNvSpPr/>
          <p:nvPr/>
        </p:nvSpPr>
        <p:spPr>
          <a:xfrm>
            <a:off x="7452360" y="1024128"/>
            <a:ext cx="969264" cy="466344"/>
          </a:xfrm>
          <a:prstGeom prst="rect">
            <a:avLst/>
          </a:prstGeom>
          <a:noFill/>
          <a:ln/>
        </p:spPr>
        <p:txBody>
          <a:bodyPr wrap="square" lIns="0" tIns="0" rIns="0" bIns="0" rtlCol="0" anchor="ctr"/>
          <a:lstStyle/>
          <a:p>
            <a:pPr marL="0" indent="0" algn="ctr">
              <a:buNone/>
            </a:pPr>
            <a:r>
              <a:rPr lang="en-US" sz="1000" b="1" dirty="0">
                <a:solidFill>
                  <a:srgbClr val="8899A6"/>
                </a:solidFill>
                <a:latin typeface="Calibri" pitchFamily="34" charset="0"/>
                <a:ea typeface="Calibri" pitchFamily="34" charset="-122"/>
                <a:cs typeface="Calibri" pitchFamily="34" charset="-120"/>
              </a:rPr>
              <a:t>Ripple</a:t>
            </a:r>
            <a:endParaRPr lang="en-US" sz="1000" dirty="0"/>
          </a:p>
          <a:p>
            <a:pPr marL="0" indent="0" algn="ctr">
              <a:buNone/>
            </a:pPr>
            <a:r>
              <a:rPr lang="en-US" sz="1000" b="1" dirty="0">
                <a:solidFill>
                  <a:srgbClr val="8899A6"/>
                </a:solidFill>
                <a:latin typeface="Calibri" pitchFamily="34" charset="0"/>
                <a:ea typeface="Calibri" pitchFamily="34" charset="-122"/>
                <a:cs typeface="Calibri" pitchFamily="34" charset="-120"/>
              </a:rPr>
              <a:t>(XRP)</a:t>
            </a:r>
            <a:endParaRPr lang="en-US" sz="1000" dirty="0"/>
          </a:p>
        </p:txBody>
      </p:sp>
      <p:sp>
        <p:nvSpPr>
          <p:cNvPr id="18" name="Shape 16"/>
          <p:cNvSpPr/>
          <p:nvPr/>
        </p:nvSpPr>
        <p:spPr>
          <a:xfrm>
            <a:off x="8476488" y="1005840"/>
            <a:ext cx="969264" cy="502920"/>
          </a:xfrm>
          <a:prstGeom prst="rect">
            <a:avLst/>
          </a:prstGeom>
          <a:solidFill>
            <a:srgbClr val="0E2040"/>
          </a:solidFill>
          <a:ln/>
        </p:spPr>
      </p:sp>
      <p:sp>
        <p:nvSpPr>
          <p:cNvPr id="19" name="Text 17"/>
          <p:cNvSpPr/>
          <p:nvPr/>
        </p:nvSpPr>
        <p:spPr>
          <a:xfrm>
            <a:off x="8476488" y="1024128"/>
            <a:ext cx="969264" cy="466344"/>
          </a:xfrm>
          <a:prstGeom prst="rect">
            <a:avLst/>
          </a:prstGeom>
          <a:noFill/>
          <a:ln/>
        </p:spPr>
        <p:txBody>
          <a:bodyPr wrap="square" lIns="0" tIns="0" rIns="0" bIns="0" rtlCol="0" anchor="ctr"/>
          <a:lstStyle/>
          <a:p>
            <a:pPr marL="0" indent="0" algn="ctr">
              <a:buNone/>
            </a:pPr>
            <a:r>
              <a:rPr lang="en-US" sz="1000" b="1" dirty="0">
                <a:solidFill>
                  <a:srgbClr val="8899A6"/>
                </a:solidFill>
                <a:latin typeface="Calibri" pitchFamily="34" charset="0"/>
                <a:ea typeface="Calibri" pitchFamily="34" charset="-122"/>
                <a:cs typeface="Calibri" pitchFamily="34" charset="-120"/>
              </a:rPr>
              <a:t>Western</a:t>
            </a:r>
            <a:endParaRPr lang="en-US" sz="1000" dirty="0"/>
          </a:p>
          <a:p>
            <a:pPr marL="0" indent="0" algn="ctr">
              <a:buNone/>
            </a:pPr>
            <a:r>
              <a:rPr lang="en-US" sz="1000" b="1" dirty="0">
                <a:solidFill>
                  <a:srgbClr val="8899A6"/>
                </a:solidFill>
                <a:latin typeface="Calibri" pitchFamily="34" charset="0"/>
                <a:ea typeface="Calibri" pitchFamily="34" charset="-122"/>
                <a:cs typeface="Calibri" pitchFamily="34" charset="-120"/>
              </a:rPr>
              <a:t>Union</a:t>
            </a:r>
            <a:endParaRPr lang="en-US" sz="1000" dirty="0"/>
          </a:p>
        </p:txBody>
      </p:sp>
      <p:sp>
        <p:nvSpPr>
          <p:cNvPr id="20" name="Shape 18"/>
          <p:cNvSpPr/>
          <p:nvPr/>
        </p:nvSpPr>
        <p:spPr>
          <a:xfrm>
            <a:off x="320040" y="1554480"/>
            <a:ext cx="2706624" cy="402336"/>
          </a:xfrm>
          <a:prstGeom prst="rect">
            <a:avLst/>
          </a:prstGeom>
          <a:solidFill>
            <a:srgbClr val="0D1E38"/>
          </a:solidFill>
          <a:ln/>
        </p:spPr>
      </p:sp>
      <p:sp>
        <p:nvSpPr>
          <p:cNvPr id="21" name="Text 19"/>
          <p:cNvSpPr/>
          <p:nvPr/>
        </p:nvSpPr>
        <p:spPr>
          <a:xfrm>
            <a:off x="320040" y="1563624"/>
            <a:ext cx="2706624" cy="347472"/>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Local-to-Local FX (no USD)</a:t>
            </a:r>
            <a:endParaRPr lang="en-US" sz="950" dirty="0"/>
          </a:p>
        </p:txBody>
      </p:sp>
      <p:sp>
        <p:nvSpPr>
          <p:cNvPr id="22" name="Shape 20"/>
          <p:cNvSpPr/>
          <p:nvPr/>
        </p:nvSpPr>
        <p:spPr>
          <a:xfrm>
            <a:off x="3127248" y="1554480"/>
            <a:ext cx="1197864" cy="402336"/>
          </a:xfrm>
          <a:prstGeom prst="rect">
            <a:avLst/>
          </a:prstGeom>
          <a:solidFill>
            <a:srgbClr val="0A2A1A"/>
          </a:solidFill>
          <a:ln/>
        </p:spPr>
      </p:sp>
      <p:sp>
        <p:nvSpPr>
          <p:cNvPr id="23" name="Text 21"/>
          <p:cNvSpPr/>
          <p:nvPr/>
        </p:nvSpPr>
        <p:spPr>
          <a:xfrm>
            <a:off x="3127248" y="1563624"/>
            <a:ext cx="1197864" cy="347472"/>
          </a:xfrm>
          <a:prstGeom prst="rect">
            <a:avLst/>
          </a:prstGeom>
          <a:noFill/>
          <a:ln/>
        </p:spPr>
        <p:txBody>
          <a:bodyPr wrap="square" lIns="0" tIns="0" rIns="0" bIns="0" rtlCol="0" anchor="ctr"/>
          <a:lstStyle/>
          <a:p>
            <a:pPr marL="0" indent="0" algn="ctr">
              <a:buNone/>
            </a:pPr>
            <a:r>
              <a:rPr lang="en-US" sz="1100" b="1" dirty="0">
                <a:solidFill>
                  <a:srgbClr val="00D4AA"/>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4379976" y="1554480"/>
            <a:ext cx="969264" cy="402336"/>
          </a:xfrm>
          <a:prstGeom prst="rect">
            <a:avLst/>
          </a:prstGeom>
          <a:solidFill>
            <a:srgbClr val="0D1E38"/>
          </a:solidFill>
          <a:ln/>
        </p:spPr>
      </p:sp>
      <p:sp>
        <p:nvSpPr>
          <p:cNvPr id="25" name="Text 23"/>
          <p:cNvSpPr/>
          <p:nvPr/>
        </p:nvSpPr>
        <p:spPr>
          <a:xfrm>
            <a:off x="4379976" y="1563624"/>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5404104" y="1554480"/>
            <a:ext cx="969264" cy="402336"/>
          </a:xfrm>
          <a:prstGeom prst="rect">
            <a:avLst/>
          </a:prstGeom>
          <a:solidFill>
            <a:srgbClr val="0D1E38"/>
          </a:solidFill>
          <a:ln/>
        </p:spPr>
      </p:sp>
      <p:sp>
        <p:nvSpPr>
          <p:cNvPr id="27" name="Text 25"/>
          <p:cNvSpPr/>
          <p:nvPr/>
        </p:nvSpPr>
        <p:spPr>
          <a:xfrm>
            <a:off x="5404104" y="1563624"/>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28" name="Shape 26"/>
          <p:cNvSpPr/>
          <p:nvPr/>
        </p:nvSpPr>
        <p:spPr>
          <a:xfrm>
            <a:off x="6428232" y="1554480"/>
            <a:ext cx="969264" cy="402336"/>
          </a:xfrm>
          <a:prstGeom prst="rect">
            <a:avLst/>
          </a:prstGeom>
          <a:solidFill>
            <a:srgbClr val="0D1E38"/>
          </a:solidFill>
          <a:ln/>
        </p:spPr>
      </p:sp>
      <p:sp>
        <p:nvSpPr>
          <p:cNvPr id="29" name="Text 27"/>
          <p:cNvSpPr/>
          <p:nvPr/>
        </p:nvSpPr>
        <p:spPr>
          <a:xfrm>
            <a:off x="6428232" y="1563624"/>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30" name="Shape 28"/>
          <p:cNvSpPr/>
          <p:nvPr/>
        </p:nvSpPr>
        <p:spPr>
          <a:xfrm>
            <a:off x="7452360" y="1554480"/>
            <a:ext cx="969264" cy="402336"/>
          </a:xfrm>
          <a:prstGeom prst="rect">
            <a:avLst/>
          </a:prstGeom>
          <a:solidFill>
            <a:srgbClr val="0D1E38"/>
          </a:solidFill>
          <a:ln/>
        </p:spPr>
      </p:sp>
      <p:sp>
        <p:nvSpPr>
          <p:cNvPr id="31" name="Text 29"/>
          <p:cNvSpPr/>
          <p:nvPr/>
        </p:nvSpPr>
        <p:spPr>
          <a:xfrm>
            <a:off x="7452360" y="1563624"/>
            <a:ext cx="969264" cy="347472"/>
          </a:xfrm>
          <a:prstGeom prst="rect">
            <a:avLst/>
          </a:prstGeom>
          <a:noFill/>
          <a:ln/>
        </p:spPr>
        <p:txBody>
          <a:bodyPr wrap="square" lIns="0" tIns="0" rIns="0" bIns="0" rtlCol="0" anchor="ctr"/>
          <a:lstStyle/>
          <a:p>
            <a:pPr marL="0" indent="0" algn="ctr">
              <a:buNone/>
            </a:pPr>
            <a:r>
              <a:rPr lang="en-US" sz="1100" b="1" dirty="0">
                <a:solidFill>
                  <a:srgbClr val="8899A6"/>
                </a:solidFill>
                <a:latin typeface="Calibri" pitchFamily="34" charset="0"/>
                <a:ea typeface="Calibri" pitchFamily="34" charset="-122"/>
                <a:cs typeface="Calibri" pitchFamily="34" charset="-120"/>
              </a:rPr>
              <a:t>Partial</a:t>
            </a:r>
            <a:endParaRPr lang="en-US" sz="1100" dirty="0"/>
          </a:p>
        </p:txBody>
      </p:sp>
      <p:sp>
        <p:nvSpPr>
          <p:cNvPr id="32" name="Shape 30"/>
          <p:cNvSpPr/>
          <p:nvPr/>
        </p:nvSpPr>
        <p:spPr>
          <a:xfrm>
            <a:off x="8476488" y="1554480"/>
            <a:ext cx="969264" cy="402336"/>
          </a:xfrm>
          <a:prstGeom prst="rect">
            <a:avLst/>
          </a:prstGeom>
          <a:solidFill>
            <a:srgbClr val="0D1E38"/>
          </a:solidFill>
          <a:ln/>
        </p:spPr>
      </p:sp>
      <p:sp>
        <p:nvSpPr>
          <p:cNvPr id="33" name="Text 31"/>
          <p:cNvSpPr/>
          <p:nvPr/>
        </p:nvSpPr>
        <p:spPr>
          <a:xfrm>
            <a:off x="8476488" y="1563624"/>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34" name="Shape 32"/>
          <p:cNvSpPr/>
          <p:nvPr/>
        </p:nvSpPr>
        <p:spPr>
          <a:xfrm>
            <a:off x="320040" y="1956816"/>
            <a:ext cx="2706624" cy="402336"/>
          </a:xfrm>
          <a:prstGeom prst="rect">
            <a:avLst/>
          </a:prstGeom>
          <a:solidFill>
            <a:srgbClr val="0E2040"/>
          </a:solidFill>
          <a:ln/>
        </p:spPr>
      </p:sp>
      <p:sp>
        <p:nvSpPr>
          <p:cNvPr id="35" name="Text 33"/>
          <p:cNvSpPr/>
          <p:nvPr/>
        </p:nvSpPr>
        <p:spPr>
          <a:xfrm>
            <a:off x="320040" y="1965960"/>
            <a:ext cx="2706624" cy="347472"/>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Instant Settlement (&lt;30s)</a:t>
            </a:r>
            <a:endParaRPr lang="en-US" sz="950" dirty="0"/>
          </a:p>
        </p:txBody>
      </p:sp>
      <p:sp>
        <p:nvSpPr>
          <p:cNvPr id="36" name="Shape 34"/>
          <p:cNvSpPr/>
          <p:nvPr/>
        </p:nvSpPr>
        <p:spPr>
          <a:xfrm>
            <a:off x="3127248" y="1956816"/>
            <a:ext cx="1197864" cy="402336"/>
          </a:xfrm>
          <a:prstGeom prst="rect">
            <a:avLst/>
          </a:prstGeom>
          <a:solidFill>
            <a:srgbClr val="0A2A1A"/>
          </a:solidFill>
          <a:ln/>
        </p:spPr>
      </p:sp>
      <p:sp>
        <p:nvSpPr>
          <p:cNvPr id="37" name="Text 35"/>
          <p:cNvSpPr/>
          <p:nvPr/>
        </p:nvSpPr>
        <p:spPr>
          <a:xfrm>
            <a:off x="3127248" y="1965960"/>
            <a:ext cx="1197864" cy="347472"/>
          </a:xfrm>
          <a:prstGeom prst="rect">
            <a:avLst/>
          </a:prstGeom>
          <a:noFill/>
          <a:ln/>
        </p:spPr>
        <p:txBody>
          <a:bodyPr wrap="square" lIns="0" tIns="0" rIns="0" bIns="0" rtlCol="0" anchor="ctr"/>
          <a:lstStyle/>
          <a:p>
            <a:pPr marL="0" indent="0" algn="ctr">
              <a:buNone/>
            </a:pPr>
            <a:r>
              <a:rPr lang="en-US" sz="1100" b="1" dirty="0">
                <a:solidFill>
                  <a:srgbClr val="00D4AA"/>
                </a:solidFill>
                <a:latin typeface="Calibri" pitchFamily="34" charset="0"/>
                <a:ea typeface="Calibri" pitchFamily="34" charset="-122"/>
                <a:cs typeface="Calibri" pitchFamily="34" charset="-120"/>
              </a:rPr>
              <a:t>✅</a:t>
            </a:r>
            <a:endParaRPr lang="en-US" sz="1100" dirty="0"/>
          </a:p>
        </p:txBody>
      </p:sp>
      <p:sp>
        <p:nvSpPr>
          <p:cNvPr id="38" name="Shape 36"/>
          <p:cNvSpPr/>
          <p:nvPr/>
        </p:nvSpPr>
        <p:spPr>
          <a:xfrm>
            <a:off x="4379976" y="1956816"/>
            <a:ext cx="969264" cy="402336"/>
          </a:xfrm>
          <a:prstGeom prst="rect">
            <a:avLst/>
          </a:prstGeom>
          <a:solidFill>
            <a:srgbClr val="0E2040"/>
          </a:solidFill>
          <a:ln/>
        </p:spPr>
      </p:sp>
      <p:sp>
        <p:nvSpPr>
          <p:cNvPr id="39" name="Text 37"/>
          <p:cNvSpPr/>
          <p:nvPr/>
        </p:nvSpPr>
        <p:spPr>
          <a:xfrm>
            <a:off x="4379976" y="1965960"/>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40" name="Shape 38"/>
          <p:cNvSpPr/>
          <p:nvPr/>
        </p:nvSpPr>
        <p:spPr>
          <a:xfrm>
            <a:off x="5404104" y="1956816"/>
            <a:ext cx="969264" cy="402336"/>
          </a:xfrm>
          <a:prstGeom prst="rect">
            <a:avLst/>
          </a:prstGeom>
          <a:solidFill>
            <a:srgbClr val="0E2040"/>
          </a:solidFill>
          <a:ln/>
        </p:spPr>
      </p:sp>
      <p:sp>
        <p:nvSpPr>
          <p:cNvPr id="41" name="Text 39"/>
          <p:cNvSpPr/>
          <p:nvPr/>
        </p:nvSpPr>
        <p:spPr>
          <a:xfrm>
            <a:off x="5404104" y="1965960"/>
            <a:ext cx="969264" cy="347472"/>
          </a:xfrm>
          <a:prstGeom prst="rect">
            <a:avLst/>
          </a:prstGeom>
          <a:noFill/>
          <a:ln/>
        </p:spPr>
        <p:txBody>
          <a:bodyPr wrap="square" lIns="0" tIns="0" rIns="0" bIns="0" rtlCol="0" anchor="ctr"/>
          <a:lstStyle/>
          <a:p>
            <a:pPr marL="0" indent="0" algn="ctr">
              <a:buNone/>
            </a:pPr>
            <a:r>
              <a:rPr lang="en-US" sz="1100" b="1" dirty="0">
                <a:solidFill>
                  <a:srgbClr val="8899A6"/>
                </a:solidFill>
                <a:latin typeface="Calibri" pitchFamily="34" charset="0"/>
                <a:ea typeface="Calibri" pitchFamily="34" charset="-122"/>
                <a:cs typeface="Calibri" pitchFamily="34" charset="-120"/>
              </a:rPr>
              <a:t>Partial</a:t>
            </a:r>
            <a:endParaRPr lang="en-US" sz="1100" dirty="0"/>
          </a:p>
        </p:txBody>
      </p:sp>
      <p:sp>
        <p:nvSpPr>
          <p:cNvPr id="42" name="Shape 40"/>
          <p:cNvSpPr/>
          <p:nvPr/>
        </p:nvSpPr>
        <p:spPr>
          <a:xfrm>
            <a:off x="6428232" y="1956816"/>
            <a:ext cx="969264" cy="402336"/>
          </a:xfrm>
          <a:prstGeom prst="rect">
            <a:avLst/>
          </a:prstGeom>
          <a:solidFill>
            <a:srgbClr val="0E2040"/>
          </a:solidFill>
          <a:ln/>
        </p:spPr>
      </p:sp>
      <p:sp>
        <p:nvSpPr>
          <p:cNvPr id="43" name="Text 41"/>
          <p:cNvSpPr/>
          <p:nvPr/>
        </p:nvSpPr>
        <p:spPr>
          <a:xfrm>
            <a:off x="6428232" y="1965960"/>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44" name="Shape 42"/>
          <p:cNvSpPr/>
          <p:nvPr/>
        </p:nvSpPr>
        <p:spPr>
          <a:xfrm>
            <a:off x="7452360" y="1956816"/>
            <a:ext cx="969264" cy="402336"/>
          </a:xfrm>
          <a:prstGeom prst="rect">
            <a:avLst/>
          </a:prstGeom>
          <a:solidFill>
            <a:srgbClr val="0E2040"/>
          </a:solidFill>
          <a:ln/>
        </p:spPr>
      </p:sp>
      <p:sp>
        <p:nvSpPr>
          <p:cNvPr id="45" name="Text 43"/>
          <p:cNvSpPr/>
          <p:nvPr/>
        </p:nvSpPr>
        <p:spPr>
          <a:xfrm>
            <a:off x="7452360" y="1965960"/>
            <a:ext cx="969264"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p>
        </p:txBody>
      </p:sp>
      <p:sp>
        <p:nvSpPr>
          <p:cNvPr id="46" name="Shape 44"/>
          <p:cNvSpPr/>
          <p:nvPr/>
        </p:nvSpPr>
        <p:spPr>
          <a:xfrm>
            <a:off x="8476488" y="1956816"/>
            <a:ext cx="969264" cy="402336"/>
          </a:xfrm>
          <a:prstGeom prst="rect">
            <a:avLst/>
          </a:prstGeom>
          <a:solidFill>
            <a:srgbClr val="0E2040"/>
          </a:solidFill>
          <a:ln/>
        </p:spPr>
      </p:sp>
      <p:sp>
        <p:nvSpPr>
          <p:cNvPr id="47" name="Text 45"/>
          <p:cNvSpPr/>
          <p:nvPr/>
        </p:nvSpPr>
        <p:spPr>
          <a:xfrm>
            <a:off x="8476488" y="1965960"/>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48" name="Shape 46"/>
          <p:cNvSpPr/>
          <p:nvPr/>
        </p:nvSpPr>
        <p:spPr>
          <a:xfrm>
            <a:off x="320040" y="2359152"/>
            <a:ext cx="2706624" cy="402336"/>
          </a:xfrm>
          <a:prstGeom prst="rect">
            <a:avLst/>
          </a:prstGeom>
          <a:solidFill>
            <a:srgbClr val="0D1E38"/>
          </a:solidFill>
          <a:ln/>
        </p:spPr>
      </p:sp>
      <p:sp>
        <p:nvSpPr>
          <p:cNvPr id="49" name="Text 47"/>
          <p:cNvSpPr/>
          <p:nvPr/>
        </p:nvSpPr>
        <p:spPr>
          <a:xfrm>
            <a:off x="320040" y="2368296"/>
            <a:ext cx="2706624" cy="347472"/>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Blockchain Settlement</a:t>
            </a:r>
            <a:endParaRPr lang="en-US" sz="950" dirty="0"/>
          </a:p>
        </p:txBody>
      </p:sp>
      <p:sp>
        <p:nvSpPr>
          <p:cNvPr id="50" name="Shape 48"/>
          <p:cNvSpPr/>
          <p:nvPr/>
        </p:nvSpPr>
        <p:spPr>
          <a:xfrm>
            <a:off x="3127248" y="2359152"/>
            <a:ext cx="1197864" cy="402336"/>
          </a:xfrm>
          <a:prstGeom prst="rect">
            <a:avLst/>
          </a:prstGeom>
          <a:solidFill>
            <a:srgbClr val="0A2A1A"/>
          </a:solidFill>
          <a:ln/>
        </p:spPr>
      </p:sp>
      <p:sp>
        <p:nvSpPr>
          <p:cNvPr id="51" name="Text 49"/>
          <p:cNvSpPr/>
          <p:nvPr/>
        </p:nvSpPr>
        <p:spPr>
          <a:xfrm>
            <a:off x="3127248" y="2368296"/>
            <a:ext cx="1197864" cy="347472"/>
          </a:xfrm>
          <a:prstGeom prst="rect">
            <a:avLst/>
          </a:prstGeom>
          <a:noFill/>
          <a:ln/>
        </p:spPr>
        <p:txBody>
          <a:bodyPr wrap="square" lIns="0" tIns="0" rIns="0" bIns="0" rtlCol="0" anchor="ctr"/>
          <a:lstStyle/>
          <a:p>
            <a:pPr marL="0" indent="0" algn="ctr">
              <a:buNone/>
            </a:pPr>
            <a:r>
              <a:rPr lang="en-US" sz="1100" b="1" dirty="0">
                <a:solidFill>
                  <a:srgbClr val="00D4AA"/>
                </a:solidFill>
                <a:latin typeface="Calibri" pitchFamily="34" charset="0"/>
                <a:ea typeface="Calibri" pitchFamily="34" charset="-122"/>
                <a:cs typeface="Calibri" pitchFamily="34" charset="-120"/>
              </a:rPr>
              <a:t>✅</a:t>
            </a:r>
            <a:endParaRPr lang="en-US" sz="1100" dirty="0"/>
          </a:p>
        </p:txBody>
      </p:sp>
      <p:sp>
        <p:nvSpPr>
          <p:cNvPr id="52" name="Shape 50"/>
          <p:cNvSpPr/>
          <p:nvPr/>
        </p:nvSpPr>
        <p:spPr>
          <a:xfrm>
            <a:off x="4379976" y="2359152"/>
            <a:ext cx="969264" cy="402336"/>
          </a:xfrm>
          <a:prstGeom prst="rect">
            <a:avLst/>
          </a:prstGeom>
          <a:solidFill>
            <a:srgbClr val="0D1E38"/>
          </a:solidFill>
          <a:ln/>
        </p:spPr>
      </p:sp>
      <p:sp>
        <p:nvSpPr>
          <p:cNvPr id="53" name="Text 51"/>
          <p:cNvSpPr/>
          <p:nvPr/>
        </p:nvSpPr>
        <p:spPr>
          <a:xfrm>
            <a:off x="4379976" y="2368296"/>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54" name="Shape 52"/>
          <p:cNvSpPr/>
          <p:nvPr/>
        </p:nvSpPr>
        <p:spPr>
          <a:xfrm>
            <a:off x="5404104" y="2359152"/>
            <a:ext cx="969264" cy="402336"/>
          </a:xfrm>
          <a:prstGeom prst="rect">
            <a:avLst/>
          </a:prstGeom>
          <a:solidFill>
            <a:srgbClr val="0D1E38"/>
          </a:solidFill>
          <a:ln/>
        </p:spPr>
      </p:sp>
      <p:sp>
        <p:nvSpPr>
          <p:cNvPr id="55" name="Text 53"/>
          <p:cNvSpPr/>
          <p:nvPr/>
        </p:nvSpPr>
        <p:spPr>
          <a:xfrm>
            <a:off x="5404104" y="2368296"/>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56" name="Shape 54"/>
          <p:cNvSpPr/>
          <p:nvPr/>
        </p:nvSpPr>
        <p:spPr>
          <a:xfrm>
            <a:off x="6428232" y="2359152"/>
            <a:ext cx="969264" cy="402336"/>
          </a:xfrm>
          <a:prstGeom prst="rect">
            <a:avLst/>
          </a:prstGeom>
          <a:solidFill>
            <a:srgbClr val="0D1E38"/>
          </a:solidFill>
          <a:ln/>
        </p:spPr>
      </p:sp>
      <p:sp>
        <p:nvSpPr>
          <p:cNvPr id="57" name="Text 55"/>
          <p:cNvSpPr/>
          <p:nvPr/>
        </p:nvSpPr>
        <p:spPr>
          <a:xfrm>
            <a:off x="6428232" y="2368296"/>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58" name="Shape 56"/>
          <p:cNvSpPr/>
          <p:nvPr/>
        </p:nvSpPr>
        <p:spPr>
          <a:xfrm>
            <a:off x="7452360" y="2359152"/>
            <a:ext cx="969264" cy="402336"/>
          </a:xfrm>
          <a:prstGeom prst="rect">
            <a:avLst/>
          </a:prstGeom>
          <a:solidFill>
            <a:srgbClr val="0D1E38"/>
          </a:solidFill>
          <a:ln/>
        </p:spPr>
      </p:sp>
      <p:sp>
        <p:nvSpPr>
          <p:cNvPr id="59" name="Text 57"/>
          <p:cNvSpPr/>
          <p:nvPr/>
        </p:nvSpPr>
        <p:spPr>
          <a:xfrm>
            <a:off x="7452360" y="2368296"/>
            <a:ext cx="969264"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p>
        </p:txBody>
      </p:sp>
      <p:sp>
        <p:nvSpPr>
          <p:cNvPr id="60" name="Shape 58"/>
          <p:cNvSpPr/>
          <p:nvPr/>
        </p:nvSpPr>
        <p:spPr>
          <a:xfrm>
            <a:off x="8476488" y="2359152"/>
            <a:ext cx="969264" cy="402336"/>
          </a:xfrm>
          <a:prstGeom prst="rect">
            <a:avLst/>
          </a:prstGeom>
          <a:solidFill>
            <a:srgbClr val="0D1E38"/>
          </a:solidFill>
          <a:ln/>
        </p:spPr>
      </p:sp>
      <p:sp>
        <p:nvSpPr>
          <p:cNvPr id="61" name="Text 59"/>
          <p:cNvSpPr/>
          <p:nvPr/>
        </p:nvSpPr>
        <p:spPr>
          <a:xfrm>
            <a:off x="8476488" y="2368296"/>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62" name="Shape 60"/>
          <p:cNvSpPr/>
          <p:nvPr/>
        </p:nvSpPr>
        <p:spPr>
          <a:xfrm>
            <a:off x="320040" y="2761488"/>
            <a:ext cx="2706624" cy="402336"/>
          </a:xfrm>
          <a:prstGeom prst="rect">
            <a:avLst/>
          </a:prstGeom>
          <a:solidFill>
            <a:srgbClr val="0E2040"/>
          </a:solidFill>
          <a:ln/>
        </p:spPr>
      </p:sp>
      <p:sp>
        <p:nvSpPr>
          <p:cNvPr id="63" name="Text 61"/>
          <p:cNvSpPr/>
          <p:nvPr/>
        </p:nvSpPr>
        <p:spPr>
          <a:xfrm>
            <a:off x="320040" y="2770632"/>
            <a:ext cx="2706624" cy="347472"/>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Sub-1% Total Fees</a:t>
            </a:r>
            <a:endParaRPr lang="en-US" sz="950" dirty="0"/>
          </a:p>
        </p:txBody>
      </p:sp>
      <p:sp>
        <p:nvSpPr>
          <p:cNvPr id="64" name="Shape 62"/>
          <p:cNvSpPr/>
          <p:nvPr/>
        </p:nvSpPr>
        <p:spPr>
          <a:xfrm>
            <a:off x="3127248" y="2761488"/>
            <a:ext cx="1197864" cy="402336"/>
          </a:xfrm>
          <a:prstGeom prst="rect">
            <a:avLst/>
          </a:prstGeom>
          <a:solidFill>
            <a:srgbClr val="0A2A1A"/>
          </a:solidFill>
          <a:ln/>
        </p:spPr>
      </p:sp>
      <p:sp>
        <p:nvSpPr>
          <p:cNvPr id="65" name="Text 63"/>
          <p:cNvSpPr/>
          <p:nvPr/>
        </p:nvSpPr>
        <p:spPr>
          <a:xfrm>
            <a:off x="3127248" y="2770632"/>
            <a:ext cx="1197864" cy="347472"/>
          </a:xfrm>
          <a:prstGeom prst="rect">
            <a:avLst/>
          </a:prstGeom>
          <a:noFill/>
          <a:ln/>
        </p:spPr>
        <p:txBody>
          <a:bodyPr wrap="square" lIns="0" tIns="0" rIns="0" bIns="0" rtlCol="0" anchor="ctr"/>
          <a:lstStyle/>
          <a:p>
            <a:pPr marL="0" indent="0" algn="ctr">
              <a:buNone/>
            </a:pPr>
            <a:r>
              <a:rPr lang="en-US" sz="1100" b="1" dirty="0">
                <a:solidFill>
                  <a:srgbClr val="00D4AA"/>
                </a:solidFill>
                <a:latin typeface="Calibri" pitchFamily="34" charset="0"/>
                <a:ea typeface="Calibri" pitchFamily="34" charset="-122"/>
                <a:cs typeface="Calibri" pitchFamily="34" charset="-120"/>
              </a:rPr>
              <a:t>✅</a:t>
            </a:r>
            <a:endParaRPr lang="en-US" sz="1100" dirty="0"/>
          </a:p>
        </p:txBody>
      </p:sp>
      <p:sp>
        <p:nvSpPr>
          <p:cNvPr id="66" name="Shape 64"/>
          <p:cNvSpPr/>
          <p:nvPr/>
        </p:nvSpPr>
        <p:spPr>
          <a:xfrm>
            <a:off x="4379976" y="2761488"/>
            <a:ext cx="969264" cy="402336"/>
          </a:xfrm>
          <a:prstGeom prst="rect">
            <a:avLst/>
          </a:prstGeom>
          <a:solidFill>
            <a:srgbClr val="0E2040"/>
          </a:solidFill>
          <a:ln/>
        </p:spPr>
      </p:sp>
      <p:sp>
        <p:nvSpPr>
          <p:cNvPr id="67" name="Text 65"/>
          <p:cNvSpPr/>
          <p:nvPr/>
        </p:nvSpPr>
        <p:spPr>
          <a:xfrm>
            <a:off x="4379976" y="2770632"/>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68" name="Shape 66"/>
          <p:cNvSpPr/>
          <p:nvPr/>
        </p:nvSpPr>
        <p:spPr>
          <a:xfrm>
            <a:off x="5404104" y="2761488"/>
            <a:ext cx="969264" cy="402336"/>
          </a:xfrm>
          <a:prstGeom prst="rect">
            <a:avLst/>
          </a:prstGeom>
          <a:solidFill>
            <a:srgbClr val="0E2040"/>
          </a:solidFill>
          <a:ln/>
        </p:spPr>
      </p:sp>
      <p:sp>
        <p:nvSpPr>
          <p:cNvPr id="69" name="Text 67"/>
          <p:cNvSpPr/>
          <p:nvPr/>
        </p:nvSpPr>
        <p:spPr>
          <a:xfrm>
            <a:off x="5404104" y="2770632"/>
            <a:ext cx="969264" cy="347472"/>
          </a:xfrm>
          <a:prstGeom prst="rect">
            <a:avLst/>
          </a:prstGeom>
          <a:noFill/>
          <a:ln/>
        </p:spPr>
        <p:txBody>
          <a:bodyPr wrap="square" lIns="0" tIns="0" rIns="0" bIns="0" rtlCol="0" anchor="ctr"/>
          <a:lstStyle/>
          <a:p>
            <a:pPr marL="0" indent="0" algn="ctr">
              <a:buNone/>
            </a:pPr>
            <a:r>
              <a:rPr lang="en-US" sz="1100" b="1" dirty="0">
                <a:solidFill>
                  <a:srgbClr val="8899A6"/>
                </a:solidFill>
                <a:latin typeface="Calibri" pitchFamily="34" charset="0"/>
                <a:ea typeface="Calibri" pitchFamily="34" charset="-122"/>
                <a:cs typeface="Calibri" pitchFamily="34" charset="-120"/>
              </a:rPr>
              <a:t>Partial</a:t>
            </a:r>
            <a:endParaRPr lang="en-US" sz="1100" dirty="0"/>
          </a:p>
        </p:txBody>
      </p:sp>
      <p:sp>
        <p:nvSpPr>
          <p:cNvPr id="70" name="Shape 68"/>
          <p:cNvSpPr/>
          <p:nvPr/>
        </p:nvSpPr>
        <p:spPr>
          <a:xfrm>
            <a:off x="6428232" y="2761488"/>
            <a:ext cx="969264" cy="402336"/>
          </a:xfrm>
          <a:prstGeom prst="rect">
            <a:avLst/>
          </a:prstGeom>
          <a:solidFill>
            <a:srgbClr val="0E2040"/>
          </a:solidFill>
          <a:ln/>
        </p:spPr>
      </p:sp>
      <p:sp>
        <p:nvSpPr>
          <p:cNvPr id="71" name="Text 69"/>
          <p:cNvSpPr/>
          <p:nvPr/>
        </p:nvSpPr>
        <p:spPr>
          <a:xfrm>
            <a:off x="6428232" y="2770632"/>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72" name="Shape 70"/>
          <p:cNvSpPr/>
          <p:nvPr/>
        </p:nvSpPr>
        <p:spPr>
          <a:xfrm>
            <a:off x="7452360" y="2761488"/>
            <a:ext cx="969264" cy="402336"/>
          </a:xfrm>
          <a:prstGeom prst="rect">
            <a:avLst/>
          </a:prstGeom>
          <a:solidFill>
            <a:srgbClr val="0E2040"/>
          </a:solidFill>
          <a:ln/>
        </p:spPr>
      </p:sp>
      <p:sp>
        <p:nvSpPr>
          <p:cNvPr id="73" name="Text 71"/>
          <p:cNvSpPr/>
          <p:nvPr/>
        </p:nvSpPr>
        <p:spPr>
          <a:xfrm>
            <a:off x="7452360" y="2770632"/>
            <a:ext cx="969264" cy="347472"/>
          </a:xfrm>
          <a:prstGeom prst="rect">
            <a:avLst/>
          </a:prstGeom>
          <a:noFill/>
          <a:ln/>
        </p:spPr>
        <p:txBody>
          <a:bodyPr wrap="square" lIns="0" tIns="0" rIns="0" bIns="0" rtlCol="0" anchor="ctr"/>
          <a:lstStyle/>
          <a:p>
            <a:pPr marL="0" indent="0" algn="ctr">
              <a:buNone/>
            </a:pPr>
            <a:r>
              <a:rPr lang="en-US" sz="1100" b="1" dirty="0">
                <a:solidFill>
                  <a:srgbClr val="8899A6"/>
                </a:solidFill>
                <a:latin typeface="Calibri" pitchFamily="34" charset="0"/>
                <a:ea typeface="Calibri" pitchFamily="34" charset="-122"/>
                <a:cs typeface="Calibri" pitchFamily="34" charset="-120"/>
              </a:rPr>
              <a:t>Partial</a:t>
            </a:r>
            <a:endParaRPr lang="en-US" sz="1100" dirty="0"/>
          </a:p>
        </p:txBody>
      </p:sp>
      <p:sp>
        <p:nvSpPr>
          <p:cNvPr id="74" name="Shape 72"/>
          <p:cNvSpPr/>
          <p:nvPr/>
        </p:nvSpPr>
        <p:spPr>
          <a:xfrm>
            <a:off x="8476488" y="2761488"/>
            <a:ext cx="969264" cy="402336"/>
          </a:xfrm>
          <a:prstGeom prst="rect">
            <a:avLst/>
          </a:prstGeom>
          <a:solidFill>
            <a:srgbClr val="0E2040"/>
          </a:solidFill>
          <a:ln/>
        </p:spPr>
      </p:sp>
      <p:sp>
        <p:nvSpPr>
          <p:cNvPr id="75" name="Text 73"/>
          <p:cNvSpPr/>
          <p:nvPr/>
        </p:nvSpPr>
        <p:spPr>
          <a:xfrm>
            <a:off x="8476488" y="2770632"/>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76" name="Shape 74"/>
          <p:cNvSpPr/>
          <p:nvPr/>
        </p:nvSpPr>
        <p:spPr>
          <a:xfrm>
            <a:off x="320040" y="3163824"/>
            <a:ext cx="2706624" cy="402336"/>
          </a:xfrm>
          <a:prstGeom prst="rect">
            <a:avLst/>
          </a:prstGeom>
          <a:solidFill>
            <a:srgbClr val="0D1E38"/>
          </a:solidFill>
          <a:ln/>
        </p:spPr>
      </p:sp>
      <p:sp>
        <p:nvSpPr>
          <p:cNvPr id="77" name="Text 75"/>
          <p:cNvSpPr/>
          <p:nvPr/>
        </p:nvSpPr>
        <p:spPr>
          <a:xfrm>
            <a:off x="320040" y="3172968"/>
            <a:ext cx="2706624" cy="347472"/>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Crypto On/Off-Ramp</a:t>
            </a:r>
            <a:endParaRPr lang="en-US" sz="950" dirty="0"/>
          </a:p>
        </p:txBody>
      </p:sp>
      <p:sp>
        <p:nvSpPr>
          <p:cNvPr id="78" name="Shape 76"/>
          <p:cNvSpPr/>
          <p:nvPr/>
        </p:nvSpPr>
        <p:spPr>
          <a:xfrm>
            <a:off x="3127248" y="3163824"/>
            <a:ext cx="1197864" cy="402336"/>
          </a:xfrm>
          <a:prstGeom prst="rect">
            <a:avLst/>
          </a:prstGeom>
          <a:solidFill>
            <a:srgbClr val="0A2A1A"/>
          </a:solidFill>
          <a:ln/>
        </p:spPr>
      </p:sp>
      <p:sp>
        <p:nvSpPr>
          <p:cNvPr id="79" name="Text 77"/>
          <p:cNvSpPr/>
          <p:nvPr/>
        </p:nvSpPr>
        <p:spPr>
          <a:xfrm>
            <a:off x="3127248" y="3172968"/>
            <a:ext cx="1197864" cy="347472"/>
          </a:xfrm>
          <a:prstGeom prst="rect">
            <a:avLst/>
          </a:prstGeom>
          <a:noFill/>
          <a:ln/>
        </p:spPr>
        <p:txBody>
          <a:bodyPr wrap="square" lIns="0" tIns="0" rIns="0" bIns="0" rtlCol="0" anchor="ctr"/>
          <a:lstStyle/>
          <a:p>
            <a:pPr marL="0" indent="0" algn="ctr">
              <a:buNone/>
            </a:pPr>
            <a:r>
              <a:rPr lang="en-US" sz="1100" b="1" dirty="0">
                <a:solidFill>
                  <a:srgbClr val="00D4AA"/>
                </a:solidFill>
                <a:latin typeface="Calibri" pitchFamily="34" charset="0"/>
                <a:ea typeface="Calibri" pitchFamily="34" charset="-122"/>
                <a:cs typeface="Calibri" pitchFamily="34" charset="-120"/>
              </a:rPr>
              <a:t>✅</a:t>
            </a:r>
            <a:endParaRPr lang="en-US" sz="1100" dirty="0"/>
          </a:p>
        </p:txBody>
      </p:sp>
      <p:sp>
        <p:nvSpPr>
          <p:cNvPr id="80" name="Shape 78"/>
          <p:cNvSpPr/>
          <p:nvPr/>
        </p:nvSpPr>
        <p:spPr>
          <a:xfrm>
            <a:off x="4379976" y="3163824"/>
            <a:ext cx="969264" cy="402336"/>
          </a:xfrm>
          <a:prstGeom prst="rect">
            <a:avLst/>
          </a:prstGeom>
          <a:solidFill>
            <a:srgbClr val="0D1E38"/>
          </a:solidFill>
          <a:ln/>
        </p:spPr>
      </p:sp>
      <p:sp>
        <p:nvSpPr>
          <p:cNvPr id="81" name="Text 79"/>
          <p:cNvSpPr/>
          <p:nvPr/>
        </p:nvSpPr>
        <p:spPr>
          <a:xfrm>
            <a:off x="4379976" y="3172968"/>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82" name="Shape 80"/>
          <p:cNvSpPr/>
          <p:nvPr/>
        </p:nvSpPr>
        <p:spPr>
          <a:xfrm>
            <a:off x="5404104" y="3163824"/>
            <a:ext cx="969264" cy="402336"/>
          </a:xfrm>
          <a:prstGeom prst="rect">
            <a:avLst/>
          </a:prstGeom>
          <a:solidFill>
            <a:srgbClr val="0D1E38"/>
          </a:solidFill>
          <a:ln/>
        </p:spPr>
      </p:sp>
      <p:sp>
        <p:nvSpPr>
          <p:cNvPr id="83" name="Text 81"/>
          <p:cNvSpPr/>
          <p:nvPr/>
        </p:nvSpPr>
        <p:spPr>
          <a:xfrm>
            <a:off x="5404104" y="3172968"/>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84" name="Shape 82"/>
          <p:cNvSpPr/>
          <p:nvPr/>
        </p:nvSpPr>
        <p:spPr>
          <a:xfrm>
            <a:off x="6428232" y="3163824"/>
            <a:ext cx="969264" cy="402336"/>
          </a:xfrm>
          <a:prstGeom prst="rect">
            <a:avLst/>
          </a:prstGeom>
          <a:solidFill>
            <a:srgbClr val="0D1E38"/>
          </a:solidFill>
          <a:ln/>
        </p:spPr>
      </p:sp>
      <p:sp>
        <p:nvSpPr>
          <p:cNvPr id="85" name="Text 83"/>
          <p:cNvSpPr/>
          <p:nvPr/>
        </p:nvSpPr>
        <p:spPr>
          <a:xfrm>
            <a:off x="6428232" y="3172968"/>
            <a:ext cx="969264" cy="347472"/>
          </a:xfrm>
          <a:prstGeom prst="rect">
            <a:avLst/>
          </a:prstGeom>
          <a:noFill/>
          <a:ln/>
        </p:spPr>
        <p:txBody>
          <a:bodyPr wrap="square" lIns="0" tIns="0" rIns="0" bIns="0" rtlCol="0" anchor="ctr"/>
          <a:lstStyle/>
          <a:p>
            <a:pPr marL="0" indent="0" algn="ctr">
              <a:buNone/>
            </a:pPr>
            <a:r>
              <a:rPr lang="en-US" sz="1100" b="1" dirty="0">
                <a:solidFill>
                  <a:srgbClr val="8899A6"/>
                </a:solidFill>
                <a:latin typeface="Calibri" pitchFamily="34" charset="0"/>
                <a:ea typeface="Calibri" pitchFamily="34" charset="-122"/>
                <a:cs typeface="Calibri" pitchFamily="34" charset="-120"/>
              </a:rPr>
              <a:t>Partial</a:t>
            </a:r>
            <a:endParaRPr lang="en-US" sz="1100" dirty="0"/>
          </a:p>
        </p:txBody>
      </p:sp>
      <p:sp>
        <p:nvSpPr>
          <p:cNvPr id="86" name="Shape 84"/>
          <p:cNvSpPr/>
          <p:nvPr/>
        </p:nvSpPr>
        <p:spPr>
          <a:xfrm>
            <a:off x="7452360" y="3163824"/>
            <a:ext cx="969264" cy="402336"/>
          </a:xfrm>
          <a:prstGeom prst="rect">
            <a:avLst/>
          </a:prstGeom>
          <a:solidFill>
            <a:srgbClr val="0D1E38"/>
          </a:solidFill>
          <a:ln/>
        </p:spPr>
      </p:sp>
      <p:sp>
        <p:nvSpPr>
          <p:cNvPr id="87" name="Text 85"/>
          <p:cNvSpPr/>
          <p:nvPr/>
        </p:nvSpPr>
        <p:spPr>
          <a:xfrm>
            <a:off x="7452360" y="3172968"/>
            <a:ext cx="969264"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p>
        </p:txBody>
      </p:sp>
      <p:sp>
        <p:nvSpPr>
          <p:cNvPr id="88" name="Shape 86"/>
          <p:cNvSpPr/>
          <p:nvPr/>
        </p:nvSpPr>
        <p:spPr>
          <a:xfrm>
            <a:off x="8476488" y="3163824"/>
            <a:ext cx="969264" cy="402336"/>
          </a:xfrm>
          <a:prstGeom prst="rect">
            <a:avLst/>
          </a:prstGeom>
          <a:solidFill>
            <a:srgbClr val="0D1E38"/>
          </a:solidFill>
          <a:ln/>
        </p:spPr>
      </p:sp>
      <p:sp>
        <p:nvSpPr>
          <p:cNvPr id="89" name="Text 87"/>
          <p:cNvSpPr/>
          <p:nvPr/>
        </p:nvSpPr>
        <p:spPr>
          <a:xfrm>
            <a:off x="8476488" y="3172968"/>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90" name="Shape 88"/>
          <p:cNvSpPr/>
          <p:nvPr/>
        </p:nvSpPr>
        <p:spPr>
          <a:xfrm>
            <a:off x="320040" y="3566160"/>
            <a:ext cx="2706624" cy="402336"/>
          </a:xfrm>
          <a:prstGeom prst="rect">
            <a:avLst/>
          </a:prstGeom>
          <a:solidFill>
            <a:srgbClr val="0E2040"/>
          </a:solidFill>
          <a:ln/>
        </p:spPr>
      </p:sp>
      <p:sp>
        <p:nvSpPr>
          <p:cNvPr id="91" name="Text 89"/>
          <p:cNvSpPr/>
          <p:nvPr/>
        </p:nvSpPr>
        <p:spPr>
          <a:xfrm>
            <a:off x="320040" y="3575304"/>
            <a:ext cx="2706624" cy="347472"/>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Universal Spend (any currency)</a:t>
            </a:r>
            <a:endParaRPr lang="en-US" sz="950" dirty="0"/>
          </a:p>
        </p:txBody>
      </p:sp>
      <p:sp>
        <p:nvSpPr>
          <p:cNvPr id="92" name="Shape 90"/>
          <p:cNvSpPr/>
          <p:nvPr/>
        </p:nvSpPr>
        <p:spPr>
          <a:xfrm>
            <a:off x="3127248" y="3566160"/>
            <a:ext cx="1197864" cy="402336"/>
          </a:xfrm>
          <a:prstGeom prst="rect">
            <a:avLst/>
          </a:prstGeom>
          <a:solidFill>
            <a:srgbClr val="0A2A1A"/>
          </a:solidFill>
          <a:ln/>
        </p:spPr>
      </p:sp>
      <p:sp>
        <p:nvSpPr>
          <p:cNvPr id="93" name="Text 91"/>
          <p:cNvSpPr/>
          <p:nvPr/>
        </p:nvSpPr>
        <p:spPr>
          <a:xfrm>
            <a:off x="3127248" y="3575304"/>
            <a:ext cx="1197864" cy="347472"/>
          </a:xfrm>
          <a:prstGeom prst="rect">
            <a:avLst/>
          </a:prstGeom>
          <a:noFill/>
          <a:ln/>
        </p:spPr>
        <p:txBody>
          <a:bodyPr wrap="square" lIns="0" tIns="0" rIns="0" bIns="0" rtlCol="0" anchor="ctr"/>
          <a:lstStyle/>
          <a:p>
            <a:pPr marL="0" indent="0" algn="ctr">
              <a:buNone/>
            </a:pPr>
            <a:r>
              <a:rPr lang="en-US" sz="1100" b="1" dirty="0">
                <a:solidFill>
                  <a:srgbClr val="00D4AA"/>
                </a:solidFill>
                <a:latin typeface="Calibri" pitchFamily="34" charset="0"/>
                <a:ea typeface="Calibri" pitchFamily="34" charset="-122"/>
                <a:cs typeface="Calibri" pitchFamily="34" charset="-120"/>
              </a:rPr>
              <a:t>✅</a:t>
            </a:r>
            <a:endParaRPr lang="en-US" sz="1100" dirty="0"/>
          </a:p>
        </p:txBody>
      </p:sp>
      <p:sp>
        <p:nvSpPr>
          <p:cNvPr id="94" name="Shape 92"/>
          <p:cNvSpPr/>
          <p:nvPr/>
        </p:nvSpPr>
        <p:spPr>
          <a:xfrm>
            <a:off x="4379976" y="3566160"/>
            <a:ext cx="969264" cy="402336"/>
          </a:xfrm>
          <a:prstGeom prst="rect">
            <a:avLst/>
          </a:prstGeom>
          <a:solidFill>
            <a:srgbClr val="0E2040"/>
          </a:solidFill>
          <a:ln/>
        </p:spPr>
      </p:sp>
      <p:sp>
        <p:nvSpPr>
          <p:cNvPr id="95" name="Text 93"/>
          <p:cNvSpPr/>
          <p:nvPr/>
        </p:nvSpPr>
        <p:spPr>
          <a:xfrm>
            <a:off x="4379976" y="3575304"/>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96" name="Shape 94"/>
          <p:cNvSpPr/>
          <p:nvPr/>
        </p:nvSpPr>
        <p:spPr>
          <a:xfrm>
            <a:off x="5404104" y="3566160"/>
            <a:ext cx="969264" cy="402336"/>
          </a:xfrm>
          <a:prstGeom prst="rect">
            <a:avLst/>
          </a:prstGeom>
          <a:solidFill>
            <a:srgbClr val="0E2040"/>
          </a:solidFill>
          <a:ln/>
        </p:spPr>
      </p:sp>
      <p:sp>
        <p:nvSpPr>
          <p:cNvPr id="97" name="Text 95"/>
          <p:cNvSpPr/>
          <p:nvPr/>
        </p:nvSpPr>
        <p:spPr>
          <a:xfrm>
            <a:off x="5404104" y="3575304"/>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98" name="Shape 96"/>
          <p:cNvSpPr/>
          <p:nvPr/>
        </p:nvSpPr>
        <p:spPr>
          <a:xfrm>
            <a:off x="6428232" y="3566160"/>
            <a:ext cx="969264" cy="402336"/>
          </a:xfrm>
          <a:prstGeom prst="rect">
            <a:avLst/>
          </a:prstGeom>
          <a:solidFill>
            <a:srgbClr val="0E2040"/>
          </a:solidFill>
          <a:ln/>
        </p:spPr>
      </p:sp>
      <p:sp>
        <p:nvSpPr>
          <p:cNvPr id="99" name="Text 97"/>
          <p:cNvSpPr/>
          <p:nvPr/>
        </p:nvSpPr>
        <p:spPr>
          <a:xfrm>
            <a:off x="6428232" y="3575304"/>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100" name="Shape 98"/>
          <p:cNvSpPr/>
          <p:nvPr/>
        </p:nvSpPr>
        <p:spPr>
          <a:xfrm>
            <a:off x="7452360" y="3566160"/>
            <a:ext cx="969264" cy="402336"/>
          </a:xfrm>
          <a:prstGeom prst="rect">
            <a:avLst/>
          </a:prstGeom>
          <a:solidFill>
            <a:srgbClr val="0E2040"/>
          </a:solidFill>
          <a:ln/>
        </p:spPr>
      </p:sp>
      <p:sp>
        <p:nvSpPr>
          <p:cNvPr id="101" name="Text 99"/>
          <p:cNvSpPr/>
          <p:nvPr/>
        </p:nvSpPr>
        <p:spPr>
          <a:xfrm>
            <a:off x="7452360" y="3575304"/>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102" name="Shape 100"/>
          <p:cNvSpPr/>
          <p:nvPr/>
        </p:nvSpPr>
        <p:spPr>
          <a:xfrm>
            <a:off x="8476488" y="3566160"/>
            <a:ext cx="969264" cy="402336"/>
          </a:xfrm>
          <a:prstGeom prst="rect">
            <a:avLst/>
          </a:prstGeom>
          <a:solidFill>
            <a:srgbClr val="0E2040"/>
          </a:solidFill>
          <a:ln/>
        </p:spPr>
      </p:sp>
      <p:sp>
        <p:nvSpPr>
          <p:cNvPr id="103" name="Text 101"/>
          <p:cNvSpPr/>
          <p:nvPr/>
        </p:nvSpPr>
        <p:spPr>
          <a:xfrm>
            <a:off x="8476488" y="3575304"/>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104" name="Shape 102"/>
          <p:cNvSpPr/>
          <p:nvPr/>
        </p:nvSpPr>
        <p:spPr>
          <a:xfrm>
            <a:off x="320040" y="3968496"/>
            <a:ext cx="2706624" cy="402336"/>
          </a:xfrm>
          <a:prstGeom prst="rect">
            <a:avLst/>
          </a:prstGeom>
          <a:solidFill>
            <a:srgbClr val="0D1E38"/>
          </a:solidFill>
          <a:ln/>
        </p:spPr>
      </p:sp>
      <p:sp>
        <p:nvSpPr>
          <p:cNvPr id="105" name="Text 103"/>
          <p:cNvSpPr/>
          <p:nvPr/>
        </p:nvSpPr>
        <p:spPr>
          <a:xfrm>
            <a:off x="320040" y="3977640"/>
            <a:ext cx="2706624" cy="347472"/>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Emerging Market Focus</a:t>
            </a:r>
            <a:endParaRPr lang="en-US" sz="950" dirty="0"/>
          </a:p>
        </p:txBody>
      </p:sp>
      <p:sp>
        <p:nvSpPr>
          <p:cNvPr id="106" name="Shape 104"/>
          <p:cNvSpPr/>
          <p:nvPr/>
        </p:nvSpPr>
        <p:spPr>
          <a:xfrm>
            <a:off x="3127248" y="3968496"/>
            <a:ext cx="1197864" cy="402336"/>
          </a:xfrm>
          <a:prstGeom prst="rect">
            <a:avLst/>
          </a:prstGeom>
          <a:solidFill>
            <a:srgbClr val="0A2A1A"/>
          </a:solidFill>
          <a:ln/>
        </p:spPr>
      </p:sp>
      <p:sp>
        <p:nvSpPr>
          <p:cNvPr id="107" name="Text 105"/>
          <p:cNvSpPr/>
          <p:nvPr/>
        </p:nvSpPr>
        <p:spPr>
          <a:xfrm>
            <a:off x="3127248" y="3977640"/>
            <a:ext cx="1197864" cy="347472"/>
          </a:xfrm>
          <a:prstGeom prst="rect">
            <a:avLst/>
          </a:prstGeom>
          <a:noFill/>
          <a:ln/>
        </p:spPr>
        <p:txBody>
          <a:bodyPr wrap="square" lIns="0" tIns="0" rIns="0" bIns="0" rtlCol="0" anchor="ctr"/>
          <a:lstStyle/>
          <a:p>
            <a:pPr marL="0" indent="0" algn="ctr">
              <a:buNone/>
            </a:pPr>
            <a:r>
              <a:rPr lang="en-US" sz="1100" b="1" dirty="0">
                <a:solidFill>
                  <a:srgbClr val="00D4AA"/>
                </a:solidFill>
                <a:latin typeface="Calibri" pitchFamily="34" charset="0"/>
                <a:ea typeface="Calibri" pitchFamily="34" charset="-122"/>
                <a:cs typeface="Calibri" pitchFamily="34" charset="-120"/>
              </a:rPr>
              <a:t>✅</a:t>
            </a:r>
            <a:endParaRPr lang="en-US" sz="1100" dirty="0"/>
          </a:p>
        </p:txBody>
      </p:sp>
      <p:sp>
        <p:nvSpPr>
          <p:cNvPr id="108" name="Shape 106"/>
          <p:cNvSpPr/>
          <p:nvPr/>
        </p:nvSpPr>
        <p:spPr>
          <a:xfrm>
            <a:off x="4379976" y="3968496"/>
            <a:ext cx="969264" cy="402336"/>
          </a:xfrm>
          <a:prstGeom prst="rect">
            <a:avLst/>
          </a:prstGeom>
          <a:solidFill>
            <a:srgbClr val="0D1E38"/>
          </a:solidFill>
          <a:ln/>
        </p:spPr>
      </p:sp>
      <p:sp>
        <p:nvSpPr>
          <p:cNvPr id="109" name="Text 107"/>
          <p:cNvSpPr/>
          <p:nvPr/>
        </p:nvSpPr>
        <p:spPr>
          <a:xfrm>
            <a:off x="4379976" y="3977640"/>
            <a:ext cx="969264" cy="347472"/>
          </a:xfrm>
          <a:prstGeom prst="rect">
            <a:avLst/>
          </a:prstGeom>
          <a:noFill/>
          <a:ln/>
        </p:spPr>
        <p:txBody>
          <a:bodyPr wrap="square" lIns="0" tIns="0" rIns="0" bIns="0" rtlCol="0" anchor="ctr"/>
          <a:lstStyle/>
          <a:p>
            <a:pPr marL="0" indent="0" algn="ctr">
              <a:buNone/>
            </a:pPr>
            <a:r>
              <a:rPr lang="en-US" sz="1100" b="1" dirty="0">
                <a:solidFill>
                  <a:srgbClr val="8899A6"/>
                </a:solidFill>
                <a:latin typeface="Calibri" pitchFamily="34" charset="0"/>
                <a:ea typeface="Calibri" pitchFamily="34" charset="-122"/>
                <a:cs typeface="Calibri" pitchFamily="34" charset="-120"/>
              </a:rPr>
              <a:t>Limited</a:t>
            </a:r>
            <a:endParaRPr lang="en-US" sz="1100" dirty="0"/>
          </a:p>
        </p:txBody>
      </p:sp>
      <p:sp>
        <p:nvSpPr>
          <p:cNvPr id="110" name="Shape 108"/>
          <p:cNvSpPr/>
          <p:nvPr/>
        </p:nvSpPr>
        <p:spPr>
          <a:xfrm>
            <a:off x="5404104" y="3968496"/>
            <a:ext cx="969264" cy="402336"/>
          </a:xfrm>
          <a:prstGeom prst="rect">
            <a:avLst/>
          </a:prstGeom>
          <a:solidFill>
            <a:srgbClr val="0D1E38"/>
          </a:solidFill>
          <a:ln/>
        </p:spPr>
      </p:sp>
      <p:sp>
        <p:nvSpPr>
          <p:cNvPr id="111" name="Text 109"/>
          <p:cNvSpPr/>
          <p:nvPr/>
        </p:nvSpPr>
        <p:spPr>
          <a:xfrm>
            <a:off x="5404104" y="3977640"/>
            <a:ext cx="969264" cy="347472"/>
          </a:xfrm>
          <a:prstGeom prst="rect">
            <a:avLst/>
          </a:prstGeom>
          <a:noFill/>
          <a:ln/>
        </p:spPr>
        <p:txBody>
          <a:bodyPr wrap="square" lIns="0" tIns="0" rIns="0" bIns="0" rtlCol="0" anchor="ctr"/>
          <a:lstStyle/>
          <a:p>
            <a:pPr marL="0" indent="0" algn="ctr">
              <a:buNone/>
            </a:pPr>
            <a:r>
              <a:rPr lang="en-US" sz="1100" b="1" dirty="0">
                <a:solidFill>
                  <a:srgbClr val="8899A6"/>
                </a:solidFill>
                <a:latin typeface="Calibri" pitchFamily="34" charset="0"/>
                <a:ea typeface="Calibri" pitchFamily="34" charset="-122"/>
                <a:cs typeface="Calibri" pitchFamily="34" charset="-120"/>
              </a:rPr>
              <a:t>Limited</a:t>
            </a:r>
            <a:endParaRPr lang="en-US" sz="1100" dirty="0"/>
          </a:p>
        </p:txBody>
      </p:sp>
      <p:sp>
        <p:nvSpPr>
          <p:cNvPr id="112" name="Shape 110"/>
          <p:cNvSpPr/>
          <p:nvPr/>
        </p:nvSpPr>
        <p:spPr>
          <a:xfrm>
            <a:off x="6428232" y="3968496"/>
            <a:ext cx="969264" cy="402336"/>
          </a:xfrm>
          <a:prstGeom prst="rect">
            <a:avLst/>
          </a:prstGeom>
          <a:solidFill>
            <a:srgbClr val="0D1E38"/>
          </a:solidFill>
          <a:ln/>
        </p:spPr>
      </p:sp>
      <p:sp>
        <p:nvSpPr>
          <p:cNvPr id="113" name="Text 111"/>
          <p:cNvSpPr/>
          <p:nvPr/>
        </p:nvSpPr>
        <p:spPr>
          <a:xfrm>
            <a:off x="6428232" y="3977640"/>
            <a:ext cx="969264" cy="347472"/>
          </a:xfrm>
          <a:prstGeom prst="rect">
            <a:avLst/>
          </a:prstGeom>
          <a:noFill/>
          <a:ln/>
        </p:spPr>
        <p:txBody>
          <a:bodyPr wrap="square" lIns="0" tIns="0" rIns="0" bIns="0" rtlCol="0" anchor="ctr"/>
          <a:lstStyle/>
          <a:p>
            <a:pPr marL="0" indent="0" algn="ctr">
              <a:buNone/>
            </a:pPr>
            <a:r>
              <a:rPr lang="en-US" sz="1100" b="1" dirty="0">
                <a:solidFill>
                  <a:srgbClr val="8899A6"/>
                </a:solidFill>
                <a:latin typeface="Calibri" pitchFamily="34" charset="0"/>
                <a:ea typeface="Calibri" pitchFamily="34" charset="-122"/>
                <a:cs typeface="Calibri" pitchFamily="34" charset="-120"/>
              </a:rPr>
              <a:t>Limited</a:t>
            </a:r>
            <a:endParaRPr lang="en-US" sz="1100" dirty="0"/>
          </a:p>
        </p:txBody>
      </p:sp>
      <p:sp>
        <p:nvSpPr>
          <p:cNvPr id="114" name="Shape 112"/>
          <p:cNvSpPr/>
          <p:nvPr/>
        </p:nvSpPr>
        <p:spPr>
          <a:xfrm>
            <a:off x="7452360" y="3968496"/>
            <a:ext cx="969264" cy="402336"/>
          </a:xfrm>
          <a:prstGeom prst="rect">
            <a:avLst/>
          </a:prstGeom>
          <a:solidFill>
            <a:srgbClr val="0D1E38"/>
          </a:solidFill>
          <a:ln/>
        </p:spPr>
      </p:sp>
      <p:sp>
        <p:nvSpPr>
          <p:cNvPr id="115" name="Text 113"/>
          <p:cNvSpPr/>
          <p:nvPr/>
        </p:nvSpPr>
        <p:spPr>
          <a:xfrm>
            <a:off x="7452360" y="3977640"/>
            <a:ext cx="969264" cy="347472"/>
          </a:xfrm>
          <a:prstGeom prst="rect">
            <a:avLst/>
          </a:prstGeom>
          <a:noFill/>
          <a:ln/>
        </p:spPr>
        <p:txBody>
          <a:bodyPr wrap="square" lIns="0" tIns="0" rIns="0" bIns="0" rtlCol="0" anchor="ctr"/>
          <a:lstStyle/>
          <a:p>
            <a:pPr marL="0" indent="0" algn="ctr">
              <a:buNone/>
            </a:pPr>
            <a:r>
              <a:rPr lang="en-US" sz="1100" b="1" dirty="0">
                <a:solidFill>
                  <a:srgbClr val="8899A6"/>
                </a:solidFill>
                <a:latin typeface="Calibri" pitchFamily="34" charset="0"/>
                <a:ea typeface="Calibri" pitchFamily="34" charset="-122"/>
                <a:cs typeface="Calibri" pitchFamily="34" charset="-120"/>
              </a:rPr>
              <a:t>Limited</a:t>
            </a:r>
            <a:endParaRPr lang="en-US" sz="1100" dirty="0"/>
          </a:p>
        </p:txBody>
      </p:sp>
      <p:sp>
        <p:nvSpPr>
          <p:cNvPr id="116" name="Shape 114"/>
          <p:cNvSpPr/>
          <p:nvPr/>
        </p:nvSpPr>
        <p:spPr>
          <a:xfrm>
            <a:off x="8476488" y="3968496"/>
            <a:ext cx="969264" cy="402336"/>
          </a:xfrm>
          <a:prstGeom prst="rect">
            <a:avLst/>
          </a:prstGeom>
          <a:solidFill>
            <a:srgbClr val="0D1E38"/>
          </a:solidFill>
          <a:ln/>
        </p:spPr>
      </p:sp>
      <p:sp>
        <p:nvSpPr>
          <p:cNvPr id="117" name="Text 115"/>
          <p:cNvSpPr/>
          <p:nvPr/>
        </p:nvSpPr>
        <p:spPr>
          <a:xfrm>
            <a:off x="8476488" y="3977640"/>
            <a:ext cx="969264" cy="347472"/>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a:t>
            </a:r>
            <a:endParaRPr lang="en-US" sz="1100" dirty="0"/>
          </a:p>
        </p:txBody>
      </p:sp>
      <p:sp>
        <p:nvSpPr>
          <p:cNvPr id="118" name="Shape 116"/>
          <p:cNvSpPr/>
          <p:nvPr/>
        </p:nvSpPr>
        <p:spPr>
          <a:xfrm>
            <a:off x="320040" y="4370832"/>
            <a:ext cx="2706624" cy="402336"/>
          </a:xfrm>
          <a:prstGeom prst="rect">
            <a:avLst/>
          </a:prstGeom>
          <a:solidFill>
            <a:srgbClr val="0E2040"/>
          </a:solidFill>
          <a:ln/>
        </p:spPr>
      </p:sp>
      <p:sp>
        <p:nvSpPr>
          <p:cNvPr id="119" name="Text 117"/>
          <p:cNvSpPr/>
          <p:nvPr/>
        </p:nvSpPr>
        <p:spPr>
          <a:xfrm>
            <a:off x="320040" y="4379976"/>
            <a:ext cx="2706624" cy="347472"/>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Unbanked Accessibility</a:t>
            </a:r>
            <a:endParaRPr lang="en-US" sz="950" dirty="0"/>
          </a:p>
        </p:txBody>
      </p:sp>
      <p:sp>
        <p:nvSpPr>
          <p:cNvPr id="120" name="Shape 118"/>
          <p:cNvSpPr/>
          <p:nvPr/>
        </p:nvSpPr>
        <p:spPr>
          <a:xfrm>
            <a:off x="3127248" y="4370832"/>
            <a:ext cx="1197864" cy="402336"/>
          </a:xfrm>
          <a:prstGeom prst="rect">
            <a:avLst/>
          </a:prstGeom>
          <a:solidFill>
            <a:srgbClr val="0A2A1A"/>
          </a:solidFill>
          <a:ln/>
        </p:spPr>
      </p:sp>
      <p:sp>
        <p:nvSpPr>
          <p:cNvPr id="121" name="Text 119"/>
          <p:cNvSpPr/>
          <p:nvPr/>
        </p:nvSpPr>
        <p:spPr>
          <a:xfrm>
            <a:off x="3127248" y="4379976"/>
            <a:ext cx="1197864" cy="347472"/>
          </a:xfrm>
          <a:prstGeom prst="rect">
            <a:avLst/>
          </a:prstGeom>
          <a:noFill/>
          <a:ln/>
        </p:spPr>
        <p:txBody>
          <a:bodyPr wrap="square" lIns="0" tIns="0" rIns="0" bIns="0" rtlCol="0" anchor="ctr"/>
          <a:lstStyle/>
          <a:p>
            <a:pPr marL="0" indent="0" algn="ctr">
              <a:buNone/>
            </a:pPr>
            <a:r>
              <a:rPr lang="en-US" sz="1100" b="1" dirty="0">
                <a:solidFill>
                  <a:srgbClr val="00D4AA"/>
                </a:solidFill>
                <a:latin typeface="Calibri" pitchFamily="34" charset="0"/>
                <a:ea typeface="Calibri" pitchFamily="34" charset="-122"/>
                <a:cs typeface="Calibri" pitchFamily="34" charset="-120"/>
              </a:rPr>
              <a:t>✅</a:t>
            </a:r>
            <a:endParaRPr lang="en-US" sz="1100" dirty="0"/>
          </a:p>
        </p:txBody>
      </p:sp>
      <p:sp>
        <p:nvSpPr>
          <p:cNvPr id="122" name="Shape 120"/>
          <p:cNvSpPr/>
          <p:nvPr/>
        </p:nvSpPr>
        <p:spPr>
          <a:xfrm>
            <a:off x="4379976" y="4370832"/>
            <a:ext cx="969264" cy="402336"/>
          </a:xfrm>
          <a:prstGeom prst="rect">
            <a:avLst/>
          </a:prstGeom>
          <a:solidFill>
            <a:srgbClr val="0E2040"/>
          </a:solidFill>
          <a:ln/>
        </p:spPr>
      </p:sp>
      <p:sp>
        <p:nvSpPr>
          <p:cNvPr id="123" name="Text 121"/>
          <p:cNvSpPr/>
          <p:nvPr/>
        </p:nvSpPr>
        <p:spPr>
          <a:xfrm>
            <a:off x="4379976" y="4379976"/>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124" name="Shape 122"/>
          <p:cNvSpPr/>
          <p:nvPr/>
        </p:nvSpPr>
        <p:spPr>
          <a:xfrm>
            <a:off x="5404104" y="4370832"/>
            <a:ext cx="969264" cy="402336"/>
          </a:xfrm>
          <a:prstGeom prst="rect">
            <a:avLst/>
          </a:prstGeom>
          <a:solidFill>
            <a:srgbClr val="0E2040"/>
          </a:solidFill>
          <a:ln/>
        </p:spPr>
      </p:sp>
      <p:sp>
        <p:nvSpPr>
          <p:cNvPr id="125" name="Text 123"/>
          <p:cNvSpPr/>
          <p:nvPr/>
        </p:nvSpPr>
        <p:spPr>
          <a:xfrm>
            <a:off x="5404104" y="4379976"/>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126" name="Shape 124"/>
          <p:cNvSpPr/>
          <p:nvPr/>
        </p:nvSpPr>
        <p:spPr>
          <a:xfrm>
            <a:off x="6428232" y="4370832"/>
            <a:ext cx="969264" cy="402336"/>
          </a:xfrm>
          <a:prstGeom prst="rect">
            <a:avLst/>
          </a:prstGeom>
          <a:solidFill>
            <a:srgbClr val="0E2040"/>
          </a:solidFill>
          <a:ln/>
        </p:spPr>
      </p:sp>
      <p:sp>
        <p:nvSpPr>
          <p:cNvPr id="127" name="Text 125"/>
          <p:cNvSpPr/>
          <p:nvPr/>
        </p:nvSpPr>
        <p:spPr>
          <a:xfrm>
            <a:off x="6428232" y="4379976"/>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128" name="Shape 126"/>
          <p:cNvSpPr/>
          <p:nvPr/>
        </p:nvSpPr>
        <p:spPr>
          <a:xfrm>
            <a:off x="7452360" y="4370832"/>
            <a:ext cx="969264" cy="402336"/>
          </a:xfrm>
          <a:prstGeom prst="rect">
            <a:avLst/>
          </a:prstGeom>
          <a:solidFill>
            <a:srgbClr val="0E2040"/>
          </a:solidFill>
          <a:ln/>
        </p:spPr>
      </p:sp>
      <p:sp>
        <p:nvSpPr>
          <p:cNvPr id="129" name="Text 127"/>
          <p:cNvSpPr/>
          <p:nvPr/>
        </p:nvSpPr>
        <p:spPr>
          <a:xfrm>
            <a:off x="7452360" y="4379976"/>
            <a:ext cx="969264" cy="347472"/>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a:t>
            </a:r>
            <a:endParaRPr lang="en-US" sz="1100" dirty="0"/>
          </a:p>
        </p:txBody>
      </p:sp>
      <p:sp>
        <p:nvSpPr>
          <p:cNvPr id="130" name="Shape 128"/>
          <p:cNvSpPr/>
          <p:nvPr/>
        </p:nvSpPr>
        <p:spPr>
          <a:xfrm>
            <a:off x="8476488" y="4370832"/>
            <a:ext cx="969264" cy="402336"/>
          </a:xfrm>
          <a:prstGeom prst="rect">
            <a:avLst/>
          </a:prstGeom>
          <a:solidFill>
            <a:srgbClr val="0E2040"/>
          </a:solidFill>
          <a:ln/>
        </p:spPr>
      </p:sp>
      <p:sp>
        <p:nvSpPr>
          <p:cNvPr id="131" name="Text 129"/>
          <p:cNvSpPr/>
          <p:nvPr/>
        </p:nvSpPr>
        <p:spPr>
          <a:xfrm>
            <a:off x="8476488" y="4379976"/>
            <a:ext cx="969264" cy="347472"/>
          </a:xfrm>
          <a:prstGeom prst="rect">
            <a:avLst/>
          </a:prstGeom>
          <a:noFill/>
          <a:ln/>
        </p:spPr>
        <p:txBody>
          <a:bodyPr wrap="square" lIns="0" tIns="0" rIns="0" bIns="0" rtlCol="0" anchor="ctr"/>
          <a:lstStyle/>
          <a:p>
            <a:pPr marL="0" indent="0" algn="ctr">
              <a:buNone/>
            </a:pPr>
            <a:r>
              <a:rPr lang="en-US" sz="1100" b="1" dirty="0">
                <a:solidFill>
                  <a:srgbClr val="8899A6"/>
                </a:solidFill>
                <a:latin typeface="Calibri" pitchFamily="34" charset="0"/>
                <a:ea typeface="Calibri" pitchFamily="34" charset="-122"/>
                <a:cs typeface="Calibri" pitchFamily="34" charset="-120"/>
              </a:rPr>
              <a:t>Partial</a:t>
            </a:r>
            <a:endParaRPr lang="en-US" sz="1100" dirty="0"/>
          </a:p>
        </p:txBody>
      </p:sp>
      <p:sp>
        <p:nvSpPr>
          <p:cNvPr id="132" name="Shape 130"/>
          <p:cNvSpPr/>
          <p:nvPr/>
        </p:nvSpPr>
        <p:spPr>
          <a:xfrm>
            <a:off x="320040" y="4809744"/>
            <a:ext cx="8503920" cy="292608"/>
          </a:xfrm>
          <a:prstGeom prst="rect">
            <a:avLst/>
          </a:prstGeom>
          <a:solidFill>
            <a:srgbClr val="0A1E14"/>
          </a:solidFill>
          <a:ln/>
        </p:spPr>
      </p:sp>
      <p:sp>
        <p:nvSpPr>
          <p:cNvPr id="133" name="Text 131"/>
          <p:cNvSpPr/>
          <p:nvPr/>
        </p:nvSpPr>
        <p:spPr>
          <a:xfrm>
            <a:off x="411480" y="4818888"/>
            <a:ext cx="8321040" cy="256032"/>
          </a:xfrm>
          <a:prstGeom prst="rect">
            <a:avLst/>
          </a:prstGeom>
          <a:noFill/>
          <a:ln/>
        </p:spPr>
        <p:txBody>
          <a:bodyPr wrap="square" lIns="0" tIns="0" rIns="0" bIns="0" rtlCol="0" anchor="ctr"/>
          <a:lstStyle/>
          <a:p>
            <a:pPr marL="0" indent="0" algn="ctr">
              <a:buNone/>
            </a:pPr>
            <a:r>
              <a:rPr lang="en-US" sz="1050" b="1" dirty="0">
                <a:solidFill>
                  <a:srgbClr val="FFB800"/>
                </a:solidFill>
                <a:latin typeface="Calibri" pitchFamily="34" charset="0"/>
                <a:ea typeface="Calibri" pitchFamily="34" charset="-122"/>
                <a:cs typeface="Calibri" pitchFamily="34" charset="-120"/>
              </a:rPr>
              <a:t>HashPay is the ONLY platform delivering all 8 capabilities simultaneously. Competitors address 1–3; HashPay addresses all 8.</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Business Model</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Diversified revenue across consumer, enterprise, and Web3 markets</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5074920" cy="713232"/>
          </a:xfrm>
          <a:prstGeom prst="rect">
            <a:avLst/>
          </a:prstGeom>
          <a:solidFill>
            <a:srgbClr val="0D1E38"/>
          </a:solidFill>
          <a:ln/>
          <a:effectLst>
            <a:outerShdw blurRad="76200" dist="25400" dir="8100000" algn="bl" rotWithShape="0">
              <a:srgbClr val="000000">
                <a:alpha val="18000"/>
              </a:srgbClr>
            </a:outerShdw>
          </a:effectLst>
        </p:spPr>
      </p:sp>
      <p:sp>
        <p:nvSpPr>
          <p:cNvPr id="7" name="Shape 5"/>
          <p:cNvSpPr/>
          <p:nvPr/>
        </p:nvSpPr>
        <p:spPr>
          <a:xfrm>
            <a:off x="320040" y="1024128"/>
            <a:ext cx="64008" cy="713232"/>
          </a:xfrm>
          <a:prstGeom prst="rect">
            <a:avLst/>
          </a:prstGeom>
          <a:solidFill>
            <a:srgbClr val="00D4AA"/>
          </a:solidFill>
          <a:ln/>
        </p:spPr>
      </p:sp>
      <p:sp>
        <p:nvSpPr>
          <p:cNvPr id="8" name="Text 6"/>
          <p:cNvSpPr/>
          <p:nvPr/>
        </p:nvSpPr>
        <p:spPr>
          <a:xfrm>
            <a:off x="475488" y="1069848"/>
            <a:ext cx="658368" cy="621792"/>
          </a:xfrm>
          <a:prstGeom prst="rect">
            <a:avLst/>
          </a:prstGeom>
          <a:noFill/>
          <a:ln/>
        </p:spPr>
        <p:txBody>
          <a:bodyPr wrap="square" lIns="0" tIns="0" rIns="0" bIns="0" rtlCol="0" anchor="ctr"/>
          <a:lstStyle/>
          <a:p>
            <a:pPr marL="0" indent="0" algn="ctr">
              <a:buNone/>
            </a:pPr>
            <a:r>
              <a:rPr lang="en-US" sz="2000" b="1" dirty="0">
                <a:solidFill>
                  <a:srgbClr val="00D4AA"/>
                </a:solidFill>
                <a:latin typeface="Calibri" pitchFamily="34" charset="0"/>
                <a:ea typeface="Calibri" pitchFamily="34" charset="-122"/>
                <a:cs typeface="Calibri" pitchFamily="34" charset="-120"/>
              </a:rPr>
              <a:t>38%</a:t>
            </a:r>
            <a:endParaRPr lang="en-US" sz="2000" dirty="0"/>
          </a:p>
        </p:txBody>
      </p:sp>
      <p:sp>
        <p:nvSpPr>
          <p:cNvPr id="9" name="Text 7"/>
          <p:cNvSpPr/>
          <p:nvPr/>
        </p:nvSpPr>
        <p:spPr>
          <a:xfrm>
            <a:off x="1188720" y="1078992"/>
            <a:ext cx="411480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Transaction Processing Fees</a:t>
            </a:r>
            <a:endParaRPr lang="en-US" sz="1250" dirty="0"/>
          </a:p>
        </p:txBody>
      </p:sp>
      <p:sp>
        <p:nvSpPr>
          <p:cNvPr id="10" name="Text 8"/>
          <p:cNvSpPr/>
          <p:nvPr/>
        </p:nvSpPr>
        <p:spPr>
          <a:xfrm>
            <a:off x="1188720" y="1371600"/>
            <a:ext cx="4114800" cy="310896"/>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0.5–1% fee on every fiat-to-fiat, crypto-to-fiat, and fiat-to-crypto transfer. With $10B transaction volume by Year 5, this generates $50–100M in annual recurring revenue.</a:t>
            </a:r>
            <a:endParaRPr lang="en-US" sz="1000" dirty="0"/>
          </a:p>
        </p:txBody>
      </p:sp>
      <p:sp>
        <p:nvSpPr>
          <p:cNvPr id="11" name="Shape 9"/>
          <p:cNvSpPr/>
          <p:nvPr/>
        </p:nvSpPr>
        <p:spPr>
          <a:xfrm>
            <a:off x="320040" y="1828800"/>
            <a:ext cx="5074920" cy="713232"/>
          </a:xfrm>
          <a:prstGeom prst="rect">
            <a:avLst/>
          </a:prstGeom>
          <a:solidFill>
            <a:srgbClr val="0D1E38"/>
          </a:solidFill>
          <a:ln/>
          <a:effectLst>
            <a:outerShdw blurRad="76200" dist="25400" dir="8100000" algn="bl" rotWithShape="0">
              <a:srgbClr val="000000">
                <a:alpha val="18000"/>
              </a:srgbClr>
            </a:outerShdw>
          </a:effectLst>
        </p:spPr>
      </p:sp>
      <p:sp>
        <p:nvSpPr>
          <p:cNvPr id="12" name="Shape 10"/>
          <p:cNvSpPr/>
          <p:nvPr/>
        </p:nvSpPr>
        <p:spPr>
          <a:xfrm>
            <a:off x="320040" y="1828800"/>
            <a:ext cx="64008" cy="713232"/>
          </a:xfrm>
          <a:prstGeom prst="rect">
            <a:avLst/>
          </a:prstGeom>
          <a:solidFill>
            <a:srgbClr val="FFB800"/>
          </a:solidFill>
          <a:ln/>
        </p:spPr>
      </p:sp>
      <p:sp>
        <p:nvSpPr>
          <p:cNvPr id="13" name="Text 11"/>
          <p:cNvSpPr/>
          <p:nvPr/>
        </p:nvSpPr>
        <p:spPr>
          <a:xfrm>
            <a:off x="475488" y="1874520"/>
            <a:ext cx="658368" cy="621792"/>
          </a:xfrm>
          <a:prstGeom prst="rect">
            <a:avLst/>
          </a:prstGeom>
          <a:noFill/>
          <a:ln/>
        </p:spPr>
        <p:txBody>
          <a:bodyPr wrap="square" lIns="0" tIns="0" rIns="0" bIns="0" rtlCol="0" anchor="ctr"/>
          <a:lstStyle/>
          <a:p>
            <a:pPr marL="0" indent="0" algn="ctr">
              <a:buNone/>
            </a:pPr>
            <a:r>
              <a:rPr lang="en-US" sz="2000" b="1" dirty="0">
                <a:solidFill>
                  <a:srgbClr val="FFB800"/>
                </a:solidFill>
                <a:latin typeface="Calibri" pitchFamily="34" charset="0"/>
                <a:ea typeface="Calibri" pitchFamily="34" charset="-122"/>
                <a:cs typeface="Calibri" pitchFamily="34" charset="-120"/>
              </a:rPr>
              <a:t>22%</a:t>
            </a:r>
            <a:endParaRPr lang="en-US" sz="2000" dirty="0"/>
          </a:p>
        </p:txBody>
      </p:sp>
      <p:sp>
        <p:nvSpPr>
          <p:cNvPr id="14" name="Text 12"/>
          <p:cNvSpPr/>
          <p:nvPr/>
        </p:nvSpPr>
        <p:spPr>
          <a:xfrm>
            <a:off x="1188720" y="1883664"/>
            <a:ext cx="411480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Liquidity Provider Network</a:t>
            </a:r>
            <a:endParaRPr lang="en-US" sz="1250" dirty="0"/>
          </a:p>
        </p:txBody>
      </p:sp>
      <p:sp>
        <p:nvSpPr>
          <p:cNvPr id="15" name="Text 13"/>
          <p:cNvSpPr/>
          <p:nvPr/>
        </p:nvSpPr>
        <p:spPr>
          <a:xfrm>
            <a:off x="1188720" y="2176272"/>
            <a:ext cx="4114800" cy="310896"/>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Institutional banks, hedge funds, and fintech firms earn yield by funding HashPay liquidity pools. HashPay earns a participation fee on every pool transaction plus spread optimization.</a:t>
            </a:r>
            <a:endParaRPr lang="en-US" sz="1000" dirty="0"/>
          </a:p>
        </p:txBody>
      </p:sp>
      <p:sp>
        <p:nvSpPr>
          <p:cNvPr id="16" name="Shape 14"/>
          <p:cNvSpPr/>
          <p:nvPr/>
        </p:nvSpPr>
        <p:spPr>
          <a:xfrm>
            <a:off x="320040" y="2633472"/>
            <a:ext cx="5074920" cy="713232"/>
          </a:xfrm>
          <a:prstGeom prst="rect">
            <a:avLst/>
          </a:prstGeom>
          <a:solidFill>
            <a:srgbClr val="0D1E38"/>
          </a:solidFill>
          <a:ln/>
          <a:effectLst>
            <a:outerShdw blurRad="76200" dist="25400" dir="8100000" algn="bl" rotWithShape="0">
              <a:srgbClr val="000000">
                <a:alpha val="18000"/>
              </a:srgbClr>
            </a:outerShdw>
          </a:effectLst>
        </p:spPr>
      </p:sp>
      <p:sp>
        <p:nvSpPr>
          <p:cNvPr id="17" name="Shape 15"/>
          <p:cNvSpPr/>
          <p:nvPr/>
        </p:nvSpPr>
        <p:spPr>
          <a:xfrm>
            <a:off x="320040" y="2633472"/>
            <a:ext cx="64008" cy="713232"/>
          </a:xfrm>
          <a:prstGeom prst="rect">
            <a:avLst/>
          </a:prstGeom>
          <a:solidFill>
            <a:srgbClr val="F97316"/>
          </a:solidFill>
          <a:ln/>
        </p:spPr>
      </p:sp>
      <p:sp>
        <p:nvSpPr>
          <p:cNvPr id="18" name="Text 16"/>
          <p:cNvSpPr/>
          <p:nvPr/>
        </p:nvSpPr>
        <p:spPr>
          <a:xfrm>
            <a:off x="475488" y="2679192"/>
            <a:ext cx="658368" cy="621792"/>
          </a:xfrm>
          <a:prstGeom prst="rect">
            <a:avLst/>
          </a:prstGeom>
          <a:noFill/>
          <a:ln/>
        </p:spPr>
        <p:txBody>
          <a:bodyPr wrap="square" lIns="0" tIns="0" rIns="0" bIns="0" rtlCol="0" anchor="ctr"/>
          <a:lstStyle/>
          <a:p>
            <a:pPr marL="0" indent="0" algn="ctr">
              <a:buNone/>
            </a:pPr>
            <a:r>
              <a:rPr lang="en-US" sz="2000" b="1" dirty="0">
                <a:solidFill>
                  <a:srgbClr val="F97316"/>
                </a:solidFill>
                <a:latin typeface="Calibri" pitchFamily="34" charset="0"/>
                <a:ea typeface="Calibri" pitchFamily="34" charset="-122"/>
                <a:cs typeface="Calibri" pitchFamily="34" charset="-120"/>
              </a:rPr>
              <a:t>18%</a:t>
            </a:r>
            <a:endParaRPr lang="en-US" sz="2000" dirty="0"/>
          </a:p>
        </p:txBody>
      </p:sp>
      <p:sp>
        <p:nvSpPr>
          <p:cNvPr id="19" name="Text 17"/>
          <p:cNvSpPr/>
          <p:nvPr/>
        </p:nvSpPr>
        <p:spPr>
          <a:xfrm>
            <a:off x="1188720" y="2688336"/>
            <a:ext cx="411480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Enterprise Payment APIs</a:t>
            </a:r>
            <a:endParaRPr lang="en-US" sz="1250" dirty="0"/>
          </a:p>
        </p:txBody>
      </p:sp>
      <p:sp>
        <p:nvSpPr>
          <p:cNvPr id="20" name="Text 18"/>
          <p:cNvSpPr/>
          <p:nvPr/>
        </p:nvSpPr>
        <p:spPr>
          <a:xfrm>
            <a:off x="1188720" y="2980944"/>
            <a:ext cx="4114800" cy="310896"/>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Subscription + usage-based pricing for businesses embedding HashPay into their platforms. SMEs, e-commerce, logistics, and HR payroll platforms are primary targets.</a:t>
            </a:r>
            <a:endParaRPr lang="en-US" sz="1000" dirty="0"/>
          </a:p>
        </p:txBody>
      </p:sp>
      <p:sp>
        <p:nvSpPr>
          <p:cNvPr id="21" name="Shape 19"/>
          <p:cNvSpPr/>
          <p:nvPr/>
        </p:nvSpPr>
        <p:spPr>
          <a:xfrm>
            <a:off x="320040" y="3438144"/>
            <a:ext cx="5074920" cy="713232"/>
          </a:xfrm>
          <a:prstGeom prst="rect">
            <a:avLst/>
          </a:prstGeom>
          <a:solidFill>
            <a:srgbClr val="0D1E38"/>
          </a:solidFill>
          <a:ln/>
          <a:effectLst>
            <a:outerShdw blurRad="76200" dist="25400" dir="8100000" algn="bl" rotWithShape="0">
              <a:srgbClr val="000000">
                <a:alpha val="18000"/>
              </a:srgbClr>
            </a:outerShdw>
          </a:effectLst>
        </p:spPr>
      </p:sp>
      <p:sp>
        <p:nvSpPr>
          <p:cNvPr id="22" name="Shape 20"/>
          <p:cNvSpPr/>
          <p:nvPr/>
        </p:nvSpPr>
        <p:spPr>
          <a:xfrm>
            <a:off x="320040" y="3438144"/>
            <a:ext cx="64008" cy="713232"/>
          </a:xfrm>
          <a:prstGeom prst="rect">
            <a:avLst/>
          </a:prstGeom>
          <a:solidFill>
            <a:srgbClr val="7C3AED"/>
          </a:solidFill>
          <a:ln/>
        </p:spPr>
      </p:sp>
      <p:sp>
        <p:nvSpPr>
          <p:cNvPr id="23" name="Text 21"/>
          <p:cNvSpPr/>
          <p:nvPr/>
        </p:nvSpPr>
        <p:spPr>
          <a:xfrm>
            <a:off x="475488" y="3483864"/>
            <a:ext cx="658368" cy="621792"/>
          </a:xfrm>
          <a:prstGeom prst="rect">
            <a:avLst/>
          </a:prstGeom>
          <a:noFill/>
          <a:ln/>
        </p:spPr>
        <p:txBody>
          <a:bodyPr wrap="square" lIns="0" tIns="0" rIns="0" bIns="0" rtlCol="0" anchor="ctr"/>
          <a:lstStyle/>
          <a:p>
            <a:pPr marL="0" indent="0" algn="ctr">
              <a:buNone/>
            </a:pPr>
            <a:r>
              <a:rPr lang="en-US" sz="2000" b="1" dirty="0">
                <a:solidFill>
                  <a:srgbClr val="7C3AED"/>
                </a:solidFill>
                <a:latin typeface="Calibri" pitchFamily="34" charset="0"/>
                <a:ea typeface="Calibri" pitchFamily="34" charset="-122"/>
                <a:cs typeface="Calibri" pitchFamily="34" charset="-120"/>
              </a:rPr>
              <a:t>12%</a:t>
            </a:r>
            <a:endParaRPr lang="en-US" sz="2000" dirty="0"/>
          </a:p>
        </p:txBody>
      </p:sp>
      <p:sp>
        <p:nvSpPr>
          <p:cNvPr id="24" name="Text 22"/>
          <p:cNvSpPr/>
          <p:nvPr/>
        </p:nvSpPr>
        <p:spPr>
          <a:xfrm>
            <a:off x="1188720" y="3493008"/>
            <a:ext cx="411480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Web3 On/Off-Ramp Services</a:t>
            </a:r>
            <a:endParaRPr lang="en-US" sz="1250" dirty="0"/>
          </a:p>
        </p:txBody>
      </p:sp>
      <p:sp>
        <p:nvSpPr>
          <p:cNvPr id="25" name="Text 23"/>
          <p:cNvSpPr/>
          <p:nvPr/>
        </p:nvSpPr>
        <p:spPr>
          <a:xfrm>
            <a:off x="1188720" y="3785616"/>
            <a:ext cx="4114800" cy="310896"/>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Fee on every crypto conversion. With $27.6T in stablecoin volume in 2024, even a 0.1% capture represents a massive opportunity. Growing at 40%+ annually.</a:t>
            </a:r>
            <a:endParaRPr lang="en-US" sz="1000" dirty="0"/>
          </a:p>
        </p:txBody>
      </p:sp>
      <p:sp>
        <p:nvSpPr>
          <p:cNvPr id="26" name="Shape 24"/>
          <p:cNvSpPr/>
          <p:nvPr/>
        </p:nvSpPr>
        <p:spPr>
          <a:xfrm>
            <a:off x="320040" y="4242816"/>
            <a:ext cx="5074920" cy="713232"/>
          </a:xfrm>
          <a:prstGeom prst="rect">
            <a:avLst/>
          </a:prstGeom>
          <a:solidFill>
            <a:srgbClr val="0D1E38"/>
          </a:solidFill>
          <a:ln/>
          <a:effectLst>
            <a:outerShdw blurRad="76200" dist="25400" dir="8100000" algn="bl" rotWithShape="0">
              <a:srgbClr val="000000">
                <a:alpha val="18000"/>
              </a:srgbClr>
            </a:outerShdw>
          </a:effectLst>
        </p:spPr>
      </p:sp>
      <p:sp>
        <p:nvSpPr>
          <p:cNvPr id="27" name="Shape 25"/>
          <p:cNvSpPr/>
          <p:nvPr/>
        </p:nvSpPr>
        <p:spPr>
          <a:xfrm>
            <a:off x="320040" y="4242816"/>
            <a:ext cx="64008" cy="713232"/>
          </a:xfrm>
          <a:prstGeom prst="rect">
            <a:avLst/>
          </a:prstGeom>
          <a:solidFill>
            <a:srgbClr val="8B5CF6"/>
          </a:solidFill>
          <a:ln/>
        </p:spPr>
      </p:sp>
      <p:sp>
        <p:nvSpPr>
          <p:cNvPr id="28" name="Text 26"/>
          <p:cNvSpPr/>
          <p:nvPr/>
        </p:nvSpPr>
        <p:spPr>
          <a:xfrm>
            <a:off x="475488" y="4288536"/>
            <a:ext cx="658368" cy="621792"/>
          </a:xfrm>
          <a:prstGeom prst="rect">
            <a:avLst/>
          </a:prstGeom>
          <a:noFill/>
          <a:ln/>
        </p:spPr>
        <p:txBody>
          <a:bodyPr wrap="square" lIns="0" tIns="0" rIns="0" bIns="0" rtlCol="0" anchor="ctr"/>
          <a:lstStyle/>
          <a:p>
            <a:pPr marL="0" indent="0" algn="ctr">
              <a:buNone/>
            </a:pPr>
            <a:r>
              <a:rPr lang="en-US" sz="2000" b="1" dirty="0">
                <a:solidFill>
                  <a:srgbClr val="8B5CF6"/>
                </a:solidFill>
                <a:latin typeface="Calibri" pitchFamily="34" charset="0"/>
                <a:ea typeface="Calibri" pitchFamily="34" charset="-122"/>
                <a:cs typeface="Calibri" pitchFamily="34" charset="-120"/>
              </a:rPr>
              <a:t>10%</a:t>
            </a:r>
            <a:endParaRPr lang="en-US" sz="2000" dirty="0"/>
          </a:p>
        </p:txBody>
      </p:sp>
      <p:sp>
        <p:nvSpPr>
          <p:cNvPr id="29" name="Text 27"/>
          <p:cNvSpPr/>
          <p:nvPr/>
        </p:nvSpPr>
        <p:spPr>
          <a:xfrm>
            <a:off x="1188720" y="4297680"/>
            <a:ext cx="411480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Treasury &amp; FX Services</a:t>
            </a:r>
            <a:endParaRPr lang="en-US" sz="1250" dirty="0"/>
          </a:p>
        </p:txBody>
      </p:sp>
      <p:sp>
        <p:nvSpPr>
          <p:cNvPr id="30" name="Text 28"/>
          <p:cNvSpPr/>
          <p:nvPr/>
        </p:nvSpPr>
        <p:spPr>
          <a:xfrm>
            <a:off x="1188720" y="4590288"/>
            <a:ext cx="4114800" cy="310896"/>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International businesses pay a subscription for HashPay's treasury optimization, multi-currency accounts, and real-time FX hedging tools. High-margin, sticky revenue.</a:t>
            </a:r>
            <a:endParaRPr lang="en-US" sz="1000" dirty="0"/>
          </a:p>
        </p:txBody>
      </p:sp>
      <p:graphicFrame>
        <p:nvGraphicFramePr>
          <p:cNvPr id="31" name="Chart 0"/>
          <p:cNvGraphicFramePr/>
          <p:nvPr/>
        </p:nvGraphicFramePr>
        <p:xfrm>
          <a:off x="5577840" y="1005840"/>
          <a:ext cx="3246120" cy="3154680"/>
        </p:xfrm>
        <a:graphic>
          <a:graphicData uri="http://schemas.openxmlformats.org/drawingml/2006/chart">
            <c:chart xmlns:c="http://schemas.openxmlformats.org/drawingml/2006/chart" xmlns:r="http://schemas.openxmlformats.org/officeDocument/2006/relationships" r:id="rId3"/>
          </a:graphicData>
        </a:graphic>
      </p:graphicFrame>
      <p:sp>
        <p:nvSpPr>
          <p:cNvPr id="32" name="Shape 29"/>
          <p:cNvSpPr/>
          <p:nvPr/>
        </p:nvSpPr>
        <p:spPr>
          <a:xfrm>
            <a:off x="5577840" y="4279392"/>
            <a:ext cx="3246120" cy="713232"/>
          </a:xfrm>
          <a:prstGeom prst="rect">
            <a:avLst/>
          </a:prstGeom>
          <a:solidFill>
            <a:srgbClr val="0A1E14"/>
          </a:solidFill>
          <a:ln/>
          <a:effectLst>
            <a:outerShdw blurRad="76200" dist="25400" dir="8100000" algn="bl" rotWithShape="0">
              <a:srgbClr val="000000">
                <a:alpha val="18000"/>
              </a:srgbClr>
            </a:outerShdw>
          </a:effectLst>
        </p:spPr>
      </p:sp>
      <p:sp>
        <p:nvSpPr>
          <p:cNvPr id="33" name="Text 30"/>
          <p:cNvSpPr/>
          <p:nvPr/>
        </p:nvSpPr>
        <p:spPr>
          <a:xfrm>
            <a:off x="5577840" y="4334256"/>
            <a:ext cx="3246120" cy="603504"/>
          </a:xfrm>
          <a:prstGeom prst="rect">
            <a:avLst/>
          </a:prstGeom>
          <a:noFill/>
          <a:ln/>
        </p:spPr>
        <p:txBody>
          <a:bodyPr wrap="square" lIns="0" tIns="0" rIns="0" bIns="0" rtlCol="0" anchor="ctr"/>
          <a:lstStyle/>
          <a:p>
            <a:pPr marL="0" indent="0" algn="ctr">
              <a:buNone/>
            </a:pPr>
            <a:r>
              <a:rPr lang="en-US" sz="1200" b="1" dirty="0">
                <a:solidFill>
                  <a:srgbClr val="00D4AA"/>
                </a:solidFill>
                <a:latin typeface="Calibri" pitchFamily="34" charset="0"/>
                <a:ea typeface="Calibri" pitchFamily="34" charset="-122"/>
                <a:cs typeface="Calibri" pitchFamily="34" charset="-120"/>
              </a:rPr>
              <a:t>Average Blended Fee: 0.7%</a:t>
            </a:r>
            <a:endParaRPr lang="en-US" sz="1200" dirty="0"/>
          </a:p>
          <a:p>
            <a:pPr marL="0" indent="0" algn="ctr">
              <a:buNone/>
            </a:pPr>
            <a:r>
              <a:rPr lang="en-US" sz="1200" b="1" dirty="0">
                <a:solidFill>
                  <a:srgbClr val="00D4AA"/>
                </a:solidFill>
                <a:latin typeface="Calibri" pitchFamily="34" charset="0"/>
                <a:ea typeface="Calibri" pitchFamily="34" charset="-122"/>
                <a:cs typeface="Calibri" pitchFamily="34" charset="-120"/>
              </a:rPr>
              <a:t>Revenue scales linearly with volume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Financial Projections</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Conservative estimates based on 0.7% blended fee — built on market-validated assumptions</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8503920" cy="530352"/>
          </a:xfrm>
          <a:prstGeom prst="rect">
            <a:avLst/>
          </a:prstGeom>
          <a:solidFill>
            <a:srgbClr val="0D1E38"/>
          </a:solidFill>
          <a:ln/>
          <a:effectLst>
            <a:outerShdw blurRad="76200" dist="25400" dir="8100000" algn="bl" rotWithShape="0">
              <a:srgbClr val="000000">
                <a:alpha val="18000"/>
              </a:srgbClr>
            </a:outerShdw>
          </a:effectLst>
        </p:spPr>
      </p:sp>
      <p:sp>
        <p:nvSpPr>
          <p:cNvPr id="7" name="Shape 5"/>
          <p:cNvSpPr/>
          <p:nvPr/>
        </p:nvSpPr>
        <p:spPr>
          <a:xfrm>
            <a:off x="320040" y="1024128"/>
            <a:ext cx="73152" cy="530352"/>
          </a:xfrm>
          <a:prstGeom prst="rect">
            <a:avLst/>
          </a:prstGeom>
          <a:solidFill>
            <a:srgbClr val="FFB800"/>
          </a:solidFill>
          <a:ln/>
        </p:spPr>
      </p:sp>
      <p:sp>
        <p:nvSpPr>
          <p:cNvPr id="8" name="Text 6"/>
          <p:cNvSpPr/>
          <p:nvPr/>
        </p:nvSpPr>
        <p:spPr>
          <a:xfrm>
            <a:off x="493776" y="1097280"/>
            <a:ext cx="8229600" cy="384048"/>
          </a:xfrm>
          <a:prstGeom prst="rect">
            <a:avLst/>
          </a:prstGeom>
          <a:noFill/>
          <a:ln/>
        </p:spPr>
        <p:txBody>
          <a:bodyPr wrap="square" lIns="0" tIns="0" rIns="0" bIns="0" rtlCol="0" anchor="ctr"/>
          <a:lstStyle/>
          <a:p>
            <a:pPr marL="0" indent="0">
              <a:buNone/>
            </a:pPr>
            <a:r>
              <a:rPr lang="en-US" sz="1100" dirty="0">
                <a:solidFill>
                  <a:srgbClr val="8899A6"/>
                </a:solidFill>
                <a:latin typeface="Calibri" pitchFamily="34" charset="0"/>
                <a:ea typeface="Calibri" pitchFamily="34" charset="-122"/>
                <a:cs typeface="Calibri" pitchFamily="34" charset="-120"/>
              </a:rPr>
              <a:t>💡  Assumption: Even capturing 0.005% of the $194 trillion global cross-border market by Year 5 = $10 billion in transaction volume. Revenue at 0.7% = $70M.</a:t>
            </a:r>
            <a:endParaRPr lang="en-US" sz="1100" dirty="0"/>
          </a:p>
        </p:txBody>
      </p:sp>
      <p:graphicFrame>
        <p:nvGraphicFramePr>
          <p:cNvPr id="9" name="Chart 0"/>
          <p:cNvGraphicFramePr/>
          <p:nvPr/>
        </p:nvGraphicFramePr>
        <p:xfrm>
          <a:off x="320040" y="1691640"/>
          <a:ext cx="5120640" cy="2423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1"/>
          <p:cNvGraphicFramePr/>
          <p:nvPr/>
        </p:nvGraphicFramePr>
        <p:xfrm>
          <a:off x="5577840" y="1691640"/>
          <a:ext cx="3246120" cy="242316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320040" y="4224528"/>
            <a:ext cx="2011680" cy="822960"/>
          </a:xfrm>
          <a:prstGeom prst="rect">
            <a:avLst/>
          </a:prstGeom>
          <a:solidFill>
            <a:srgbClr val="0D1E38"/>
          </a:solidFill>
          <a:ln/>
          <a:effectLst>
            <a:outerShdw blurRad="76200" dist="25400" dir="8100000" algn="bl" rotWithShape="0">
              <a:srgbClr val="000000">
                <a:alpha val="18000"/>
              </a:srgbClr>
            </a:outerShdw>
          </a:effectLst>
        </p:spPr>
      </p:sp>
      <p:sp>
        <p:nvSpPr>
          <p:cNvPr id="12" name="Shape 8"/>
          <p:cNvSpPr/>
          <p:nvPr/>
        </p:nvSpPr>
        <p:spPr>
          <a:xfrm>
            <a:off x="320040" y="4224528"/>
            <a:ext cx="2011680" cy="54864"/>
          </a:xfrm>
          <a:prstGeom prst="rect">
            <a:avLst/>
          </a:prstGeom>
          <a:solidFill>
            <a:srgbClr val="00D4AA"/>
          </a:solidFill>
          <a:ln/>
        </p:spPr>
      </p:sp>
      <p:sp>
        <p:nvSpPr>
          <p:cNvPr id="13" name="Text 9"/>
          <p:cNvSpPr/>
          <p:nvPr/>
        </p:nvSpPr>
        <p:spPr>
          <a:xfrm>
            <a:off x="320040" y="4279392"/>
            <a:ext cx="640080" cy="713232"/>
          </a:xfrm>
          <a:prstGeom prst="rect">
            <a:avLst/>
          </a:prstGeom>
          <a:noFill/>
          <a:ln/>
        </p:spPr>
        <p:txBody>
          <a:bodyPr wrap="square" lIns="0" tIns="0" rIns="0" bIns="0" rtlCol="0" anchor="ctr"/>
          <a:lstStyle/>
          <a:p>
            <a:pPr marL="0" indent="0" algn="ctr">
              <a:buNone/>
            </a:pPr>
            <a:r>
              <a:rPr lang="en-US" sz="1800" b="1" dirty="0">
                <a:solidFill>
                  <a:srgbClr val="00D4AA"/>
                </a:solidFill>
                <a:latin typeface="Calibri" pitchFamily="34" charset="0"/>
                <a:ea typeface="Calibri" pitchFamily="34" charset="-122"/>
                <a:cs typeface="Calibri" pitchFamily="34" charset="-120"/>
              </a:rPr>
              <a:t>Y1</a:t>
            </a:r>
            <a:endParaRPr lang="en-US" sz="1800" dirty="0"/>
          </a:p>
        </p:txBody>
      </p:sp>
      <p:sp>
        <p:nvSpPr>
          <p:cNvPr id="14" name="Text 10"/>
          <p:cNvSpPr/>
          <p:nvPr/>
        </p:nvSpPr>
        <p:spPr>
          <a:xfrm>
            <a:off x="978408" y="4297680"/>
            <a:ext cx="1280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Vol: $20M</a:t>
            </a:r>
            <a:endParaRPr lang="en-US" sz="1100" dirty="0"/>
          </a:p>
        </p:txBody>
      </p:sp>
      <p:sp>
        <p:nvSpPr>
          <p:cNvPr id="15" name="Text 11"/>
          <p:cNvSpPr/>
          <p:nvPr/>
        </p:nvSpPr>
        <p:spPr>
          <a:xfrm>
            <a:off x="978408" y="4562856"/>
            <a:ext cx="1280160" cy="237744"/>
          </a:xfrm>
          <a:prstGeom prst="rect">
            <a:avLst/>
          </a:prstGeom>
          <a:noFill/>
          <a:ln/>
        </p:spPr>
        <p:txBody>
          <a:bodyPr wrap="square" lIns="0" tIns="0" rIns="0" bIns="0" rtlCol="0" anchor="ctr"/>
          <a:lstStyle/>
          <a:p>
            <a:pPr marL="0" indent="0">
              <a:buNone/>
            </a:pPr>
            <a:r>
              <a:rPr lang="en-US" sz="1000" dirty="0">
                <a:solidFill>
                  <a:srgbClr val="00D4AA"/>
                </a:solidFill>
                <a:latin typeface="Calibri" pitchFamily="34" charset="0"/>
                <a:ea typeface="Calibri" pitchFamily="34" charset="-122"/>
                <a:cs typeface="Calibri" pitchFamily="34" charset="-120"/>
              </a:rPr>
              <a:t>Rev: $0.14M</a:t>
            </a:r>
            <a:endParaRPr lang="en-US" sz="1000" dirty="0"/>
          </a:p>
        </p:txBody>
      </p:sp>
      <p:sp>
        <p:nvSpPr>
          <p:cNvPr id="16" name="Shape 12"/>
          <p:cNvSpPr/>
          <p:nvPr/>
        </p:nvSpPr>
        <p:spPr>
          <a:xfrm>
            <a:off x="2496312" y="4224528"/>
            <a:ext cx="2011680" cy="822960"/>
          </a:xfrm>
          <a:prstGeom prst="rect">
            <a:avLst/>
          </a:prstGeom>
          <a:solidFill>
            <a:srgbClr val="0D1E38"/>
          </a:solidFill>
          <a:ln/>
          <a:effectLst>
            <a:outerShdw blurRad="76200" dist="25400" dir="8100000" algn="bl" rotWithShape="0">
              <a:srgbClr val="000000">
                <a:alpha val="18000"/>
              </a:srgbClr>
            </a:outerShdw>
          </a:effectLst>
        </p:spPr>
      </p:sp>
      <p:sp>
        <p:nvSpPr>
          <p:cNvPr id="17" name="Shape 13"/>
          <p:cNvSpPr/>
          <p:nvPr/>
        </p:nvSpPr>
        <p:spPr>
          <a:xfrm>
            <a:off x="2496312" y="4224528"/>
            <a:ext cx="2011680" cy="54864"/>
          </a:xfrm>
          <a:prstGeom prst="rect">
            <a:avLst/>
          </a:prstGeom>
          <a:solidFill>
            <a:srgbClr val="14B8A6"/>
          </a:solidFill>
          <a:ln/>
        </p:spPr>
      </p:sp>
      <p:sp>
        <p:nvSpPr>
          <p:cNvPr id="18" name="Text 14"/>
          <p:cNvSpPr/>
          <p:nvPr/>
        </p:nvSpPr>
        <p:spPr>
          <a:xfrm>
            <a:off x="2496312" y="4279392"/>
            <a:ext cx="640080" cy="713232"/>
          </a:xfrm>
          <a:prstGeom prst="rect">
            <a:avLst/>
          </a:prstGeom>
          <a:noFill/>
          <a:ln/>
        </p:spPr>
        <p:txBody>
          <a:bodyPr wrap="square" lIns="0" tIns="0" rIns="0" bIns="0" rtlCol="0" anchor="ctr"/>
          <a:lstStyle/>
          <a:p>
            <a:pPr marL="0" indent="0" algn="ctr">
              <a:buNone/>
            </a:pPr>
            <a:r>
              <a:rPr lang="en-US" sz="1800" b="1" dirty="0">
                <a:solidFill>
                  <a:srgbClr val="14B8A6"/>
                </a:solidFill>
                <a:latin typeface="Calibri" pitchFamily="34" charset="0"/>
                <a:ea typeface="Calibri" pitchFamily="34" charset="-122"/>
                <a:cs typeface="Calibri" pitchFamily="34" charset="-120"/>
              </a:rPr>
              <a:t>Y2</a:t>
            </a:r>
            <a:endParaRPr lang="en-US" sz="1800" dirty="0"/>
          </a:p>
        </p:txBody>
      </p:sp>
      <p:sp>
        <p:nvSpPr>
          <p:cNvPr id="19" name="Text 15"/>
          <p:cNvSpPr/>
          <p:nvPr/>
        </p:nvSpPr>
        <p:spPr>
          <a:xfrm>
            <a:off x="3154680" y="4297680"/>
            <a:ext cx="1280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Vol: $150M</a:t>
            </a:r>
            <a:endParaRPr lang="en-US" sz="1100" dirty="0"/>
          </a:p>
        </p:txBody>
      </p:sp>
      <p:sp>
        <p:nvSpPr>
          <p:cNvPr id="20" name="Text 16"/>
          <p:cNvSpPr/>
          <p:nvPr/>
        </p:nvSpPr>
        <p:spPr>
          <a:xfrm>
            <a:off x="3154680" y="4562856"/>
            <a:ext cx="1280160" cy="237744"/>
          </a:xfrm>
          <a:prstGeom prst="rect">
            <a:avLst/>
          </a:prstGeom>
          <a:noFill/>
          <a:ln/>
        </p:spPr>
        <p:txBody>
          <a:bodyPr wrap="square" lIns="0" tIns="0" rIns="0" bIns="0" rtlCol="0" anchor="ctr"/>
          <a:lstStyle/>
          <a:p>
            <a:pPr marL="0" indent="0">
              <a:buNone/>
            </a:pPr>
            <a:r>
              <a:rPr lang="en-US" sz="1000" dirty="0">
                <a:solidFill>
                  <a:srgbClr val="14B8A6"/>
                </a:solidFill>
                <a:latin typeface="Calibri" pitchFamily="34" charset="0"/>
                <a:ea typeface="Calibri" pitchFamily="34" charset="-122"/>
                <a:cs typeface="Calibri" pitchFamily="34" charset="-120"/>
              </a:rPr>
              <a:t>Rev: $1.05M</a:t>
            </a:r>
            <a:endParaRPr lang="en-US" sz="1000" dirty="0"/>
          </a:p>
        </p:txBody>
      </p:sp>
      <p:sp>
        <p:nvSpPr>
          <p:cNvPr id="21" name="Shape 17"/>
          <p:cNvSpPr/>
          <p:nvPr/>
        </p:nvSpPr>
        <p:spPr>
          <a:xfrm>
            <a:off x="4672584" y="4224528"/>
            <a:ext cx="2011680" cy="822960"/>
          </a:xfrm>
          <a:prstGeom prst="rect">
            <a:avLst/>
          </a:prstGeom>
          <a:solidFill>
            <a:srgbClr val="0D1E38"/>
          </a:solidFill>
          <a:ln/>
          <a:effectLst>
            <a:outerShdw blurRad="76200" dist="25400" dir="8100000" algn="bl" rotWithShape="0">
              <a:srgbClr val="000000">
                <a:alpha val="18000"/>
              </a:srgbClr>
            </a:outerShdw>
          </a:effectLst>
        </p:spPr>
      </p:sp>
      <p:sp>
        <p:nvSpPr>
          <p:cNvPr id="22" name="Shape 18"/>
          <p:cNvSpPr/>
          <p:nvPr/>
        </p:nvSpPr>
        <p:spPr>
          <a:xfrm>
            <a:off x="4672584" y="4224528"/>
            <a:ext cx="2011680" cy="54864"/>
          </a:xfrm>
          <a:prstGeom prst="rect">
            <a:avLst/>
          </a:prstGeom>
          <a:solidFill>
            <a:srgbClr val="FFB800"/>
          </a:solidFill>
          <a:ln/>
        </p:spPr>
      </p:sp>
      <p:sp>
        <p:nvSpPr>
          <p:cNvPr id="23" name="Text 19"/>
          <p:cNvSpPr/>
          <p:nvPr/>
        </p:nvSpPr>
        <p:spPr>
          <a:xfrm>
            <a:off x="4672584" y="4279392"/>
            <a:ext cx="640080" cy="713232"/>
          </a:xfrm>
          <a:prstGeom prst="rect">
            <a:avLst/>
          </a:prstGeom>
          <a:noFill/>
          <a:ln/>
        </p:spPr>
        <p:txBody>
          <a:bodyPr wrap="square" lIns="0" tIns="0" rIns="0" bIns="0" rtlCol="0" anchor="ctr"/>
          <a:lstStyle/>
          <a:p>
            <a:pPr marL="0" indent="0" algn="ctr">
              <a:buNone/>
            </a:pPr>
            <a:r>
              <a:rPr lang="en-US" sz="1800" b="1" dirty="0">
                <a:solidFill>
                  <a:srgbClr val="FFB800"/>
                </a:solidFill>
                <a:latin typeface="Calibri" pitchFamily="34" charset="0"/>
                <a:ea typeface="Calibri" pitchFamily="34" charset="-122"/>
                <a:cs typeface="Calibri" pitchFamily="34" charset="-120"/>
              </a:rPr>
              <a:t>Y3</a:t>
            </a:r>
            <a:endParaRPr lang="en-US" sz="1800" dirty="0"/>
          </a:p>
        </p:txBody>
      </p:sp>
      <p:sp>
        <p:nvSpPr>
          <p:cNvPr id="24" name="Text 20"/>
          <p:cNvSpPr/>
          <p:nvPr/>
        </p:nvSpPr>
        <p:spPr>
          <a:xfrm>
            <a:off x="5330952" y="4297680"/>
            <a:ext cx="1280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Vol: $1B</a:t>
            </a:r>
            <a:endParaRPr lang="en-US" sz="1100" dirty="0"/>
          </a:p>
        </p:txBody>
      </p:sp>
      <p:sp>
        <p:nvSpPr>
          <p:cNvPr id="25" name="Text 21"/>
          <p:cNvSpPr/>
          <p:nvPr/>
        </p:nvSpPr>
        <p:spPr>
          <a:xfrm>
            <a:off x="5330952" y="4562856"/>
            <a:ext cx="1280160" cy="237744"/>
          </a:xfrm>
          <a:prstGeom prst="rect">
            <a:avLst/>
          </a:prstGeom>
          <a:noFill/>
          <a:ln/>
        </p:spPr>
        <p:txBody>
          <a:bodyPr wrap="square" lIns="0" tIns="0" rIns="0" bIns="0" rtlCol="0" anchor="ctr"/>
          <a:lstStyle/>
          <a:p>
            <a:pPr marL="0" indent="0">
              <a:buNone/>
            </a:pPr>
            <a:r>
              <a:rPr lang="en-US" sz="1000" dirty="0">
                <a:solidFill>
                  <a:srgbClr val="FFB800"/>
                </a:solidFill>
                <a:latin typeface="Calibri" pitchFamily="34" charset="0"/>
                <a:ea typeface="Calibri" pitchFamily="34" charset="-122"/>
                <a:cs typeface="Calibri" pitchFamily="34" charset="-120"/>
              </a:rPr>
              <a:t>Rev: $7M</a:t>
            </a:r>
            <a:endParaRPr lang="en-US" sz="1000" dirty="0"/>
          </a:p>
        </p:txBody>
      </p:sp>
      <p:sp>
        <p:nvSpPr>
          <p:cNvPr id="26" name="Shape 22"/>
          <p:cNvSpPr/>
          <p:nvPr/>
        </p:nvSpPr>
        <p:spPr>
          <a:xfrm>
            <a:off x="6848856" y="4224528"/>
            <a:ext cx="2011680" cy="822960"/>
          </a:xfrm>
          <a:prstGeom prst="rect">
            <a:avLst/>
          </a:prstGeom>
          <a:solidFill>
            <a:srgbClr val="0D1E38"/>
          </a:solidFill>
          <a:ln/>
          <a:effectLst>
            <a:outerShdw blurRad="76200" dist="25400" dir="8100000" algn="bl" rotWithShape="0">
              <a:srgbClr val="000000">
                <a:alpha val="18000"/>
              </a:srgbClr>
            </a:outerShdw>
          </a:effectLst>
        </p:spPr>
      </p:sp>
      <p:sp>
        <p:nvSpPr>
          <p:cNvPr id="27" name="Shape 23"/>
          <p:cNvSpPr/>
          <p:nvPr/>
        </p:nvSpPr>
        <p:spPr>
          <a:xfrm>
            <a:off x="6848856" y="4224528"/>
            <a:ext cx="2011680" cy="54864"/>
          </a:xfrm>
          <a:prstGeom prst="rect">
            <a:avLst/>
          </a:prstGeom>
          <a:solidFill>
            <a:srgbClr val="F97316"/>
          </a:solidFill>
          <a:ln/>
        </p:spPr>
      </p:sp>
      <p:sp>
        <p:nvSpPr>
          <p:cNvPr id="28" name="Text 24"/>
          <p:cNvSpPr/>
          <p:nvPr/>
        </p:nvSpPr>
        <p:spPr>
          <a:xfrm>
            <a:off x="6848856" y="4279392"/>
            <a:ext cx="640080" cy="713232"/>
          </a:xfrm>
          <a:prstGeom prst="rect">
            <a:avLst/>
          </a:prstGeom>
          <a:noFill/>
          <a:ln/>
        </p:spPr>
        <p:txBody>
          <a:bodyPr wrap="square" lIns="0" tIns="0" rIns="0" bIns="0" rtlCol="0" anchor="ctr"/>
          <a:lstStyle/>
          <a:p>
            <a:pPr marL="0" indent="0" algn="ctr">
              <a:buNone/>
            </a:pPr>
            <a:r>
              <a:rPr lang="en-US" sz="1800" b="1" dirty="0">
                <a:solidFill>
                  <a:srgbClr val="F97316"/>
                </a:solidFill>
                <a:latin typeface="Calibri" pitchFamily="34" charset="0"/>
                <a:ea typeface="Calibri" pitchFamily="34" charset="-122"/>
                <a:cs typeface="Calibri" pitchFamily="34" charset="-120"/>
              </a:rPr>
              <a:t>Y5</a:t>
            </a:r>
            <a:endParaRPr lang="en-US" sz="1800" dirty="0"/>
          </a:p>
        </p:txBody>
      </p:sp>
      <p:sp>
        <p:nvSpPr>
          <p:cNvPr id="29" name="Text 25"/>
          <p:cNvSpPr/>
          <p:nvPr/>
        </p:nvSpPr>
        <p:spPr>
          <a:xfrm>
            <a:off x="7507224" y="4297680"/>
            <a:ext cx="1280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Vol: $10B</a:t>
            </a:r>
            <a:endParaRPr lang="en-US" sz="1100" dirty="0"/>
          </a:p>
        </p:txBody>
      </p:sp>
      <p:sp>
        <p:nvSpPr>
          <p:cNvPr id="30" name="Text 26"/>
          <p:cNvSpPr/>
          <p:nvPr/>
        </p:nvSpPr>
        <p:spPr>
          <a:xfrm>
            <a:off x="7507224" y="4562856"/>
            <a:ext cx="1280160" cy="237744"/>
          </a:xfrm>
          <a:prstGeom prst="rect">
            <a:avLst/>
          </a:prstGeom>
          <a:noFill/>
          <a:ln/>
        </p:spPr>
        <p:txBody>
          <a:bodyPr wrap="square" lIns="0" tIns="0" rIns="0" bIns="0" rtlCol="0" anchor="ctr"/>
          <a:lstStyle/>
          <a:p>
            <a:pPr marL="0" indent="0">
              <a:buNone/>
            </a:pPr>
            <a:r>
              <a:rPr lang="en-US" sz="1000" dirty="0">
                <a:solidFill>
                  <a:srgbClr val="F97316"/>
                </a:solidFill>
                <a:latin typeface="Calibri" pitchFamily="34" charset="0"/>
                <a:ea typeface="Calibri" pitchFamily="34" charset="-122"/>
                <a:cs typeface="Calibri" pitchFamily="34" charset="-120"/>
              </a:rPr>
              <a:t>Rev: $70M</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Go-To-Market Strategy</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Launching in the world's highest-friction, highest-need payment corridors</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8503920" cy="859536"/>
          </a:xfrm>
          <a:prstGeom prst="rect">
            <a:avLst/>
          </a:prstGeom>
          <a:solidFill>
            <a:srgbClr val="0D1E38"/>
          </a:solidFill>
          <a:ln/>
          <a:effectLst>
            <a:outerShdw blurRad="76200" dist="25400" dir="8100000" algn="bl" rotWithShape="0">
              <a:srgbClr val="000000">
                <a:alpha val="18000"/>
              </a:srgbClr>
            </a:outerShdw>
          </a:effectLst>
        </p:spPr>
      </p:sp>
      <p:sp>
        <p:nvSpPr>
          <p:cNvPr id="7" name="Shape 5"/>
          <p:cNvSpPr/>
          <p:nvPr/>
        </p:nvSpPr>
        <p:spPr>
          <a:xfrm>
            <a:off x="320040" y="1024128"/>
            <a:ext cx="64008" cy="859536"/>
          </a:xfrm>
          <a:prstGeom prst="rect">
            <a:avLst/>
          </a:prstGeom>
          <a:solidFill>
            <a:srgbClr val="00D4AA"/>
          </a:solidFill>
          <a:ln/>
        </p:spPr>
      </p:sp>
      <p:sp>
        <p:nvSpPr>
          <p:cNvPr id="8" name="Text 6"/>
          <p:cNvSpPr/>
          <p:nvPr/>
        </p:nvSpPr>
        <p:spPr>
          <a:xfrm>
            <a:off x="475488" y="1060704"/>
            <a:ext cx="2011680" cy="256032"/>
          </a:xfrm>
          <a:prstGeom prst="rect">
            <a:avLst/>
          </a:prstGeom>
          <a:noFill/>
          <a:ln/>
        </p:spPr>
        <p:txBody>
          <a:bodyPr wrap="square" lIns="0" tIns="0" rIns="0" bIns="0" rtlCol="0" anchor="ctr"/>
          <a:lstStyle/>
          <a:p>
            <a:pPr marL="0" indent="0">
              <a:buNone/>
            </a:pPr>
            <a:r>
              <a:rPr lang="en-US" sz="1000" b="1" dirty="0">
                <a:solidFill>
                  <a:srgbClr val="00D4AA"/>
                </a:solidFill>
                <a:latin typeface="Calibri" pitchFamily="34" charset="0"/>
                <a:ea typeface="Calibri" pitchFamily="34" charset="-122"/>
                <a:cs typeface="Calibri" pitchFamily="34" charset="-120"/>
              </a:rPr>
              <a:t>Phase 1 — Q1 2025</a:t>
            </a:r>
            <a:endParaRPr lang="en-US" sz="1000" dirty="0"/>
          </a:p>
        </p:txBody>
      </p:sp>
      <p:sp>
        <p:nvSpPr>
          <p:cNvPr id="9" name="Text 7"/>
          <p:cNvSpPr/>
          <p:nvPr/>
        </p:nvSpPr>
        <p:spPr>
          <a:xfrm>
            <a:off x="475488" y="1335024"/>
            <a:ext cx="182880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Nigeria Pilot Launch</a:t>
            </a:r>
            <a:endParaRPr lang="en-US" sz="1200" dirty="0"/>
          </a:p>
        </p:txBody>
      </p:sp>
      <p:sp>
        <p:nvSpPr>
          <p:cNvPr id="10" name="Text 8"/>
          <p:cNvSpPr/>
          <p:nvPr/>
        </p:nvSpPr>
        <p:spPr>
          <a:xfrm>
            <a:off x="2423160" y="1060704"/>
            <a:ext cx="4480560" cy="749808"/>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Fintech partnerships (Flutterwave, Paystack integrations) • Nigeria→UK &amp; Nigeria→USA corridors • Diaspora community marketing • First 10,000 users</a:t>
            </a:r>
            <a:endParaRPr lang="en-US" sz="1000" dirty="0"/>
          </a:p>
        </p:txBody>
      </p:sp>
      <p:sp>
        <p:nvSpPr>
          <p:cNvPr id="11" name="Shape 9"/>
          <p:cNvSpPr/>
          <p:nvPr/>
        </p:nvSpPr>
        <p:spPr>
          <a:xfrm>
            <a:off x="6995160" y="1133856"/>
            <a:ext cx="1737360" cy="658368"/>
          </a:xfrm>
          <a:prstGeom prst="rect">
            <a:avLst/>
          </a:prstGeom>
          <a:solidFill>
            <a:srgbClr val="0E2040"/>
          </a:solidFill>
          <a:ln/>
        </p:spPr>
      </p:sp>
      <p:sp>
        <p:nvSpPr>
          <p:cNvPr id="12" name="Text 10"/>
          <p:cNvSpPr/>
          <p:nvPr/>
        </p:nvSpPr>
        <p:spPr>
          <a:xfrm>
            <a:off x="6995160" y="1170432"/>
            <a:ext cx="1737360" cy="585216"/>
          </a:xfrm>
          <a:prstGeom prst="rect">
            <a:avLst/>
          </a:prstGeom>
          <a:noFill/>
          <a:ln/>
        </p:spPr>
        <p:txBody>
          <a:bodyPr wrap="square" lIns="0" tIns="0" rIns="0" bIns="0" rtlCol="0" anchor="ctr"/>
          <a:lstStyle/>
          <a:p>
            <a:pPr marL="0" indent="0" algn="ctr">
              <a:buNone/>
            </a:pPr>
            <a:r>
              <a:rPr lang="en-US" sz="950" dirty="0">
                <a:solidFill>
                  <a:srgbClr val="00D4AA"/>
                </a:solidFill>
                <a:latin typeface="Calibri" pitchFamily="34" charset="0"/>
                <a:ea typeface="Calibri" pitchFamily="34" charset="-122"/>
                <a:cs typeface="Calibri" pitchFamily="34" charset="-120"/>
              </a:rPr>
              <a:t>$20M TVol  |  KPI: CAC &lt; $8, Activation &gt; 40%</a:t>
            </a:r>
            <a:endParaRPr lang="en-US" sz="950" dirty="0"/>
          </a:p>
        </p:txBody>
      </p:sp>
      <p:sp>
        <p:nvSpPr>
          <p:cNvPr id="13" name="Shape 11"/>
          <p:cNvSpPr/>
          <p:nvPr/>
        </p:nvSpPr>
        <p:spPr>
          <a:xfrm>
            <a:off x="320040" y="1993392"/>
            <a:ext cx="8503920" cy="859536"/>
          </a:xfrm>
          <a:prstGeom prst="rect">
            <a:avLst/>
          </a:prstGeom>
          <a:solidFill>
            <a:srgbClr val="0D1E38"/>
          </a:solidFill>
          <a:ln/>
          <a:effectLst>
            <a:outerShdw blurRad="76200" dist="25400" dir="8100000" algn="bl" rotWithShape="0">
              <a:srgbClr val="000000">
                <a:alpha val="18000"/>
              </a:srgbClr>
            </a:outerShdw>
          </a:effectLst>
        </p:spPr>
      </p:sp>
      <p:sp>
        <p:nvSpPr>
          <p:cNvPr id="14" name="Shape 12"/>
          <p:cNvSpPr/>
          <p:nvPr/>
        </p:nvSpPr>
        <p:spPr>
          <a:xfrm>
            <a:off x="320040" y="1993392"/>
            <a:ext cx="64008" cy="859536"/>
          </a:xfrm>
          <a:prstGeom prst="rect">
            <a:avLst/>
          </a:prstGeom>
          <a:solidFill>
            <a:srgbClr val="FFB800"/>
          </a:solidFill>
          <a:ln/>
        </p:spPr>
      </p:sp>
      <p:sp>
        <p:nvSpPr>
          <p:cNvPr id="15" name="Text 13"/>
          <p:cNvSpPr/>
          <p:nvPr/>
        </p:nvSpPr>
        <p:spPr>
          <a:xfrm>
            <a:off x="475488" y="2029968"/>
            <a:ext cx="2011680" cy="256032"/>
          </a:xfrm>
          <a:prstGeom prst="rect">
            <a:avLst/>
          </a:prstGeom>
          <a:noFill/>
          <a:ln/>
        </p:spPr>
        <p:txBody>
          <a:bodyPr wrap="square" lIns="0" tIns="0" rIns="0" bIns="0" rtlCol="0" anchor="ctr"/>
          <a:lstStyle/>
          <a:p>
            <a:pPr marL="0" indent="0">
              <a:buNone/>
            </a:pPr>
            <a:r>
              <a:rPr lang="en-US" sz="1000" b="1" dirty="0">
                <a:solidFill>
                  <a:srgbClr val="FFB800"/>
                </a:solidFill>
                <a:latin typeface="Calibri" pitchFamily="34" charset="0"/>
                <a:ea typeface="Calibri" pitchFamily="34" charset="-122"/>
                <a:cs typeface="Calibri" pitchFamily="34" charset="-120"/>
              </a:rPr>
              <a:t>Phase 2 — 2026</a:t>
            </a:r>
            <a:endParaRPr lang="en-US" sz="1000" dirty="0"/>
          </a:p>
        </p:txBody>
      </p:sp>
      <p:sp>
        <p:nvSpPr>
          <p:cNvPr id="16" name="Text 14"/>
          <p:cNvSpPr/>
          <p:nvPr/>
        </p:nvSpPr>
        <p:spPr>
          <a:xfrm>
            <a:off x="475488" y="2304288"/>
            <a:ext cx="182880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Africa-Asia Expansion</a:t>
            </a:r>
            <a:endParaRPr lang="en-US" sz="1200" dirty="0"/>
          </a:p>
        </p:txBody>
      </p:sp>
      <p:sp>
        <p:nvSpPr>
          <p:cNvPr id="17" name="Text 15"/>
          <p:cNvSpPr/>
          <p:nvPr/>
        </p:nvSpPr>
        <p:spPr>
          <a:xfrm>
            <a:off x="2423160" y="2029968"/>
            <a:ext cx="4480560" cy="749808"/>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Launch Africa↔India, Africa↔Philippines corridors • Merchant payment API rollout • Mobile money integrations (M-Pesa, MTN MoMo) • 50,000+ active users</a:t>
            </a:r>
            <a:endParaRPr lang="en-US" sz="1000" dirty="0"/>
          </a:p>
        </p:txBody>
      </p:sp>
      <p:sp>
        <p:nvSpPr>
          <p:cNvPr id="18" name="Shape 16"/>
          <p:cNvSpPr/>
          <p:nvPr/>
        </p:nvSpPr>
        <p:spPr>
          <a:xfrm>
            <a:off x="6995160" y="2103120"/>
            <a:ext cx="1737360" cy="658368"/>
          </a:xfrm>
          <a:prstGeom prst="rect">
            <a:avLst/>
          </a:prstGeom>
          <a:solidFill>
            <a:srgbClr val="0E2040"/>
          </a:solidFill>
          <a:ln/>
        </p:spPr>
      </p:sp>
      <p:sp>
        <p:nvSpPr>
          <p:cNvPr id="19" name="Text 17"/>
          <p:cNvSpPr/>
          <p:nvPr/>
        </p:nvSpPr>
        <p:spPr>
          <a:xfrm>
            <a:off x="6995160" y="2139696"/>
            <a:ext cx="1737360" cy="585216"/>
          </a:xfrm>
          <a:prstGeom prst="rect">
            <a:avLst/>
          </a:prstGeom>
          <a:noFill/>
          <a:ln/>
        </p:spPr>
        <p:txBody>
          <a:bodyPr wrap="square" lIns="0" tIns="0" rIns="0" bIns="0" rtlCol="0" anchor="ctr"/>
          <a:lstStyle/>
          <a:p>
            <a:pPr marL="0" indent="0" algn="ctr">
              <a:buNone/>
            </a:pPr>
            <a:r>
              <a:rPr lang="en-US" sz="950" dirty="0">
                <a:solidFill>
                  <a:srgbClr val="FFB800"/>
                </a:solidFill>
                <a:latin typeface="Calibri" pitchFamily="34" charset="0"/>
                <a:ea typeface="Calibri" pitchFamily="34" charset="-122"/>
                <a:cs typeface="Calibri" pitchFamily="34" charset="-120"/>
              </a:rPr>
              <a:t>$150M TVol  |  KPI: Monthly txn growth &gt;20%, NPS &gt; 60</a:t>
            </a:r>
            <a:endParaRPr lang="en-US" sz="950" dirty="0"/>
          </a:p>
        </p:txBody>
      </p:sp>
      <p:sp>
        <p:nvSpPr>
          <p:cNvPr id="20" name="Shape 18"/>
          <p:cNvSpPr/>
          <p:nvPr/>
        </p:nvSpPr>
        <p:spPr>
          <a:xfrm>
            <a:off x="320040" y="2962656"/>
            <a:ext cx="8503920" cy="859536"/>
          </a:xfrm>
          <a:prstGeom prst="rect">
            <a:avLst/>
          </a:prstGeom>
          <a:solidFill>
            <a:srgbClr val="0D1E38"/>
          </a:solidFill>
          <a:ln/>
          <a:effectLst>
            <a:outerShdw blurRad="76200" dist="25400" dir="8100000" algn="bl" rotWithShape="0">
              <a:srgbClr val="000000">
                <a:alpha val="18000"/>
              </a:srgbClr>
            </a:outerShdw>
          </a:effectLst>
        </p:spPr>
      </p:sp>
      <p:sp>
        <p:nvSpPr>
          <p:cNvPr id="21" name="Shape 19"/>
          <p:cNvSpPr/>
          <p:nvPr/>
        </p:nvSpPr>
        <p:spPr>
          <a:xfrm>
            <a:off x="320040" y="2962656"/>
            <a:ext cx="64008" cy="859536"/>
          </a:xfrm>
          <a:prstGeom prst="rect">
            <a:avLst/>
          </a:prstGeom>
          <a:solidFill>
            <a:srgbClr val="F97316"/>
          </a:solidFill>
          <a:ln/>
        </p:spPr>
      </p:sp>
      <p:sp>
        <p:nvSpPr>
          <p:cNvPr id="22" name="Text 20"/>
          <p:cNvSpPr/>
          <p:nvPr/>
        </p:nvSpPr>
        <p:spPr>
          <a:xfrm>
            <a:off x="475488" y="2999232"/>
            <a:ext cx="2011680" cy="256032"/>
          </a:xfrm>
          <a:prstGeom prst="rect">
            <a:avLst/>
          </a:prstGeom>
          <a:noFill/>
          <a:ln/>
        </p:spPr>
        <p:txBody>
          <a:bodyPr wrap="square" lIns="0" tIns="0" rIns="0" bIns="0" rtlCol="0" anchor="ctr"/>
          <a:lstStyle/>
          <a:p>
            <a:pPr marL="0" indent="0">
              <a:buNone/>
            </a:pPr>
            <a:r>
              <a:rPr lang="en-US" sz="1000" b="1" dirty="0">
                <a:solidFill>
                  <a:srgbClr val="F97316"/>
                </a:solidFill>
                <a:latin typeface="Calibri" pitchFamily="34" charset="0"/>
                <a:ea typeface="Calibri" pitchFamily="34" charset="-122"/>
                <a:cs typeface="Calibri" pitchFamily="34" charset="-120"/>
              </a:rPr>
              <a:t>Phase 3 — 2027-29</a:t>
            </a:r>
            <a:endParaRPr lang="en-US" sz="1000" dirty="0"/>
          </a:p>
        </p:txBody>
      </p:sp>
      <p:sp>
        <p:nvSpPr>
          <p:cNvPr id="23" name="Text 21"/>
          <p:cNvSpPr/>
          <p:nvPr/>
        </p:nvSpPr>
        <p:spPr>
          <a:xfrm>
            <a:off x="475488" y="3273552"/>
            <a:ext cx="182880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Global Network Build-out</a:t>
            </a:r>
            <a:endParaRPr lang="en-US" sz="1200" dirty="0"/>
          </a:p>
        </p:txBody>
      </p:sp>
      <p:sp>
        <p:nvSpPr>
          <p:cNvPr id="24" name="Text 22"/>
          <p:cNvSpPr/>
          <p:nvPr/>
        </p:nvSpPr>
        <p:spPr>
          <a:xfrm>
            <a:off x="2423160" y="2999232"/>
            <a:ext cx="4480560" cy="749808"/>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50+ currency support • Enterprise B2B treasury platform • Web3 crypto ramp live • Institutional liquidity partnerships • 500,000+ users</a:t>
            </a:r>
            <a:endParaRPr lang="en-US" sz="1000" dirty="0"/>
          </a:p>
        </p:txBody>
      </p:sp>
      <p:sp>
        <p:nvSpPr>
          <p:cNvPr id="25" name="Shape 23"/>
          <p:cNvSpPr/>
          <p:nvPr/>
        </p:nvSpPr>
        <p:spPr>
          <a:xfrm>
            <a:off x="6995160" y="3072384"/>
            <a:ext cx="1737360" cy="658368"/>
          </a:xfrm>
          <a:prstGeom prst="rect">
            <a:avLst/>
          </a:prstGeom>
          <a:solidFill>
            <a:srgbClr val="0E2040"/>
          </a:solidFill>
          <a:ln/>
        </p:spPr>
      </p:sp>
      <p:sp>
        <p:nvSpPr>
          <p:cNvPr id="26" name="Text 24"/>
          <p:cNvSpPr/>
          <p:nvPr/>
        </p:nvSpPr>
        <p:spPr>
          <a:xfrm>
            <a:off x="6995160" y="3108960"/>
            <a:ext cx="1737360" cy="585216"/>
          </a:xfrm>
          <a:prstGeom prst="rect">
            <a:avLst/>
          </a:prstGeom>
          <a:noFill/>
          <a:ln/>
        </p:spPr>
        <p:txBody>
          <a:bodyPr wrap="square" lIns="0" tIns="0" rIns="0" bIns="0" rtlCol="0" anchor="ctr"/>
          <a:lstStyle/>
          <a:p>
            <a:pPr marL="0" indent="0" algn="ctr">
              <a:buNone/>
            </a:pPr>
            <a:r>
              <a:rPr lang="en-US" sz="950" dirty="0">
                <a:solidFill>
                  <a:srgbClr val="F97316"/>
                </a:solidFill>
                <a:latin typeface="Calibri" pitchFamily="34" charset="0"/>
                <a:ea typeface="Calibri" pitchFamily="34" charset="-122"/>
                <a:cs typeface="Calibri" pitchFamily="34" charset="-120"/>
              </a:rPr>
              <a:t>$1B TVol  |  Revenue: $7M  |  Break-even achieved</a:t>
            </a:r>
            <a:endParaRPr lang="en-US" sz="950" dirty="0"/>
          </a:p>
        </p:txBody>
      </p:sp>
      <p:sp>
        <p:nvSpPr>
          <p:cNvPr id="27" name="Shape 25"/>
          <p:cNvSpPr/>
          <p:nvPr/>
        </p:nvSpPr>
        <p:spPr>
          <a:xfrm>
            <a:off x="320040" y="3931920"/>
            <a:ext cx="8503920" cy="859536"/>
          </a:xfrm>
          <a:prstGeom prst="rect">
            <a:avLst/>
          </a:prstGeom>
          <a:solidFill>
            <a:srgbClr val="0D1E38"/>
          </a:solidFill>
          <a:ln/>
          <a:effectLst>
            <a:outerShdw blurRad="76200" dist="25400" dir="8100000" algn="bl" rotWithShape="0">
              <a:srgbClr val="000000">
                <a:alpha val="18000"/>
              </a:srgbClr>
            </a:outerShdw>
          </a:effectLst>
        </p:spPr>
      </p:sp>
      <p:sp>
        <p:nvSpPr>
          <p:cNvPr id="28" name="Shape 26"/>
          <p:cNvSpPr/>
          <p:nvPr/>
        </p:nvSpPr>
        <p:spPr>
          <a:xfrm>
            <a:off x="320040" y="3931920"/>
            <a:ext cx="64008" cy="859536"/>
          </a:xfrm>
          <a:prstGeom prst="rect">
            <a:avLst/>
          </a:prstGeom>
          <a:solidFill>
            <a:srgbClr val="7C3AED"/>
          </a:solidFill>
          <a:ln/>
        </p:spPr>
      </p:sp>
      <p:sp>
        <p:nvSpPr>
          <p:cNvPr id="29" name="Text 27"/>
          <p:cNvSpPr/>
          <p:nvPr/>
        </p:nvSpPr>
        <p:spPr>
          <a:xfrm>
            <a:off x="475488" y="3968496"/>
            <a:ext cx="2011680" cy="256032"/>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Phase 4 — 2030+</a:t>
            </a:r>
            <a:endParaRPr lang="en-US" sz="1000" dirty="0"/>
          </a:p>
        </p:txBody>
      </p:sp>
      <p:sp>
        <p:nvSpPr>
          <p:cNvPr id="30" name="Text 28"/>
          <p:cNvSpPr/>
          <p:nvPr/>
        </p:nvSpPr>
        <p:spPr>
          <a:xfrm>
            <a:off x="475488" y="4242816"/>
            <a:ext cx="182880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Global FX Infrastructure</a:t>
            </a:r>
            <a:endParaRPr lang="en-US" sz="1200" dirty="0"/>
          </a:p>
        </p:txBody>
      </p:sp>
      <p:sp>
        <p:nvSpPr>
          <p:cNvPr id="31" name="Text 29"/>
          <p:cNvSpPr/>
          <p:nvPr/>
        </p:nvSpPr>
        <p:spPr>
          <a:xfrm>
            <a:off x="2423160" y="3968496"/>
            <a:ext cx="4480560" cy="749808"/>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100+ currencies • CBDC integration readiness • DeFi liquidity access • White-label licensing • Global regulatory approvals</a:t>
            </a:r>
            <a:endParaRPr lang="en-US" sz="1000" dirty="0"/>
          </a:p>
        </p:txBody>
      </p:sp>
      <p:sp>
        <p:nvSpPr>
          <p:cNvPr id="32" name="Shape 30"/>
          <p:cNvSpPr/>
          <p:nvPr/>
        </p:nvSpPr>
        <p:spPr>
          <a:xfrm>
            <a:off x="6995160" y="4041648"/>
            <a:ext cx="1737360" cy="658368"/>
          </a:xfrm>
          <a:prstGeom prst="rect">
            <a:avLst/>
          </a:prstGeom>
          <a:solidFill>
            <a:srgbClr val="0E2040"/>
          </a:solidFill>
          <a:ln/>
        </p:spPr>
      </p:sp>
      <p:sp>
        <p:nvSpPr>
          <p:cNvPr id="33" name="Text 31"/>
          <p:cNvSpPr/>
          <p:nvPr/>
        </p:nvSpPr>
        <p:spPr>
          <a:xfrm>
            <a:off x="6995160" y="4078224"/>
            <a:ext cx="1737360" cy="585216"/>
          </a:xfrm>
          <a:prstGeom prst="rect">
            <a:avLst/>
          </a:prstGeom>
          <a:noFill/>
          <a:ln/>
        </p:spPr>
        <p:txBody>
          <a:bodyPr wrap="square" lIns="0" tIns="0" rIns="0" bIns="0" rtlCol="0" anchor="ctr"/>
          <a:lstStyle/>
          <a:p>
            <a:pPr marL="0" indent="0" algn="ctr">
              <a:buNone/>
            </a:pPr>
            <a:r>
              <a:rPr lang="en-US" sz="950" dirty="0">
                <a:solidFill>
                  <a:srgbClr val="7C3AED"/>
                </a:solidFill>
                <a:latin typeface="Calibri" pitchFamily="34" charset="0"/>
                <a:ea typeface="Calibri" pitchFamily="34" charset="-122"/>
                <a:cs typeface="Calibri" pitchFamily="34" charset="-120"/>
              </a:rPr>
              <a:t>$10B TVol  |  Revenue: $70M  |  Market leader</a:t>
            </a:r>
            <a:endParaRPr lang="en-US" sz="950" dirty="0"/>
          </a:p>
        </p:txBody>
      </p:sp>
      <p:sp>
        <p:nvSpPr>
          <p:cNvPr id="34" name="Shape 32"/>
          <p:cNvSpPr/>
          <p:nvPr/>
        </p:nvSpPr>
        <p:spPr>
          <a:xfrm>
            <a:off x="320040" y="4892040"/>
            <a:ext cx="8503920" cy="164592"/>
          </a:xfrm>
          <a:prstGeom prst="rect">
            <a:avLst/>
          </a:prstGeom>
          <a:solidFill>
            <a:srgbClr val="0E2040"/>
          </a:solidFill>
          <a:ln/>
        </p:spPr>
      </p:sp>
      <p:sp>
        <p:nvSpPr>
          <p:cNvPr id="35" name="Text 33"/>
          <p:cNvSpPr/>
          <p:nvPr/>
        </p:nvSpPr>
        <p:spPr>
          <a:xfrm>
            <a:off x="411480" y="4727448"/>
            <a:ext cx="8321040" cy="256032"/>
          </a:xfrm>
          <a:prstGeom prst="rect">
            <a:avLst/>
          </a:prstGeom>
          <a:noFill/>
          <a:ln/>
        </p:spPr>
        <p:txBody>
          <a:bodyPr wrap="square" lIns="0" tIns="0" rIns="0" bIns="0" rtlCol="0" anchor="ctr"/>
          <a:lstStyle/>
          <a:p>
            <a:pPr marL="0" indent="0" algn="ctr">
              <a:buNone/>
            </a:pPr>
            <a:r>
              <a:rPr lang="en-US" sz="1000" dirty="0">
                <a:solidFill>
                  <a:srgbClr val="00D4AA"/>
                </a:solidFill>
                <a:latin typeface="Calibri" pitchFamily="34" charset="0"/>
                <a:ea typeface="Calibri" pitchFamily="34" charset="-122"/>
                <a:cs typeface="Calibri" pitchFamily="34" charset="-120"/>
              </a:rPr>
              <a:t>Priority Corridors: Africa↔UK  |  Nigeria↔USA  |  Africa↔India  |  Russia↔Africa  |  LatAm↔Africa  |  Asia↔Africa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0E1F"/>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Product Roadmap</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From MVP to the global internet layer for currency exchange</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2084832"/>
            <a:ext cx="8503920" cy="36576"/>
          </a:xfrm>
          <a:prstGeom prst="rect">
            <a:avLst/>
          </a:prstGeom>
          <a:solidFill>
            <a:srgbClr val="8899A6">
              <a:alpha val="45000"/>
            </a:srgbClr>
          </a:solidFill>
          <a:ln/>
        </p:spPr>
      </p:sp>
      <p:sp>
        <p:nvSpPr>
          <p:cNvPr id="7" name="Text 5"/>
          <p:cNvSpPr/>
          <p:nvPr/>
        </p:nvSpPr>
        <p:spPr>
          <a:xfrm>
            <a:off x="320040" y="1600200"/>
            <a:ext cx="2029968" cy="274320"/>
          </a:xfrm>
          <a:prstGeom prst="rect">
            <a:avLst/>
          </a:prstGeom>
          <a:noFill/>
          <a:ln/>
        </p:spPr>
        <p:txBody>
          <a:bodyPr wrap="square" lIns="0" tIns="0" rIns="0" bIns="0" rtlCol="0" anchor="ctr"/>
          <a:lstStyle/>
          <a:p>
            <a:pPr marL="0" indent="0" algn="ctr">
              <a:buNone/>
            </a:pPr>
            <a:r>
              <a:rPr lang="en-US" sz="1100" dirty="0">
                <a:solidFill>
                  <a:srgbClr val="8899A6"/>
                </a:solidFill>
                <a:latin typeface="Calibri" pitchFamily="34" charset="0"/>
                <a:ea typeface="Calibri" pitchFamily="34" charset="-122"/>
                <a:cs typeface="Calibri" pitchFamily="34" charset="-120"/>
              </a:rPr>
              <a:t>2025</a:t>
            </a:r>
            <a:endParaRPr lang="en-US" sz="1100" dirty="0"/>
          </a:p>
        </p:txBody>
      </p:sp>
      <p:sp>
        <p:nvSpPr>
          <p:cNvPr id="8" name="Shape 6"/>
          <p:cNvSpPr/>
          <p:nvPr/>
        </p:nvSpPr>
        <p:spPr>
          <a:xfrm>
            <a:off x="1005840" y="1901952"/>
            <a:ext cx="658368" cy="658368"/>
          </a:xfrm>
          <a:prstGeom prst="line">
            <a:avLst/>
          </a:prstGeom>
          <a:solidFill>
            <a:srgbClr val="00D4AA"/>
          </a:solidFill>
          <a:ln/>
          <a:effectLst>
            <a:outerShdw blurRad="76200" dist="25400" dir="8100000" algn="bl" rotWithShape="0">
              <a:srgbClr val="000000">
                <a:alpha val="18000"/>
              </a:srgbClr>
            </a:outerShdw>
          </a:effectLst>
        </p:spPr>
      </p:sp>
      <p:sp>
        <p:nvSpPr>
          <p:cNvPr id="9" name="Text 7"/>
          <p:cNvSpPr/>
          <p:nvPr/>
        </p:nvSpPr>
        <p:spPr>
          <a:xfrm>
            <a:off x="1005840" y="1901952"/>
            <a:ext cx="658368" cy="658368"/>
          </a:xfrm>
          <a:prstGeom prst="rect">
            <a:avLst/>
          </a:prstGeom>
          <a:noFill/>
          <a:ln/>
        </p:spPr>
        <p:txBody>
          <a:bodyPr wrap="square" lIns="0" tIns="0" rIns="0" bIns="0" rtlCol="0" anchor="ctr"/>
          <a:lstStyle/>
          <a:p>
            <a:pPr marL="0" indent="0" algn="ctr">
              <a:buNone/>
            </a:pPr>
            <a:r>
              <a:rPr lang="en-US" sz="1000" b="1" dirty="0">
                <a:solidFill>
                  <a:srgbClr val="060E1F"/>
                </a:solidFill>
                <a:latin typeface="Calibri" pitchFamily="34" charset="0"/>
                <a:ea typeface="Calibri" pitchFamily="34" charset="-122"/>
                <a:cs typeface="Calibri" pitchFamily="34" charset="-120"/>
              </a:rPr>
              <a:t>Phase 1</a:t>
            </a:r>
            <a:endParaRPr lang="en-US" sz="1000" dirty="0"/>
          </a:p>
        </p:txBody>
      </p:sp>
      <p:sp>
        <p:nvSpPr>
          <p:cNvPr id="10" name="Shape 8"/>
          <p:cNvSpPr/>
          <p:nvPr/>
        </p:nvSpPr>
        <p:spPr>
          <a:xfrm>
            <a:off x="320040" y="2651760"/>
            <a:ext cx="2029968" cy="2423160"/>
          </a:xfrm>
          <a:prstGeom prst="rect">
            <a:avLst/>
          </a:prstGeom>
          <a:solidFill>
            <a:srgbClr val="0D1E38"/>
          </a:solidFill>
          <a:ln/>
          <a:effectLst>
            <a:outerShdw blurRad="127000" dist="50800" dir="8100000" algn="bl" rotWithShape="0">
              <a:srgbClr val="000000">
                <a:alpha val="22000"/>
              </a:srgbClr>
            </a:outerShdw>
          </a:effectLst>
        </p:spPr>
      </p:sp>
      <p:sp>
        <p:nvSpPr>
          <p:cNvPr id="11" name="Shape 9"/>
          <p:cNvSpPr/>
          <p:nvPr/>
        </p:nvSpPr>
        <p:spPr>
          <a:xfrm>
            <a:off x="320040" y="2651760"/>
            <a:ext cx="2029968" cy="347472"/>
          </a:xfrm>
          <a:prstGeom prst="rect">
            <a:avLst/>
          </a:prstGeom>
          <a:solidFill>
            <a:srgbClr val="00D4AA"/>
          </a:solidFill>
          <a:ln/>
        </p:spPr>
      </p:sp>
      <p:sp>
        <p:nvSpPr>
          <p:cNvPr id="12" name="Text 10"/>
          <p:cNvSpPr/>
          <p:nvPr/>
        </p:nvSpPr>
        <p:spPr>
          <a:xfrm>
            <a:off x="320040" y="2670048"/>
            <a:ext cx="2029968" cy="310896"/>
          </a:xfrm>
          <a:prstGeom prst="rect">
            <a:avLst/>
          </a:prstGeom>
          <a:noFill/>
          <a:ln/>
        </p:spPr>
        <p:txBody>
          <a:bodyPr wrap="square" lIns="0" tIns="0" rIns="0" bIns="0" rtlCol="0" anchor="ctr"/>
          <a:lstStyle/>
          <a:p>
            <a:pPr marL="0" indent="0" algn="ctr">
              <a:buNone/>
            </a:pPr>
            <a:r>
              <a:rPr lang="en-US" sz="1100" b="1" dirty="0">
                <a:solidFill>
                  <a:srgbClr val="060E1F"/>
                </a:solidFill>
                <a:latin typeface="Calibri" pitchFamily="34" charset="0"/>
                <a:ea typeface="Calibri" pitchFamily="34" charset="-122"/>
                <a:cs typeface="Calibri" pitchFamily="34" charset="-120"/>
              </a:rPr>
              <a:t>MVP &amp; Validation</a:t>
            </a:r>
            <a:endParaRPr lang="en-US" sz="1100" dirty="0"/>
          </a:p>
        </p:txBody>
      </p:sp>
      <p:sp>
        <p:nvSpPr>
          <p:cNvPr id="13" name="Text 11"/>
          <p:cNvSpPr/>
          <p:nvPr/>
        </p:nvSpPr>
        <p:spPr>
          <a:xfrm>
            <a:off x="429768" y="3072384"/>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HashPay wallet (iOS/Android)</a:t>
            </a:r>
            <a:endParaRPr lang="en-US" sz="950" dirty="0"/>
          </a:p>
        </p:txBody>
      </p:sp>
      <p:sp>
        <p:nvSpPr>
          <p:cNvPr id="14" name="Text 12"/>
          <p:cNvSpPr/>
          <p:nvPr/>
        </p:nvSpPr>
        <p:spPr>
          <a:xfrm>
            <a:off x="429768" y="3419856"/>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Nigeria payment corridor</a:t>
            </a:r>
            <a:endParaRPr lang="en-US" sz="950" dirty="0"/>
          </a:p>
        </p:txBody>
      </p:sp>
      <p:sp>
        <p:nvSpPr>
          <p:cNvPr id="15" name="Text 13"/>
          <p:cNvSpPr/>
          <p:nvPr/>
        </p:nvSpPr>
        <p:spPr>
          <a:xfrm>
            <a:off x="429768" y="3767328"/>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Initial liquidity pools</a:t>
            </a:r>
            <a:endParaRPr lang="en-US" sz="950" dirty="0"/>
          </a:p>
        </p:txBody>
      </p:sp>
      <p:sp>
        <p:nvSpPr>
          <p:cNvPr id="16" name="Text 14"/>
          <p:cNvSpPr/>
          <p:nvPr/>
        </p:nvSpPr>
        <p:spPr>
          <a:xfrm>
            <a:off x="429768" y="4114800"/>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Web2 bank integrations</a:t>
            </a:r>
            <a:endParaRPr lang="en-US" sz="950" dirty="0"/>
          </a:p>
        </p:txBody>
      </p:sp>
      <p:sp>
        <p:nvSpPr>
          <p:cNvPr id="17" name="Text 15"/>
          <p:cNvSpPr/>
          <p:nvPr/>
        </p:nvSpPr>
        <p:spPr>
          <a:xfrm>
            <a:off x="429768" y="4462272"/>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KYC/AML compliance</a:t>
            </a:r>
            <a:endParaRPr lang="en-US" sz="950" dirty="0"/>
          </a:p>
        </p:txBody>
      </p:sp>
      <p:sp>
        <p:nvSpPr>
          <p:cNvPr id="18" name="Text 16"/>
          <p:cNvSpPr/>
          <p:nvPr/>
        </p:nvSpPr>
        <p:spPr>
          <a:xfrm>
            <a:off x="429768" y="4809744"/>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First 10k users</a:t>
            </a:r>
            <a:endParaRPr lang="en-US" sz="950" dirty="0"/>
          </a:p>
        </p:txBody>
      </p:sp>
      <p:sp>
        <p:nvSpPr>
          <p:cNvPr id="19" name="Text 17"/>
          <p:cNvSpPr/>
          <p:nvPr/>
        </p:nvSpPr>
        <p:spPr>
          <a:xfrm>
            <a:off x="2496312" y="1600200"/>
            <a:ext cx="2029968" cy="274320"/>
          </a:xfrm>
          <a:prstGeom prst="rect">
            <a:avLst/>
          </a:prstGeom>
          <a:noFill/>
          <a:ln/>
        </p:spPr>
        <p:txBody>
          <a:bodyPr wrap="square" lIns="0" tIns="0" rIns="0" bIns="0" rtlCol="0" anchor="ctr"/>
          <a:lstStyle/>
          <a:p>
            <a:pPr marL="0" indent="0" algn="ctr">
              <a:buNone/>
            </a:pPr>
            <a:r>
              <a:rPr lang="en-US" sz="1100" dirty="0">
                <a:solidFill>
                  <a:srgbClr val="8899A6"/>
                </a:solidFill>
                <a:latin typeface="Calibri" pitchFamily="34" charset="0"/>
                <a:ea typeface="Calibri" pitchFamily="34" charset="-122"/>
                <a:cs typeface="Calibri" pitchFamily="34" charset="-120"/>
              </a:rPr>
              <a:t>2026</a:t>
            </a:r>
            <a:endParaRPr lang="en-US" sz="1100" dirty="0"/>
          </a:p>
        </p:txBody>
      </p:sp>
      <p:sp>
        <p:nvSpPr>
          <p:cNvPr id="20" name="Shape 18"/>
          <p:cNvSpPr/>
          <p:nvPr/>
        </p:nvSpPr>
        <p:spPr>
          <a:xfrm>
            <a:off x="3182112" y="1901952"/>
            <a:ext cx="658368" cy="658368"/>
          </a:xfrm>
          <a:prstGeom prst="line">
            <a:avLst/>
          </a:prstGeom>
          <a:solidFill>
            <a:srgbClr val="FFB800"/>
          </a:solidFill>
          <a:ln/>
          <a:effectLst>
            <a:outerShdw blurRad="76200" dist="25400" dir="8100000" algn="bl" rotWithShape="0">
              <a:srgbClr val="000000">
                <a:alpha val="18000"/>
              </a:srgbClr>
            </a:outerShdw>
          </a:effectLst>
        </p:spPr>
      </p:sp>
      <p:sp>
        <p:nvSpPr>
          <p:cNvPr id="21" name="Text 19"/>
          <p:cNvSpPr/>
          <p:nvPr/>
        </p:nvSpPr>
        <p:spPr>
          <a:xfrm>
            <a:off x="3182112" y="1901952"/>
            <a:ext cx="658368" cy="658368"/>
          </a:xfrm>
          <a:prstGeom prst="rect">
            <a:avLst/>
          </a:prstGeom>
          <a:noFill/>
          <a:ln/>
        </p:spPr>
        <p:txBody>
          <a:bodyPr wrap="square" lIns="0" tIns="0" rIns="0" bIns="0" rtlCol="0" anchor="ctr"/>
          <a:lstStyle/>
          <a:p>
            <a:pPr marL="0" indent="0" algn="ctr">
              <a:buNone/>
            </a:pPr>
            <a:r>
              <a:rPr lang="en-US" sz="1000" b="1" dirty="0">
                <a:solidFill>
                  <a:srgbClr val="060E1F"/>
                </a:solidFill>
                <a:latin typeface="Calibri" pitchFamily="34" charset="0"/>
                <a:ea typeface="Calibri" pitchFamily="34" charset="-122"/>
                <a:cs typeface="Calibri" pitchFamily="34" charset="-120"/>
              </a:rPr>
              <a:t>Phase 2</a:t>
            </a:r>
            <a:endParaRPr lang="en-US" sz="1000" dirty="0"/>
          </a:p>
        </p:txBody>
      </p:sp>
      <p:sp>
        <p:nvSpPr>
          <p:cNvPr id="22" name="Shape 20"/>
          <p:cNvSpPr/>
          <p:nvPr/>
        </p:nvSpPr>
        <p:spPr>
          <a:xfrm>
            <a:off x="2496312" y="2651760"/>
            <a:ext cx="2029968" cy="2423160"/>
          </a:xfrm>
          <a:prstGeom prst="rect">
            <a:avLst/>
          </a:prstGeom>
          <a:solidFill>
            <a:srgbClr val="0D1E38"/>
          </a:solidFill>
          <a:ln/>
          <a:effectLst>
            <a:outerShdw blurRad="127000" dist="50800" dir="8100000" algn="bl" rotWithShape="0">
              <a:srgbClr val="000000">
                <a:alpha val="22000"/>
              </a:srgbClr>
            </a:outerShdw>
          </a:effectLst>
        </p:spPr>
      </p:sp>
      <p:sp>
        <p:nvSpPr>
          <p:cNvPr id="23" name="Shape 21"/>
          <p:cNvSpPr/>
          <p:nvPr/>
        </p:nvSpPr>
        <p:spPr>
          <a:xfrm>
            <a:off x="2496312" y="2651760"/>
            <a:ext cx="2029968" cy="347472"/>
          </a:xfrm>
          <a:prstGeom prst="rect">
            <a:avLst/>
          </a:prstGeom>
          <a:solidFill>
            <a:srgbClr val="FFB800"/>
          </a:solidFill>
          <a:ln/>
        </p:spPr>
      </p:sp>
      <p:sp>
        <p:nvSpPr>
          <p:cNvPr id="24" name="Text 22"/>
          <p:cNvSpPr/>
          <p:nvPr/>
        </p:nvSpPr>
        <p:spPr>
          <a:xfrm>
            <a:off x="2496312" y="2670048"/>
            <a:ext cx="2029968" cy="310896"/>
          </a:xfrm>
          <a:prstGeom prst="rect">
            <a:avLst/>
          </a:prstGeom>
          <a:noFill/>
          <a:ln/>
        </p:spPr>
        <p:txBody>
          <a:bodyPr wrap="square" lIns="0" tIns="0" rIns="0" bIns="0" rtlCol="0" anchor="ctr"/>
          <a:lstStyle/>
          <a:p>
            <a:pPr marL="0" indent="0" algn="ctr">
              <a:buNone/>
            </a:pPr>
            <a:r>
              <a:rPr lang="en-US" sz="1100" b="1" dirty="0">
                <a:solidFill>
                  <a:srgbClr val="060E1F"/>
                </a:solidFill>
                <a:latin typeface="Calibri" pitchFamily="34" charset="0"/>
                <a:ea typeface="Calibri" pitchFamily="34" charset="-122"/>
                <a:cs typeface="Calibri" pitchFamily="34" charset="-120"/>
              </a:rPr>
              <a:t>Regional Expansion</a:t>
            </a:r>
            <a:endParaRPr lang="en-US" sz="1100" dirty="0"/>
          </a:p>
        </p:txBody>
      </p:sp>
      <p:sp>
        <p:nvSpPr>
          <p:cNvPr id="25" name="Text 23"/>
          <p:cNvSpPr/>
          <p:nvPr/>
        </p:nvSpPr>
        <p:spPr>
          <a:xfrm>
            <a:off x="2606040" y="3072384"/>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Africa↔Asia corridors</a:t>
            </a:r>
            <a:endParaRPr lang="en-US" sz="950" dirty="0"/>
          </a:p>
        </p:txBody>
      </p:sp>
      <p:sp>
        <p:nvSpPr>
          <p:cNvPr id="26" name="Text 24"/>
          <p:cNvSpPr/>
          <p:nvPr/>
        </p:nvSpPr>
        <p:spPr>
          <a:xfrm>
            <a:off x="2606040" y="3419856"/>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Merchant payment APIs</a:t>
            </a:r>
            <a:endParaRPr lang="en-US" sz="950" dirty="0"/>
          </a:p>
        </p:txBody>
      </p:sp>
      <p:sp>
        <p:nvSpPr>
          <p:cNvPr id="27" name="Text 25"/>
          <p:cNvSpPr/>
          <p:nvPr/>
        </p:nvSpPr>
        <p:spPr>
          <a:xfrm>
            <a:off x="2606040" y="3767328"/>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Mobile money (M-Pesa/MTN)</a:t>
            </a:r>
            <a:endParaRPr lang="en-US" sz="950" dirty="0"/>
          </a:p>
        </p:txBody>
      </p:sp>
      <p:sp>
        <p:nvSpPr>
          <p:cNvPr id="28" name="Text 26"/>
          <p:cNvSpPr/>
          <p:nvPr/>
        </p:nvSpPr>
        <p:spPr>
          <a:xfrm>
            <a:off x="2606040" y="4114800"/>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Web3 crypto ramp beta</a:t>
            </a:r>
            <a:endParaRPr lang="en-US" sz="950" dirty="0"/>
          </a:p>
        </p:txBody>
      </p:sp>
      <p:sp>
        <p:nvSpPr>
          <p:cNvPr id="29" name="Text 27"/>
          <p:cNvSpPr/>
          <p:nvPr/>
        </p:nvSpPr>
        <p:spPr>
          <a:xfrm>
            <a:off x="2606040" y="4462272"/>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Business dashboard</a:t>
            </a:r>
            <a:endParaRPr lang="en-US" sz="950" dirty="0"/>
          </a:p>
        </p:txBody>
      </p:sp>
      <p:sp>
        <p:nvSpPr>
          <p:cNvPr id="30" name="Text 28"/>
          <p:cNvSpPr/>
          <p:nvPr/>
        </p:nvSpPr>
        <p:spPr>
          <a:xfrm>
            <a:off x="2606040" y="4809744"/>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100k+ users</a:t>
            </a:r>
            <a:endParaRPr lang="en-US" sz="950" dirty="0"/>
          </a:p>
        </p:txBody>
      </p:sp>
      <p:sp>
        <p:nvSpPr>
          <p:cNvPr id="31" name="Text 29"/>
          <p:cNvSpPr/>
          <p:nvPr/>
        </p:nvSpPr>
        <p:spPr>
          <a:xfrm>
            <a:off x="4672584" y="1600200"/>
            <a:ext cx="2029968" cy="274320"/>
          </a:xfrm>
          <a:prstGeom prst="rect">
            <a:avLst/>
          </a:prstGeom>
          <a:noFill/>
          <a:ln/>
        </p:spPr>
        <p:txBody>
          <a:bodyPr wrap="square" lIns="0" tIns="0" rIns="0" bIns="0" rtlCol="0" anchor="ctr"/>
          <a:lstStyle/>
          <a:p>
            <a:pPr marL="0" indent="0" algn="ctr">
              <a:buNone/>
            </a:pPr>
            <a:r>
              <a:rPr lang="en-US" sz="1100" dirty="0">
                <a:solidFill>
                  <a:srgbClr val="8899A6"/>
                </a:solidFill>
                <a:latin typeface="Calibri" pitchFamily="34" charset="0"/>
                <a:ea typeface="Calibri" pitchFamily="34" charset="-122"/>
                <a:cs typeface="Calibri" pitchFamily="34" charset="-120"/>
              </a:rPr>
              <a:t>2027–29</a:t>
            </a:r>
            <a:endParaRPr lang="en-US" sz="1100" dirty="0"/>
          </a:p>
        </p:txBody>
      </p:sp>
      <p:sp>
        <p:nvSpPr>
          <p:cNvPr id="32" name="Shape 30"/>
          <p:cNvSpPr/>
          <p:nvPr/>
        </p:nvSpPr>
        <p:spPr>
          <a:xfrm>
            <a:off x="5358384" y="1901952"/>
            <a:ext cx="658368" cy="658368"/>
          </a:xfrm>
          <a:prstGeom prst="line">
            <a:avLst/>
          </a:prstGeom>
          <a:solidFill>
            <a:srgbClr val="F97316"/>
          </a:solidFill>
          <a:ln/>
          <a:effectLst>
            <a:outerShdw blurRad="76200" dist="25400" dir="8100000" algn="bl" rotWithShape="0">
              <a:srgbClr val="000000">
                <a:alpha val="18000"/>
              </a:srgbClr>
            </a:outerShdw>
          </a:effectLst>
        </p:spPr>
      </p:sp>
      <p:sp>
        <p:nvSpPr>
          <p:cNvPr id="33" name="Text 31"/>
          <p:cNvSpPr/>
          <p:nvPr/>
        </p:nvSpPr>
        <p:spPr>
          <a:xfrm>
            <a:off x="5358384" y="1901952"/>
            <a:ext cx="658368" cy="658368"/>
          </a:xfrm>
          <a:prstGeom prst="rect">
            <a:avLst/>
          </a:prstGeom>
          <a:noFill/>
          <a:ln/>
        </p:spPr>
        <p:txBody>
          <a:bodyPr wrap="square" lIns="0" tIns="0" rIns="0" bIns="0" rtlCol="0" anchor="ctr"/>
          <a:lstStyle/>
          <a:p>
            <a:pPr marL="0" indent="0" algn="ctr">
              <a:buNone/>
            </a:pPr>
            <a:r>
              <a:rPr lang="en-US" sz="1000" b="1" dirty="0">
                <a:solidFill>
                  <a:srgbClr val="060E1F"/>
                </a:solidFill>
                <a:latin typeface="Calibri" pitchFamily="34" charset="0"/>
                <a:ea typeface="Calibri" pitchFamily="34" charset="-122"/>
                <a:cs typeface="Calibri" pitchFamily="34" charset="-120"/>
              </a:rPr>
              <a:t>Phase 3</a:t>
            </a:r>
            <a:endParaRPr lang="en-US" sz="1000" dirty="0"/>
          </a:p>
        </p:txBody>
      </p:sp>
      <p:sp>
        <p:nvSpPr>
          <p:cNvPr id="34" name="Shape 32"/>
          <p:cNvSpPr/>
          <p:nvPr/>
        </p:nvSpPr>
        <p:spPr>
          <a:xfrm>
            <a:off x="4672584" y="2651760"/>
            <a:ext cx="2029968" cy="2423160"/>
          </a:xfrm>
          <a:prstGeom prst="rect">
            <a:avLst/>
          </a:prstGeom>
          <a:solidFill>
            <a:srgbClr val="0D1E38"/>
          </a:solidFill>
          <a:ln/>
          <a:effectLst>
            <a:outerShdw blurRad="127000" dist="50800" dir="8100000" algn="bl" rotWithShape="0">
              <a:srgbClr val="000000">
                <a:alpha val="22000"/>
              </a:srgbClr>
            </a:outerShdw>
          </a:effectLst>
        </p:spPr>
      </p:sp>
      <p:sp>
        <p:nvSpPr>
          <p:cNvPr id="35" name="Shape 33"/>
          <p:cNvSpPr/>
          <p:nvPr/>
        </p:nvSpPr>
        <p:spPr>
          <a:xfrm>
            <a:off x="4672584" y="2651760"/>
            <a:ext cx="2029968" cy="347472"/>
          </a:xfrm>
          <a:prstGeom prst="rect">
            <a:avLst/>
          </a:prstGeom>
          <a:solidFill>
            <a:srgbClr val="F97316"/>
          </a:solidFill>
          <a:ln/>
        </p:spPr>
      </p:sp>
      <p:sp>
        <p:nvSpPr>
          <p:cNvPr id="36" name="Text 34"/>
          <p:cNvSpPr/>
          <p:nvPr/>
        </p:nvSpPr>
        <p:spPr>
          <a:xfrm>
            <a:off x="4672584" y="2670048"/>
            <a:ext cx="2029968" cy="310896"/>
          </a:xfrm>
          <a:prstGeom prst="rect">
            <a:avLst/>
          </a:prstGeom>
          <a:noFill/>
          <a:ln/>
        </p:spPr>
        <p:txBody>
          <a:bodyPr wrap="square" lIns="0" tIns="0" rIns="0" bIns="0" rtlCol="0" anchor="ctr"/>
          <a:lstStyle/>
          <a:p>
            <a:pPr marL="0" indent="0" algn="ctr">
              <a:buNone/>
            </a:pPr>
            <a:r>
              <a:rPr lang="en-US" sz="1100" b="1" dirty="0">
                <a:solidFill>
                  <a:srgbClr val="060E1F"/>
                </a:solidFill>
                <a:latin typeface="Calibri" pitchFamily="34" charset="0"/>
                <a:ea typeface="Calibri" pitchFamily="34" charset="-122"/>
                <a:cs typeface="Calibri" pitchFamily="34" charset="-120"/>
              </a:rPr>
              <a:t>Global Network</a:t>
            </a:r>
            <a:endParaRPr lang="en-US" sz="1100" dirty="0"/>
          </a:p>
        </p:txBody>
      </p:sp>
      <p:sp>
        <p:nvSpPr>
          <p:cNvPr id="37" name="Text 35"/>
          <p:cNvSpPr/>
          <p:nvPr/>
        </p:nvSpPr>
        <p:spPr>
          <a:xfrm>
            <a:off x="4782312" y="3072384"/>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50+ currency support</a:t>
            </a:r>
            <a:endParaRPr lang="en-US" sz="950" dirty="0"/>
          </a:p>
        </p:txBody>
      </p:sp>
      <p:sp>
        <p:nvSpPr>
          <p:cNvPr id="38" name="Text 36"/>
          <p:cNvSpPr/>
          <p:nvPr/>
        </p:nvSpPr>
        <p:spPr>
          <a:xfrm>
            <a:off x="4782312" y="3419856"/>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Enterprise treasury tools</a:t>
            </a:r>
            <a:endParaRPr lang="en-US" sz="950" dirty="0"/>
          </a:p>
        </p:txBody>
      </p:sp>
      <p:sp>
        <p:nvSpPr>
          <p:cNvPr id="39" name="Text 37"/>
          <p:cNvSpPr/>
          <p:nvPr/>
        </p:nvSpPr>
        <p:spPr>
          <a:xfrm>
            <a:off x="4782312" y="3767328"/>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Institutional liquidity</a:t>
            </a:r>
            <a:endParaRPr lang="en-US" sz="950" dirty="0"/>
          </a:p>
        </p:txBody>
      </p:sp>
      <p:sp>
        <p:nvSpPr>
          <p:cNvPr id="40" name="Text 38"/>
          <p:cNvSpPr/>
          <p:nvPr/>
        </p:nvSpPr>
        <p:spPr>
          <a:xfrm>
            <a:off x="4782312" y="4114800"/>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DeFi access layer</a:t>
            </a:r>
            <a:endParaRPr lang="en-US" sz="950" dirty="0"/>
          </a:p>
        </p:txBody>
      </p:sp>
      <p:sp>
        <p:nvSpPr>
          <p:cNvPr id="41" name="Text 39"/>
          <p:cNvSpPr/>
          <p:nvPr/>
        </p:nvSpPr>
        <p:spPr>
          <a:xfrm>
            <a:off x="4782312" y="4462272"/>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CBDC pilot integrations</a:t>
            </a:r>
            <a:endParaRPr lang="en-US" sz="950" dirty="0"/>
          </a:p>
        </p:txBody>
      </p:sp>
      <p:sp>
        <p:nvSpPr>
          <p:cNvPr id="42" name="Text 40"/>
          <p:cNvSpPr/>
          <p:nvPr/>
        </p:nvSpPr>
        <p:spPr>
          <a:xfrm>
            <a:off x="4782312" y="4809744"/>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500k+ users</a:t>
            </a:r>
            <a:endParaRPr lang="en-US" sz="950" dirty="0"/>
          </a:p>
        </p:txBody>
      </p:sp>
      <p:sp>
        <p:nvSpPr>
          <p:cNvPr id="43" name="Text 41"/>
          <p:cNvSpPr/>
          <p:nvPr/>
        </p:nvSpPr>
        <p:spPr>
          <a:xfrm>
            <a:off x="6848856" y="1600200"/>
            <a:ext cx="2029968" cy="274320"/>
          </a:xfrm>
          <a:prstGeom prst="rect">
            <a:avLst/>
          </a:prstGeom>
          <a:noFill/>
          <a:ln/>
        </p:spPr>
        <p:txBody>
          <a:bodyPr wrap="square" lIns="0" tIns="0" rIns="0" bIns="0" rtlCol="0" anchor="ctr"/>
          <a:lstStyle/>
          <a:p>
            <a:pPr marL="0" indent="0" algn="ctr">
              <a:buNone/>
            </a:pPr>
            <a:r>
              <a:rPr lang="en-US" sz="1100" dirty="0">
                <a:solidFill>
                  <a:srgbClr val="8899A6"/>
                </a:solidFill>
                <a:latin typeface="Calibri" pitchFamily="34" charset="0"/>
                <a:ea typeface="Calibri" pitchFamily="34" charset="-122"/>
                <a:cs typeface="Calibri" pitchFamily="34" charset="-120"/>
              </a:rPr>
              <a:t>2030+</a:t>
            </a:r>
            <a:endParaRPr lang="en-US" sz="1100" dirty="0"/>
          </a:p>
        </p:txBody>
      </p:sp>
      <p:sp>
        <p:nvSpPr>
          <p:cNvPr id="44" name="Shape 42"/>
          <p:cNvSpPr/>
          <p:nvPr/>
        </p:nvSpPr>
        <p:spPr>
          <a:xfrm>
            <a:off x="7534656" y="1901952"/>
            <a:ext cx="658368" cy="658368"/>
          </a:xfrm>
          <a:prstGeom prst="line">
            <a:avLst/>
          </a:prstGeom>
          <a:solidFill>
            <a:srgbClr val="7C3AED"/>
          </a:solidFill>
          <a:ln/>
          <a:effectLst>
            <a:outerShdw blurRad="76200" dist="25400" dir="8100000" algn="bl" rotWithShape="0">
              <a:srgbClr val="000000">
                <a:alpha val="18000"/>
              </a:srgbClr>
            </a:outerShdw>
          </a:effectLst>
        </p:spPr>
      </p:sp>
      <p:sp>
        <p:nvSpPr>
          <p:cNvPr id="45" name="Text 43"/>
          <p:cNvSpPr/>
          <p:nvPr/>
        </p:nvSpPr>
        <p:spPr>
          <a:xfrm>
            <a:off x="7534656" y="1901952"/>
            <a:ext cx="658368" cy="658368"/>
          </a:xfrm>
          <a:prstGeom prst="rect">
            <a:avLst/>
          </a:prstGeom>
          <a:noFill/>
          <a:ln/>
        </p:spPr>
        <p:txBody>
          <a:bodyPr wrap="square" lIns="0" tIns="0" rIns="0" bIns="0" rtlCol="0" anchor="ctr"/>
          <a:lstStyle/>
          <a:p>
            <a:pPr marL="0" indent="0" algn="ctr">
              <a:buNone/>
            </a:pPr>
            <a:r>
              <a:rPr lang="en-US" sz="1000" b="1" dirty="0">
                <a:solidFill>
                  <a:srgbClr val="060E1F"/>
                </a:solidFill>
                <a:latin typeface="Calibri" pitchFamily="34" charset="0"/>
                <a:ea typeface="Calibri" pitchFamily="34" charset="-122"/>
                <a:cs typeface="Calibri" pitchFamily="34" charset="-120"/>
              </a:rPr>
              <a:t>Phase 4</a:t>
            </a:r>
            <a:endParaRPr lang="en-US" sz="1000" dirty="0"/>
          </a:p>
        </p:txBody>
      </p:sp>
      <p:sp>
        <p:nvSpPr>
          <p:cNvPr id="46" name="Shape 44"/>
          <p:cNvSpPr/>
          <p:nvPr/>
        </p:nvSpPr>
        <p:spPr>
          <a:xfrm>
            <a:off x="6848856" y="2651760"/>
            <a:ext cx="2029968" cy="2423160"/>
          </a:xfrm>
          <a:prstGeom prst="rect">
            <a:avLst/>
          </a:prstGeom>
          <a:solidFill>
            <a:srgbClr val="0D1E38"/>
          </a:solidFill>
          <a:ln/>
          <a:effectLst>
            <a:outerShdw blurRad="127000" dist="50800" dir="8100000" algn="bl" rotWithShape="0">
              <a:srgbClr val="000000">
                <a:alpha val="22000"/>
              </a:srgbClr>
            </a:outerShdw>
          </a:effectLst>
        </p:spPr>
      </p:sp>
      <p:sp>
        <p:nvSpPr>
          <p:cNvPr id="47" name="Shape 45"/>
          <p:cNvSpPr/>
          <p:nvPr/>
        </p:nvSpPr>
        <p:spPr>
          <a:xfrm>
            <a:off x="6848856" y="2651760"/>
            <a:ext cx="2029968" cy="347472"/>
          </a:xfrm>
          <a:prstGeom prst="rect">
            <a:avLst/>
          </a:prstGeom>
          <a:solidFill>
            <a:srgbClr val="7C3AED"/>
          </a:solidFill>
          <a:ln/>
        </p:spPr>
      </p:sp>
      <p:sp>
        <p:nvSpPr>
          <p:cNvPr id="48" name="Text 46"/>
          <p:cNvSpPr/>
          <p:nvPr/>
        </p:nvSpPr>
        <p:spPr>
          <a:xfrm>
            <a:off x="6848856" y="2670048"/>
            <a:ext cx="2029968" cy="310896"/>
          </a:xfrm>
          <a:prstGeom prst="rect">
            <a:avLst/>
          </a:prstGeom>
          <a:noFill/>
          <a:ln/>
        </p:spPr>
        <p:txBody>
          <a:bodyPr wrap="square" lIns="0" tIns="0" rIns="0" bIns="0" rtlCol="0" anchor="ctr"/>
          <a:lstStyle/>
          <a:p>
            <a:pPr marL="0" indent="0" algn="ctr">
              <a:buNone/>
            </a:pPr>
            <a:r>
              <a:rPr lang="en-US" sz="1100" b="1" dirty="0">
                <a:solidFill>
                  <a:srgbClr val="060E1F"/>
                </a:solidFill>
                <a:latin typeface="Calibri" pitchFamily="34" charset="0"/>
                <a:ea typeface="Calibri" pitchFamily="34" charset="-122"/>
                <a:cs typeface="Calibri" pitchFamily="34" charset="-120"/>
              </a:rPr>
              <a:t>Global FX Infrastructure</a:t>
            </a:r>
            <a:endParaRPr lang="en-US" sz="1100" dirty="0"/>
          </a:p>
        </p:txBody>
      </p:sp>
      <p:sp>
        <p:nvSpPr>
          <p:cNvPr id="49" name="Text 47"/>
          <p:cNvSpPr/>
          <p:nvPr/>
        </p:nvSpPr>
        <p:spPr>
          <a:xfrm>
            <a:off x="6958584" y="3072384"/>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100+ currencies</a:t>
            </a:r>
            <a:endParaRPr lang="en-US" sz="950" dirty="0"/>
          </a:p>
        </p:txBody>
      </p:sp>
      <p:sp>
        <p:nvSpPr>
          <p:cNvPr id="50" name="Text 48"/>
          <p:cNvSpPr/>
          <p:nvPr/>
        </p:nvSpPr>
        <p:spPr>
          <a:xfrm>
            <a:off x="6958584" y="3419856"/>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White-label licensing</a:t>
            </a:r>
            <a:endParaRPr lang="en-US" sz="950" dirty="0"/>
          </a:p>
        </p:txBody>
      </p:sp>
      <p:sp>
        <p:nvSpPr>
          <p:cNvPr id="51" name="Text 49"/>
          <p:cNvSpPr/>
          <p:nvPr/>
        </p:nvSpPr>
        <p:spPr>
          <a:xfrm>
            <a:off x="6958584" y="3767328"/>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Programmable FX contracts</a:t>
            </a:r>
            <a:endParaRPr lang="en-US" sz="950" dirty="0"/>
          </a:p>
        </p:txBody>
      </p:sp>
      <p:sp>
        <p:nvSpPr>
          <p:cNvPr id="52" name="Text 50"/>
          <p:cNvSpPr/>
          <p:nvPr/>
        </p:nvSpPr>
        <p:spPr>
          <a:xfrm>
            <a:off x="6958584" y="4114800"/>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Global regulatory approvals</a:t>
            </a:r>
            <a:endParaRPr lang="en-US" sz="950" dirty="0"/>
          </a:p>
        </p:txBody>
      </p:sp>
      <p:sp>
        <p:nvSpPr>
          <p:cNvPr id="53" name="Text 51"/>
          <p:cNvSpPr/>
          <p:nvPr/>
        </p:nvSpPr>
        <p:spPr>
          <a:xfrm>
            <a:off x="6958584" y="4462272"/>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Cross-chain interoperability</a:t>
            </a:r>
            <a:endParaRPr lang="en-US" sz="950" dirty="0"/>
          </a:p>
        </p:txBody>
      </p:sp>
      <p:sp>
        <p:nvSpPr>
          <p:cNvPr id="54" name="Text 52"/>
          <p:cNvSpPr/>
          <p:nvPr/>
        </p:nvSpPr>
        <p:spPr>
          <a:xfrm>
            <a:off x="6958584" y="4809744"/>
            <a:ext cx="1828800" cy="320040"/>
          </a:xfrm>
          <a:prstGeom prst="rect">
            <a:avLst/>
          </a:prstGeom>
          <a:noFill/>
          <a:ln/>
        </p:spPr>
        <p:txBody>
          <a:bodyPr wrap="square" lIns="0" tIns="0" rIns="0" bIns="0" rtlCol="0" anchor="ctr"/>
          <a:lstStyle/>
          <a:p>
            <a:pPr marL="0" indent="0">
              <a:buNone/>
            </a:pPr>
            <a:r>
              <a:rPr lang="en-US" sz="950" dirty="0">
                <a:solidFill>
                  <a:srgbClr val="8899A6"/>
                </a:solidFill>
                <a:latin typeface="Calibri" pitchFamily="34" charset="0"/>
                <a:ea typeface="Calibri" pitchFamily="34" charset="-122"/>
                <a:cs typeface="Calibri" pitchFamily="34" charset="-120"/>
              </a:rPr>
              <a:t>▸ 10M+ users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Regulatory &amp; Compliance Strategy</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Built to operate in every jurisdiction — compliance is our competitive advantage</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8503920" cy="658368"/>
          </a:xfrm>
          <a:prstGeom prst="rect">
            <a:avLst/>
          </a:prstGeom>
          <a:solidFill>
            <a:srgbClr val="0D1E38"/>
          </a:solidFill>
          <a:ln/>
          <a:effectLst>
            <a:outerShdw blurRad="127000" dist="50800" dir="8100000" algn="bl" rotWithShape="0">
              <a:srgbClr val="000000">
                <a:alpha val="22000"/>
              </a:srgbClr>
            </a:outerShdw>
          </a:effectLst>
        </p:spPr>
      </p:sp>
      <p:sp>
        <p:nvSpPr>
          <p:cNvPr id="7" name="Shape 5"/>
          <p:cNvSpPr/>
          <p:nvPr/>
        </p:nvSpPr>
        <p:spPr>
          <a:xfrm>
            <a:off x="320040" y="1024128"/>
            <a:ext cx="73152" cy="658368"/>
          </a:xfrm>
          <a:prstGeom prst="rect">
            <a:avLst/>
          </a:prstGeom>
          <a:solidFill>
            <a:srgbClr val="00D4AA"/>
          </a:solidFill>
          <a:ln/>
        </p:spPr>
      </p:sp>
      <p:sp>
        <p:nvSpPr>
          <p:cNvPr id="8" name="Text 6"/>
          <p:cNvSpPr/>
          <p:nvPr/>
        </p:nvSpPr>
        <p:spPr>
          <a:xfrm>
            <a:off x="493776" y="1097280"/>
            <a:ext cx="8229600" cy="493776"/>
          </a:xfrm>
          <a:prstGeom prst="rect">
            <a:avLst/>
          </a:prstGeom>
          <a:noFill/>
          <a:ln/>
        </p:spPr>
        <p:txBody>
          <a:bodyPr wrap="square" lIns="0" tIns="0" rIns="0" bIns="0" rtlCol="0" anchor="ctr"/>
          <a:lstStyle/>
          <a:p>
            <a:pPr marL="0" indent="0">
              <a:buNone/>
            </a:pPr>
            <a:r>
              <a:rPr lang="en-US" sz="1100" dirty="0">
                <a:solidFill>
                  <a:srgbClr val="8899A6"/>
                </a:solidFill>
                <a:latin typeface="Calibri" pitchFamily="34" charset="0"/>
                <a:ea typeface="Calibri" pitchFamily="34" charset="-122"/>
                <a:cs typeface="Calibri" pitchFamily="34" charset="-120"/>
              </a:rPr>
              <a:t>HashPay is designed from Day 1 as a compliance-first platform. In a world where regulators are scrutinizing fintech and crypto companies more than ever, our regulatory posture is not a constraint — it is a strategic moat. Compliant fintechs survive. Non-compliant ones don't.</a:t>
            </a:r>
            <a:endParaRPr lang="en-US" sz="1100" dirty="0"/>
          </a:p>
        </p:txBody>
      </p:sp>
      <p:sp>
        <p:nvSpPr>
          <p:cNvPr id="9" name="Shape 7"/>
          <p:cNvSpPr/>
          <p:nvPr/>
        </p:nvSpPr>
        <p:spPr>
          <a:xfrm>
            <a:off x="320040" y="1828800"/>
            <a:ext cx="4133088" cy="1261872"/>
          </a:xfrm>
          <a:prstGeom prst="rect">
            <a:avLst/>
          </a:prstGeom>
          <a:solidFill>
            <a:srgbClr val="0D1E38"/>
          </a:solidFill>
          <a:ln/>
          <a:effectLst>
            <a:outerShdw blurRad="127000" dist="50800" dir="8100000" algn="bl" rotWithShape="0">
              <a:srgbClr val="000000">
                <a:alpha val="22000"/>
              </a:srgbClr>
            </a:outerShdw>
          </a:effectLst>
        </p:spPr>
      </p:sp>
      <p:sp>
        <p:nvSpPr>
          <p:cNvPr id="10" name="Shape 8"/>
          <p:cNvSpPr/>
          <p:nvPr/>
        </p:nvSpPr>
        <p:spPr>
          <a:xfrm>
            <a:off x="320040" y="1828800"/>
            <a:ext cx="64008" cy="1261872"/>
          </a:xfrm>
          <a:prstGeom prst="rect">
            <a:avLst/>
          </a:prstGeom>
          <a:solidFill>
            <a:srgbClr val="00D4AA"/>
          </a:solidFill>
          <a:ln/>
        </p:spPr>
      </p:sp>
      <p:sp>
        <p:nvSpPr>
          <p:cNvPr id="11" name="Text 9"/>
          <p:cNvSpPr/>
          <p:nvPr/>
        </p:nvSpPr>
        <p:spPr>
          <a:xfrm>
            <a:off x="484632" y="1901952"/>
            <a:ext cx="385876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KYC/AML Framework</a:t>
            </a:r>
            <a:endParaRPr lang="en-US" sz="1300" dirty="0"/>
          </a:p>
        </p:txBody>
      </p:sp>
      <p:sp>
        <p:nvSpPr>
          <p:cNvPr id="12" name="Text 10"/>
          <p:cNvSpPr/>
          <p:nvPr/>
        </p:nvSpPr>
        <p:spPr>
          <a:xfrm>
            <a:off x="484632" y="2249424"/>
            <a:ext cx="3858768" cy="749808"/>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Real-time identity verification powered by AI screening (Jumio/Onfido-grade). Transaction monitoring flags suspicious activity before it completes. FATF-compliant across all corridors.</a:t>
            </a:r>
            <a:endParaRPr lang="en-US" sz="1050" dirty="0"/>
          </a:p>
        </p:txBody>
      </p:sp>
      <p:sp>
        <p:nvSpPr>
          <p:cNvPr id="13" name="Shape 11"/>
          <p:cNvSpPr/>
          <p:nvPr/>
        </p:nvSpPr>
        <p:spPr>
          <a:xfrm>
            <a:off x="4617720" y="1828800"/>
            <a:ext cx="4133088" cy="1261872"/>
          </a:xfrm>
          <a:prstGeom prst="rect">
            <a:avLst/>
          </a:prstGeom>
          <a:solidFill>
            <a:srgbClr val="0D1E38"/>
          </a:solidFill>
          <a:ln/>
          <a:effectLst>
            <a:outerShdw blurRad="127000" dist="50800" dir="8100000" algn="bl" rotWithShape="0">
              <a:srgbClr val="000000">
                <a:alpha val="22000"/>
              </a:srgbClr>
            </a:outerShdw>
          </a:effectLst>
        </p:spPr>
      </p:sp>
      <p:sp>
        <p:nvSpPr>
          <p:cNvPr id="14" name="Shape 12"/>
          <p:cNvSpPr/>
          <p:nvPr/>
        </p:nvSpPr>
        <p:spPr>
          <a:xfrm>
            <a:off x="4617720" y="1828800"/>
            <a:ext cx="64008" cy="1261872"/>
          </a:xfrm>
          <a:prstGeom prst="rect">
            <a:avLst/>
          </a:prstGeom>
          <a:solidFill>
            <a:srgbClr val="FFB800"/>
          </a:solidFill>
          <a:ln/>
        </p:spPr>
      </p:sp>
      <p:sp>
        <p:nvSpPr>
          <p:cNvPr id="15" name="Text 13"/>
          <p:cNvSpPr/>
          <p:nvPr/>
        </p:nvSpPr>
        <p:spPr>
          <a:xfrm>
            <a:off x="4782312" y="1901952"/>
            <a:ext cx="385876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Multi-Jurisdiction Licensing</a:t>
            </a:r>
            <a:endParaRPr lang="en-US" sz="1300" dirty="0"/>
          </a:p>
        </p:txBody>
      </p:sp>
      <p:sp>
        <p:nvSpPr>
          <p:cNvPr id="16" name="Text 14"/>
          <p:cNvSpPr/>
          <p:nvPr/>
        </p:nvSpPr>
        <p:spPr>
          <a:xfrm>
            <a:off x="4782312" y="2249424"/>
            <a:ext cx="3858768" cy="749808"/>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Phase 1: Nigeria SEC + CBN fintech licenses. Phase 2: UK FCA EMI license, EU PSD2 compliance. Phase 3: UAE DIFC, Singapore MAS. We engage regulators before entering markets.</a:t>
            </a:r>
            <a:endParaRPr lang="en-US" sz="1050" dirty="0"/>
          </a:p>
        </p:txBody>
      </p:sp>
      <p:sp>
        <p:nvSpPr>
          <p:cNvPr id="17" name="Shape 15"/>
          <p:cNvSpPr/>
          <p:nvPr/>
        </p:nvSpPr>
        <p:spPr>
          <a:xfrm>
            <a:off x="320040" y="3246120"/>
            <a:ext cx="4133088" cy="1261872"/>
          </a:xfrm>
          <a:prstGeom prst="rect">
            <a:avLst/>
          </a:prstGeom>
          <a:solidFill>
            <a:srgbClr val="0D1E38"/>
          </a:solidFill>
          <a:ln/>
          <a:effectLst>
            <a:outerShdw blurRad="127000" dist="50800" dir="8100000" algn="bl" rotWithShape="0">
              <a:srgbClr val="000000">
                <a:alpha val="22000"/>
              </a:srgbClr>
            </a:outerShdw>
          </a:effectLst>
        </p:spPr>
      </p:sp>
      <p:sp>
        <p:nvSpPr>
          <p:cNvPr id="18" name="Shape 16"/>
          <p:cNvSpPr/>
          <p:nvPr/>
        </p:nvSpPr>
        <p:spPr>
          <a:xfrm>
            <a:off x="320040" y="3246120"/>
            <a:ext cx="64008" cy="1261872"/>
          </a:xfrm>
          <a:prstGeom prst="rect">
            <a:avLst/>
          </a:prstGeom>
          <a:solidFill>
            <a:srgbClr val="F97316"/>
          </a:solidFill>
          <a:ln/>
        </p:spPr>
      </p:sp>
      <p:sp>
        <p:nvSpPr>
          <p:cNvPr id="19" name="Text 17"/>
          <p:cNvSpPr/>
          <p:nvPr/>
        </p:nvSpPr>
        <p:spPr>
          <a:xfrm>
            <a:off x="484632" y="3319272"/>
            <a:ext cx="385876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ISO 20022 Ready</a:t>
            </a:r>
            <a:endParaRPr lang="en-US" sz="1300" dirty="0"/>
          </a:p>
        </p:txBody>
      </p:sp>
      <p:sp>
        <p:nvSpPr>
          <p:cNvPr id="20" name="Text 18"/>
          <p:cNvSpPr/>
          <p:nvPr/>
        </p:nvSpPr>
        <p:spPr>
          <a:xfrm>
            <a:off x="484632" y="3666744"/>
            <a:ext cx="3858768" cy="749808"/>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HashPay's messaging standard is ISO 20022-aligned, the new global banking standard mandated by SWIFT and global central banks. This future-proofs our integration with CBDC and digital currency infrastructure.</a:t>
            </a:r>
            <a:endParaRPr lang="en-US" sz="1050" dirty="0"/>
          </a:p>
        </p:txBody>
      </p:sp>
      <p:sp>
        <p:nvSpPr>
          <p:cNvPr id="21" name="Shape 19"/>
          <p:cNvSpPr/>
          <p:nvPr/>
        </p:nvSpPr>
        <p:spPr>
          <a:xfrm>
            <a:off x="4617720" y="3246120"/>
            <a:ext cx="4133088" cy="1261872"/>
          </a:xfrm>
          <a:prstGeom prst="rect">
            <a:avLst/>
          </a:prstGeom>
          <a:solidFill>
            <a:srgbClr val="0D1E38"/>
          </a:solidFill>
          <a:ln/>
          <a:effectLst>
            <a:outerShdw blurRad="127000" dist="50800" dir="8100000" algn="bl" rotWithShape="0">
              <a:srgbClr val="000000">
                <a:alpha val="22000"/>
              </a:srgbClr>
            </a:outerShdw>
          </a:effectLst>
        </p:spPr>
      </p:sp>
      <p:sp>
        <p:nvSpPr>
          <p:cNvPr id="22" name="Shape 20"/>
          <p:cNvSpPr/>
          <p:nvPr/>
        </p:nvSpPr>
        <p:spPr>
          <a:xfrm>
            <a:off x="4617720" y="3246120"/>
            <a:ext cx="64008" cy="1261872"/>
          </a:xfrm>
          <a:prstGeom prst="rect">
            <a:avLst/>
          </a:prstGeom>
          <a:solidFill>
            <a:srgbClr val="7C3AED"/>
          </a:solidFill>
          <a:ln/>
        </p:spPr>
      </p:sp>
      <p:sp>
        <p:nvSpPr>
          <p:cNvPr id="23" name="Text 21"/>
          <p:cNvSpPr/>
          <p:nvPr/>
        </p:nvSpPr>
        <p:spPr>
          <a:xfrm>
            <a:off x="4782312" y="3319272"/>
            <a:ext cx="3858768"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Data &amp; Security</a:t>
            </a:r>
            <a:endParaRPr lang="en-US" sz="1300" dirty="0"/>
          </a:p>
        </p:txBody>
      </p:sp>
      <p:sp>
        <p:nvSpPr>
          <p:cNvPr id="24" name="Text 22"/>
          <p:cNvSpPr/>
          <p:nvPr/>
        </p:nvSpPr>
        <p:spPr>
          <a:xfrm>
            <a:off x="4782312" y="3666744"/>
            <a:ext cx="3858768" cy="749808"/>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End-to-end encryption (AES-256). Multi-sig hardware security modules. Regular third-party penetration testing. GDPR, NDPR, and CCPA compliance built into platform architecture.</a:t>
            </a:r>
            <a:endParaRPr lang="en-US" sz="1050" dirty="0"/>
          </a:p>
        </p:txBody>
      </p:sp>
      <p:sp>
        <p:nvSpPr>
          <p:cNvPr id="25" name="Shape 23"/>
          <p:cNvSpPr/>
          <p:nvPr/>
        </p:nvSpPr>
        <p:spPr>
          <a:xfrm>
            <a:off x="320040" y="4736592"/>
            <a:ext cx="8503920" cy="310896"/>
          </a:xfrm>
          <a:prstGeom prst="rect">
            <a:avLst/>
          </a:prstGeom>
          <a:solidFill>
            <a:srgbClr val="0A2A1A"/>
          </a:solidFill>
          <a:ln/>
        </p:spPr>
      </p:sp>
      <p:sp>
        <p:nvSpPr>
          <p:cNvPr id="26" name="Text 24"/>
          <p:cNvSpPr/>
          <p:nvPr/>
        </p:nvSpPr>
        <p:spPr>
          <a:xfrm>
            <a:off x="411480" y="4773168"/>
            <a:ext cx="8321040" cy="237744"/>
          </a:xfrm>
          <a:prstGeom prst="rect">
            <a:avLst/>
          </a:prstGeom>
          <a:noFill/>
          <a:ln/>
        </p:spPr>
        <p:txBody>
          <a:bodyPr wrap="square" lIns="0" tIns="0" rIns="0" bIns="0" rtlCol="0" anchor="ctr"/>
          <a:lstStyle/>
          <a:p>
            <a:pPr marL="0" indent="0" algn="ctr">
              <a:buNone/>
            </a:pPr>
            <a:r>
              <a:rPr lang="en-US" sz="1000" dirty="0">
                <a:solidFill>
                  <a:srgbClr val="00D4AA"/>
                </a:solidFill>
                <a:latin typeface="Calibri" pitchFamily="34" charset="0"/>
                <a:ea typeface="Calibri" pitchFamily="34" charset="-122"/>
                <a:cs typeface="Calibri" pitchFamily="34" charset="-120"/>
              </a:rPr>
              <a:t>Regulatory compliance reduces HashPay's long-term operational risk and dramatically increases platform trust — the #1 driver of transaction volume in payments.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The HashPay Global Team</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Builders, engineers, and strategists united by one mission: universal currency</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05840"/>
            <a:ext cx="2715768" cy="1810512"/>
          </a:xfrm>
          <a:prstGeom prst="rect">
            <a:avLst/>
          </a:prstGeom>
          <a:solidFill>
            <a:srgbClr val="0D1E38"/>
          </a:solidFill>
          <a:ln/>
          <a:effectLst>
            <a:outerShdw blurRad="127000" dist="50800" dir="8100000" algn="bl" rotWithShape="0">
              <a:srgbClr val="000000">
                <a:alpha val="22000"/>
              </a:srgbClr>
            </a:outerShdw>
          </a:effectLst>
        </p:spPr>
      </p:sp>
      <p:sp>
        <p:nvSpPr>
          <p:cNvPr id="7" name="Shape 5"/>
          <p:cNvSpPr/>
          <p:nvPr/>
        </p:nvSpPr>
        <p:spPr>
          <a:xfrm>
            <a:off x="320040" y="1005840"/>
            <a:ext cx="2715768" cy="54864"/>
          </a:xfrm>
          <a:prstGeom prst="rect">
            <a:avLst/>
          </a:prstGeom>
          <a:solidFill>
            <a:srgbClr val="00D4AA"/>
          </a:solidFill>
          <a:ln/>
        </p:spPr>
      </p:sp>
      <p:sp>
        <p:nvSpPr>
          <p:cNvPr id="8" name="Shape 6"/>
          <p:cNvSpPr/>
          <p:nvPr/>
        </p:nvSpPr>
        <p:spPr>
          <a:xfrm>
            <a:off x="1325880" y="1115568"/>
            <a:ext cx="713232" cy="713232"/>
          </a:xfrm>
          <a:prstGeom prst="line">
            <a:avLst/>
          </a:prstGeom>
          <a:solidFill>
            <a:srgbClr val="0E2040"/>
          </a:solidFill>
          <a:ln/>
        </p:spPr>
      </p:sp>
      <p:sp>
        <p:nvSpPr>
          <p:cNvPr id="9" name="Text 7"/>
          <p:cNvSpPr/>
          <p:nvPr/>
        </p:nvSpPr>
        <p:spPr>
          <a:xfrm>
            <a:off x="1325880" y="1115568"/>
            <a:ext cx="713232" cy="71323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0" name="Text 8"/>
          <p:cNvSpPr/>
          <p:nvPr/>
        </p:nvSpPr>
        <p:spPr>
          <a:xfrm>
            <a:off x="411480" y="1920240"/>
            <a:ext cx="2542032"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Benedict Pascal</a:t>
            </a:r>
            <a:endParaRPr lang="en-US" sz="1200" dirty="0"/>
          </a:p>
        </p:txBody>
      </p:sp>
      <p:sp>
        <p:nvSpPr>
          <p:cNvPr id="11" name="Text 9"/>
          <p:cNvSpPr/>
          <p:nvPr/>
        </p:nvSpPr>
        <p:spPr>
          <a:xfrm>
            <a:off x="411480" y="2194560"/>
            <a:ext cx="2542032" cy="237744"/>
          </a:xfrm>
          <a:prstGeom prst="rect">
            <a:avLst/>
          </a:prstGeom>
          <a:noFill/>
          <a:ln/>
        </p:spPr>
        <p:txBody>
          <a:bodyPr wrap="square" lIns="0" tIns="0" rIns="0" bIns="0" rtlCol="0" anchor="ctr"/>
          <a:lstStyle/>
          <a:p>
            <a:pPr marL="0" indent="0" algn="ctr">
              <a:buNone/>
            </a:pPr>
            <a:r>
              <a:rPr lang="en-US" sz="1000" b="1" dirty="0">
                <a:solidFill>
                  <a:srgbClr val="00D4AA"/>
                </a:solidFill>
                <a:latin typeface="Calibri" pitchFamily="34" charset="0"/>
                <a:ea typeface="Calibri" pitchFamily="34" charset="-122"/>
                <a:cs typeface="Calibri" pitchFamily="34" charset="-120"/>
              </a:rPr>
              <a:t>CEO &amp; Founder</a:t>
            </a:r>
            <a:endParaRPr lang="en-US" sz="1000" dirty="0"/>
          </a:p>
        </p:txBody>
      </p:sp>
      <p:sp>
        <p:nvSpPr>
          <p:cNvPr id="12" name="Text 10"/>
          <p:cNvSpPr/>
          <p:nvPr/>
        </p:nvSpPr>
        <p:spPr>
          <a:xfrm>
            <a:off x="411480" y="2450592"/>
            <a:ext cx="2542032" cy="320040"/>
          </a:xfrm>
          <a:prstGeom prst="rect">
            <a:avLst/>
          </a:prstGeom>
          <a:noFill/>
          <a:ln/>
        </p:spPr>
        <p:txBody>
          <a:bodyPr wrap="square" lIns="0" tIns="0" rIns="0" bIns="0" rtlCol="0" anchor="ctr"/>
          <a:lstStyle/>
          <a:p>
            <a:pPr marL="0" indent="0" algn="ctr">
              <a:buNone/>
            </a:pPr>
            <a:r>
              <a:rPr lang="en-US" sz="850" dirty="0">
                <a:solidFill>
                  <a:srgbClr val="8899A6"/>
                </a:solidFill>
                <a:latin typeface="Calibri" pitchFamily="34" charset="0"/>
                <a:ea typeface="Calibri" pitchFamily="34" charset="-122"/>
                <a:cs typeface="Calibri" pitchFamily="34" charset="-120"/>
              </a:rPr>
              <a:t>Visionary leader driving HashPay's global strategy. Deep expertise in fintech architecture and the Web3 ecosystem.</a:t>
            </a:r>
            <a:endParaRPr lang="en-US" sz="850" dirty="0"/>
          </a:p>
        </p:txBody>
      </p:sp>
      <p:sp>
        <p:nvSpPr>
          <p:cNvPr id="13" name="Shape 11"/>
          <p:cNvSpPr/>
          <p:nvPr/>
        </p:nvSpPr>
        <p:spPr>
          <a:xfrm>
            <a:off x="3218688" y="1005840"/>
            <a:ext cx="2715768" cy="1810512"/>
          </a:xfrm>
          <a:prstGeom prst="rect">
            <a:avLst/>
          </a:prstGeom>
          <a:solidFill>
            <a:srgbClr val="0D1E38"/>
          </a:solidFill>
          <a:ln/>
          <a:effectLst>
            <a:outerShdw blurRad="127000" dist="50800" dir="8100000" algn="bl" rotWithShape="0">
              <a:srgbClr val="000000">
                <a:alpha val="22000"/>
              </a:srgbClr>
            </a:outerShdw>
          </a:effectLst>
        </p:spPr>
      </p:sp>
      <p:sp>
        <p:nvSpPr>
          <p:cNvPr id="14" name="Shape 12"/>
          <p:cNvSpPr/>
          <p:nvPr/>
        </p:nvSpPr>
        <p:spPr>
          <a:xfrm>
            <a:off x="3218688" y="1005840"/>
            <a:ext cx="2715768" cy="54864"/>
          </a:xfrm>
          <a:prstGeom prst="rect">
            <a:avLst/>
          </a:prstGeom>
          <a:solidFill>
            <a:srgbClr val="FFB800"/>
          </a:solidFill>
          <a:ln/>
        </p:spPr>
      </p:sp>
      <p:sp>
        <p:nvSpPr>
          <p:cNvPr id="15" name="Shape 13"/>
          <p:cNvSpPr/>
          <p:nvPr/>
        </p:nvSpPr>
        <p:spPr>
          <a:xfrm>
            <a:off x="4224528" y="1115568"/>
            <a:ext cx="713232" cy="713232"/>
          </a:xfrm>
          <a:prstGeom prst="line">
            <a:avLst/>
          </a:prstGeom>
          <a:solidFill>
            <a:srgbClr val="0E2040"/>
          </a:solidFill>
          <a:ln/>
        </p:spPr>
      </p:sp>
      <p:sp>
        <p:nvSpPr>
          <p:cNvPr id="16" name="Text 14"/>
          <p:cNvSpPr/>
          <p:nvPr/>
        </p:nvSpPr>
        <p:spPr>
          <a:xfrm>
            <a:off x="4224528" y="1115568"/>
            <a:ext cx="713232" cy="71323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7" name="Text 15"/>
          <p:cNvSpPr/>
          <p:nvPr/>
        </p:nvSpPr>
        <p:spPr>
          <a:xfrm>
            <a:off x="3310128" y="1920240"/>
            <a:ext cx="2542032"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Martins Kendrick</a:t>
            </a:r>
            <a:endParaRPr lang="en-US" sz="1200" dirty="0"/>
          </a:p>
        </p:txBody>
      </p:sp>
      <p:sp>
        <p:nvSpPr>
          <p:cNvPr id="18" name="Text 16"/>
          <p:cNvSpPr/>
          <p:nvPr/>
        </p:nvSpPr>
        <p:spPr>
          <a:xfrm>
            <a:off x="3310128" y="2194560"/>
            <a:ext cx="2542032" cy="237744"/>
          </a:xfrm>
          <a:prstGeom prst="rect">
            <a:avLst/>
          </a:prstGeom>
          <a:noFill/>
          <a:ln/>
        </p:spPr>
        <p:txBody>
          <a:bodyPr wrap="square" lIns="0" tIns="0" rIns="0" bIns="0" rtlCol="0" anchor="ctr"/>
          <a:lstStyle/>
          <a:p>
            <a:pPr marL="0" indent="0" algn="ctr">
              <a:buNone/>
            </a:pPr>
            <a:r>
              <a:rPr lang="en-US" sz="1000" b="1" dirty="0">
                <a:solidFill>
                  <a:srgbClr val="FFB800"/>
                </a:solidFill>
                <a:latin typeface="Calibri" pitchFamily="34" charset="0"/>
                <a:ea typeface="Calibri" pitchFamily="34" charset="-122"/>
                <a:cs typeface="Calibri" pitchFamily="34" charset="-120"/>
              </a:rPr>
              <a:t>Chief Technical Lead</a:t>
            </a:r>
            <a:endParaRPr lang="en-US" sz="1000" dirty="0"/>
          </a:p>
        </p:txBody>
      </p:sp>
      <p:sp>
        <p:nvSpPr>
          <p:cNvPr id="19" name="Text 17"/>
          <p:cNvSpPr/>
          <p:nvPr/>
        </p:nvSpPr>
        <p:spPr>
          <a:xfrm>
            <a:off x="3310128" y="2450592"/>
            <a:ext cx="2542032" cy="320040"/>
          </a:xfrm>
          <a:prstGeom prst="rect">
            <a:avLst/>
          </a:prstGeom>
          <a:noFill/>
          <a:ln/>
        </p:spPr>
        <p:txBody>
          <a:bodyPr wrap="square" lIns="0" tIns="0" rIns="0" bIns="0" rtlCol="0" anchor="ctr"/>
          <a:lstStyle/>
          <a:p>
            <a:pPr marL="0" indent="0" algn="ctr">
              <a:buNone/>
            </a:pPr>
            <a:r>
              <a:rPr lang="en-US" sz="850" dirty="0">
                <a:solidFill>
                  <a:srgbClr val="8899A6"/>
                </a:solidFill>
                <a:latin typeface="Calibri" pitchFamily="34" charset="0"/>
                <a:ea typeface="Calibri" pitchFamily="34" charset="-122"/>
                <a:cs typeface="Calibri" pitchFamily="34" charset="-120"/>
              </a:rPr>
              <a:t>Leads HashPay's engineering. Architect of the smart currency routing engine and blockchain settlement layer.</a:t>
            </a:r>
            <a:endParaRPr lang="en-US" sz="850" dirty="0"/>
          </a:p>
        </p:txBody>
      </p:sp>
      <p:sp>
        <p:nvSpPr>
          <p:cNvPr id="20" name="Shape 18"/>
          <p:cNvSpPr/>
          <p:nvPr/>
        </p:nvSpPr>
        <p:spPr>
          <a:xfrm>
            <a:off x="6117336" y="1005840"/>
            <a:ext cx="2715768" cy="1810512"/>
          </a:xfrm>
          <a:prstGeom prst="rect">
            <a:avLst/>
          </a:prstGeom>
          <a:solidFill>
            <a:srgbClr val="0D1E38"/>
          </a:solidFill>
          <a:ln/>
          <a:effectLst>
            <a:outerShdw blurRad="127000" dist="50800" dir="8100000" algn="bl" rotWithShape="0">
              <a:srgbClr val="000000">
                <a:alpha val="22000"/>
              </a:srgbClr>
            </a:outerShdw>
          </a:effectLst>
        </p:spPr>
      </p:sp>
      <p:sp>
        <p:nvSpPr>
          <p:cNvPr id="21" name="Shape 19"/>
          <p:cNvSpPr/>
          <p:nvPr/>
        </p:nvSpPr>
        <p:spPr>
          <a:xfrm>
            <a:off x="6117336" y="1005840"/>
            <a:ext cx="2715768" cy="54864"/>
          </a:xfrm>
          <a:prstGeom prst="rect">
            <a:avLst/>
          </a:prstGeom>
          <a:solidFill>
            <a:srgbClr val="F97316"/>
          </a:solidFill>
          <a:ln/>
        </p:spPr>
      </p:sp>
      <p:sp>
        <p:nvSpPr>
          <p:cNvPr id="22" name="Shape 20"/>
          <p:cNvSpPr/>
          <p:nvPr/>
        </p:nvSpPr>
        <p:spPr>
          <a:xfrm>
            <a:off x="7123176" y="1115568"/>
            <a:ext cx="713232" cy="713232"/>
          </a:xfrm>
          <a:prstGeom prst="line">
            <a:avLst/>
          </a:prstGeom>
          <a:solidFill>
            <a:srgbClr val="0E2040"/>
          </a:solidFill>
          <a:ln/>
        </p:spPr>
      </p:sp>
      <p:sp>
        <p:nvSpPr>
          <p:cNvPr id="23" name="Text 21"/>
          <p:cNvSpPr/>
          <p:nvPr/>
        </p:nvSpPr>
        <p:spPr>
          <a:xfrm>
            <a:off x="7123176" y="1115568"/>
            <a:ext cx="713232" cy="71323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4" name="Text 22"/>
          <p:cNvSpPr/>
          <p:nvPr/>
        </p:nvSpPr>
        <p:spPr>
          <a:xfrm>
            <a:off x="6208776" y="1920240"/>
            <a:ext cx="2542032"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Victor I. Uzoma</a:t>
            </a:r>
            <a:endParaRPr lang="en-US" sz="1200" dirty="0"/>
          </a:p>
        </p:txBody>
      </p:sp>
      <p:sp>
        <p:nvSpPr>
          <p:cNvPr id="25" name="Text 23"/>
          <p:cNvSpPr/>
          <p:nvPr/>
        </p:nvSpPr>
        <p:spPr>
          <a:xfrm>
            <a:off x="6208776" y="2194560"/>
            <a:ext cx="2542032" cy="237744"/>
          </a:xfrm>
          <a:prstGeom prst="rect">
            <a:avLst/>
          </a:prstGeom>
          <a:noFill/>
          <a:ln/>
        </p:spPr>
        <p:txBody>
          <a:bodyPr wrap="square" lIns="0" tIns="0" rIns="0" bIns="0" rtlCol="0" anchor="ctr"/>
          <a:lstStyle/>
          <a:p>
            <a:pPr marL="0" indent="0" algn="ctr">
              <a:buNone/>
            </a:pPr>
            <a:r>
              <a:rPr lang="en-US" sz="1000" b="1" dirty="0">
                <a:solidFill>
                  <a:srgbClr val="F97316"/>
                </a:solidFill>
                <a:latin typeface="Calibri" pitchFamily="34" charset="0"/>
                <a:ea typeface="Calibri" pitchFamily="34" charset="-122"/>
                <a:cs typeface="Calibri" pitchFamily="34" charset="-120"/>
              </a:rPr>
              <a:t>Chief Product Manager</a:t>
            </a:r>
            <a:endParaRPr lang="en-US" sz="1000" dirty="0"/>
          </a:p>
        </p:txBody>
      </p:sp>
      <p:sp>
        <p:nvSpPr>
          <p:cNvPr id="26" name="Text 24"/>
          <p:cNvSpPr/>
          <p:nvPr/>
        </p:nvSpPr>
        <p:spPr>
          <a:xfrm>
            <a:off x="6208776" y="2450592"/>
            <a:ext cx="2542032" cy="320040"/>
          </a:xfrm>
          <a:prstGeom prst="rect">
            <a:avLst/>
          </a:prstGeom>
          <a:noFill/>
          <a:ln/>
        </p:spPr>
        <p:txBody>
          <a:bodyPr wrap="square" lIns="0" tIns="0" rIns="0" bIns="0" rtlCol="0" anchor="ctr"/>
          <a:lstStyle/>
          <a:p>
            <a:pPr marL="0" indent="0" algn="ctr">
              <a:buNone/>
            </a:pPr>
            <a:r>
              <a:rPr lang="en-US" sz="850" dirty="0">
                <a:solidFill>
                  <a:srgbClr val="8899A6"/>
                </a:solidFill>
                <a:latin typeface="Calibri" pitchFamily="34" charset="0"/>
                <a:ea typeface="Calibri" pitchFamily="34" charset="-122"/>
                <a:cs typeface="Calibri" pitchFamily="34" charset="-120"/>
              </a:rPr>
              <a:t>Translates complex payments infrastructure into delightful user experiences. Obsessed with adoption and retention.</a:t>
            </a:r>
            <a:endParaRPr lang="en-US" sz="850" dirty="0"/>
          </a:p>
        </p:txBody>
      </p:sp>
      <p:sp>
        <p:nvSpPr>
          <p:cNvPr id="27" name="Shape 25"/>
          <p:cNvSpPr/>
          <p:nvPr/>
        </p:nvSpPr>
        <p:spPr>
          <a:xfrm>
            <a:off x="320040" y="2971800"/>
            <a:ext cx="2715768" cy="1810512"/>
          </a:xfrm>
          <a:prstGeom prst="rect">
            <a:avLst/>
          </a:prstGeom>
          <a:solidFill>
            <a:srgbClr val="0D1E38"/>
          </a:solidFill>
          <a:ln/>
          <a:effectLst>
            <a:outerShdw blurRad="127000" dist="50800" dir="8100000" algn="bl" rotWithShape="0">
              <a:srgbClr val="000000">
                <a:alpha val="22000"/>
              </a:srgbClr>
            </a:outerShdw>
          </a:effectLst>
        </p:spPr>
      </p:sp>
      <p:sp>
        <p:nvSpPr>
          <p:cNvPr id="28" name="Shape 26"/>
          <p:cNvSpPr/>
          <p:nvPr/>
        </p:nvSpPr>
        <p:spPr>
          <a:xfrm>
            <a:off x="320040" y="2971800"/>
            <a:ext cx="2715768" cy="54864"/>
          </a:xfrm>
          <a:prstGeom prst="rect">
            <a:avLst/>
          </a:prstGeom>
          <a:solidFill>
            <a:srgbClr val="7C3AED"/>
          </a:solidFill>
          <a:ln/>
        </p:spPr>
      </p:sp>
      <p:sp>
        <p:nvSpPr>
          <p:cNvPr id="29" name="Shape 27"/>
          <p:cNvSpPr/>
          <p:nvPr/>
        </p:nvSpPr>
        <p:spPr>
          <a:xfrm>
            <a:off x="1325880" y="3081528"/>
            <a:ext cx="713232" cy="713232"/>
          </a:xfrm>
          <a:prstGeom prst="line">
            <a:avLst/>
          </a:prstGeom>
          <a:solidFill>
            <a:srgbClr val="0E2040"/>
          </a:solidFill>
          <a:ln/>
        </p:spPr>
      </p:sp>
      <p:sp>
        <p:nvSpPr>
          <p:cNvPr id="30" name="Text 28"/>
          <p:cNvSpPr/>
          <p:nvPr/>
        </p:nvSpPr>
        <p:spPr>
          <a:xfrm>
            <a:off x="1325880" y="3081528"/>
            <a:ext cx="713232" cy="71323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1" name="Text 29"/>
          <p:cNvSpPr/>
          <p:nvPr/>
        </p:nvSpPr>
        <p:spPr>
          <a:xfrm>
            <a:off x="411480" y="3886200"/>
            <a:ext cx="2542032"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Sheriff Mudasir</a:t>
            </a:r>
            <a:endParaRPr lang="en-US" sz="1200" dirty="0"/>
          </a:p>
        </p:txBody>
      </p:sp>
      <p:sp>
        <p:nvSpPr>
          <p:cNvPr id="32" name="Text 30"/>
          <p:cNvSpPr/>
          <p:nvPr/>
        </p:nvSpPr>
        <p:spPr>
          <a:xfrm>
            <a:off x="411480" y="4160520"/>
            <a:ext cx="2542032" cy="237744"/>
          </a:xfrm>
          <a:prstGeom prst="rect">
            <a:avLst/>
          </a:prstGeom>
          <a:noFill/>
          <a:ln/>
        </p:spPr>
        <p:txBody>
          <a:bodyPr wrap="square" lIns="0" tIns="0" rIns="0" bIns="0" rtlCol="0" anchor="ctr"/>
          <a:lstStyle/>
          <a:p>
            <a:pPr marL="0" indent="0" algn="ctr">
              <a:buNone/>
            </a:pPr>
            <a:r>
              <a:rPr lang="en-US" sz="1000" b="1" dirty="0">
                <a:solidFill>
                  <a:srgbClr val="7C3AED"/>
                </a:solidFill>
                <a:latin typeface="Calibri" pitchFamily="34" charset="0"/>
                <a:ea typeface="Calibri" pitchFamily="34" charset="-122"/>
                <a:cs typeface="Calibri" pitchFamily="34" charset="-120"/>
              </a:rPr>
              <a:t>Chief Audit &amp; Security</a:t>
            </a:r>
            <a:endParaRPr lang="en-US" sz="1000" dirty="0"/>
          </a:p>
        </p:txBody>
      </p:sp>
      <p:sp>
        <p:nvSpPr>
          <p:cNvPr id="33" name="Text 31"/>
          <p:cNvSpPr/>
          <p:nvPr/>
        </p:nvSpPr>
        <p:spPr>
          <a:xfrm>
            <a:off x="411480" y="4416552"/>
            <a:ext cx="2542032" cy="320040"/>
          </a:xfrm>
          <a:prstGeom prst="rect">
            <a:avLst/>
          </a:prstGeom>
          <a:noFill/>
          <a:ln/>
        </p:spPr>
        <p:txBody>
          <a:bodyPr wrap="square" lIns="0" tIns="0" rIns="0" bIns="0" rtlCol="0" anchor="ctr"/>
          <a:lstStyle/>
          <a:p>
            <a:pPr marL="0" indent="0" algn="ctr">
              <a:buNone/>
            </a:pPr>
            <a:r>
              <a:rPr lang="en-US" sz="850" dirty="0">
                <a:solidFill>
                  <a:srgbClr val="8899A6"/>
                </a:solidFill>
                <a:latin typeface="Calibri" pitchFamily="34" charset="0"/>
                <a:ea typeface="Calibri" pitchFamily="34" charset="-122"/>
                <a:cs typeface="Calibri" pitchFamily="34" charset="-120"/>
              </a:rPr>
              <a:t>Guards HashPay's infrastructure. Leads AML/KYC compliance, penetration testing, and regulatory audit frameworks.</a:t>
            </a:r>
            <a:endParaRPr lang="en-US" sz="850" dirty="0"/>
          </a:p>
        </p:txBody>
      </p:sp>
      <p:sp>
        <p:nvSpPr>
          <p:cNvPr id="34" name="Shape 32"/>
          <p:cNvSpPr/>
          <p:nvPr/>
        </p:nvSpPr>
        <p:spPr>
          <a:xfrm>
            <a:off x="3214116" y="2980944"/>
            <a:ext cx="2715768" cy="1810512"/>
          </a:xfrm>
          <a:prstGeom prst="rect">
            <a:avLst/>
          </a:prstGeom>
          <a:solidFill>
            <a:srgbClr val="0D1E38"/>
          </a:solidFill>
          <a:ln/>
          <a:effectLst>
            <a:outerShdw blurRad="127000" dist="50800" dir="8100000" algn="bl" rotWithShape="0">
              <a:srgbClr val="000000">
                <a:alpha val="22000"/>
              </a:srgbClr>
            </a:outerShdw>
          </a:effectLst>
        </p:spPr>
      </p:sp>
      <p:sp>
        <p:nvSpPr>
          <p:cNvPr id="35" name="Shape 33"/>
          <p:cNvSpPr/>
          <p:nvPr/>
        </p:nvSpPr>
        <p:spPr>
          <a:xfrm>
            <a:off x="3218688" y="2971800"/>
            <a:ext cx="2715768" cy="54864"/>
          </a:xfrm>
          <a:prstGeom prst="rect">
            <a:avLst/>
          </a:prstGeom>
          <a:solidFill>
            <a:srgbClr val="8B5CF6"/>
          </a:solidFill>
          <a:ln/>
        </p:spPr>
      </p:sp>
      <p:sp>
        <p:nvSpPr>
          <p:cNvPr id="36" name="Shape 34"/>
          <p:cNvSpPr/>
          <p:nvPr/>
        </p:nvSpPr>
        <p:spPr>
          <a:xfrm>
            <a:off x="4224528" y="3081528"/>
            <a:ext cx="713232" cy="713232"/>
          </a:xfrm>
          <a:prstGeom prst="line">
            <a:avLst/>
          </a:prstGeom>
          <a:solidFill>
            <a:srgbClr val="0E2040"/>
          </a:solidFill>
          <a:ln/>
        </p:spPr>
      </p:sp>
      <p:sp>
        <p:nvSpPr>
          <p:cNvPr id="37" name="Text 35"/>
          <p:cNvSpPr/>
          <p:nvPr/>
        </p:nvSpPr>
        <p:spPr>
          <a:xfrm>
            <a:off x="4224528" y="3081528"/>
            <a:ext cx="713232" cy="71323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8" name="Text 36"/>
          <p:cNvSpPr/>
          <p:nvPr/>
        </p:nvSpPr>
        <p:spPr>
          <a:xfrm>
            <a:off x="3310128" y="3886200"/>
            <a:ext cx="2542032"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Retyit Watson</a:t>
            </a:r>
            <a:endParaRPr lang="en-US" sz="1200" dirty="0"/>
          </a:p>
        </p:txBody>
      </p:sp>
      <p:sp>
        <p:nvSpPr>
          <p:cNvPr id="39" name="Text 37"/>
          <p:cNvSpPr/>
          <p:nvPr/>
        </p:nvSpPr>
        <p:spPr>
          <a:xfrm>
            <a:off x="3310128" y="4160520"/>
            <a:ext cx="2542032" cy="237744"/>
          </a:xfrm>
          <a:prstGeom prst="rect">
            <a:avLst/>
          </a:prstGeom>
          <a:noFill/>
          <a:ln/>
        </p:spPr>
        <p:txBody>
          <a:bodyPr wrap="square" lIns="0" tIns="0" rIns="0" bIns="0" rtlCol="0" anchor="ctr"/>
          <a:lstStyle/>
          <a:p>
            <a:pPr marL="0" indent="0" algn="ctr">
              <a:buNone/>
            </a:pPr>
            <a:r>
              <a:rPr lang="en-US" sz="1000" b="1" dirty="0">
                <a:solidFill>
                  <a:srgbClr val="8B5CF6"/>
                </a:solidFill>
                <a:latin typeface="Calibri" pitchFamily="34" charset="0"/>
                <a:ea typeface="Calibri" pitchFamily="34" charset="-122"/>
                <a:cs typeface="Calibri" pitchFamily="34" charset="-120"/>
              </a:rPr>
              <a:t>Chief Marketing Officer</a:t>
            </a:r>
            <a:endParaRPr lang="en-US" sz="1000" dirty="0"/>
          </a:p>
        </p:txBody>
      </p:sp>
      <p:sp>
        <p:nvSpPr>
          <p:cNvPr id="40" name="Text 38"/>
          <p:cNvSpPr/>
          <p:nvPr/>
        </p:nvSpPr>
        <p:spPr>
          <a:xfrm>
            <a:off x="3310128" y="4416552"/>
            <a:ext cx="2542032" cy="320040"/>
          </a:xfrm>
          <a:prstGeom prst="rect">
            <a:avLst/>
          </a:prstGeom>
          <a:noFill/>
          <a:ln/>
        </p:spPr>
        <p:txBody>
          <a:bodyPr wrap="square" lIns="0" tIns="0" rIns="0" bIns="0" rtlCol="0" anchor="ctr"/>
          <a:lstStyle/>
          <a:p>
            <a:pPr marL="0" indent="0" algn="ctr">
              <a:buNone/>
            </a:pPr>
            <a:r>
              <a:rPr lang="en-US" sz="850" dirty="0">
                <a:solidFill>
                  <a:srgbClr val="8899A6"/>
                </a:solidFill>
                <a:latin typeface="Calibri" pitchFamily="34" charset="0"/>
                <a:ea typeface="Calibri" pitchFamily="34" charset="-122"/>
                <a:cs typeface="Calibri" pitchFamily="34" charset="-120"/>
              </a:rPr>
              <a:t>Drives HashPay's brand and user acquisition. Specialist in viral growth within diaspora and crypto communities.</a:t>
            </a:r>
            <a:endParaRPr lang="en-US" sz="850" dirty="0"/>
          </a:p>
        </p:txBody>
      </p:sp>
      <p:sp>
        <p:nvSpPr>
          <p:cNvPr id="41" name="Shape 39"/>
          <p:cNvSpPr/>
          <p:nvPr/>
        </p:nvSpPr>
        <p:spPr>
          <a:xfrm>
            <a:off x="6117336" y="2971800"/>
            <a:ext cx="2715768" cy="1810512"/>
          </a:xfrm>
          <a:prstGeom prst="rect">
            <a:avLst/>
          </a:prstGeom>
          <a:solidFill>
            <a:srgbClr val="0D1E38"/>
          </a:solidFill>
          <a:ln/>
          <a:effectLst>
            <a:outerShdw blurRad="127000" dist="50800" dir="8100000" algn="bl" rotWithShape="0">
              <a:srgbClr val="000000">
                <a:alpha val="22000"/>
              </a:srgbClr>
            </a:outerShdw>
          </a:effectLst>
        </p:spPr>
      </p:sp>
      <p:sp>
        <p:nvSpPr>
          <p:cNvPr id="42" name="Shape 40"/>
          <p:cNvSpPr/>
          <p:nvPr/>
        </p:nvSpPr>
        <p:spPr>
          <a:xfrm>
            <a:off x="6117336" y="2971800"/>
            <a:ext cx="2715768" cy="54864"/>
          </a:xfrm>
          <a:prstGeom prst="rect">
            <a:avLst/>
          </a:prstGeom>
          <a:solidFill>
            <a:srgbClr val="14B8A6"/>
          </a:solidFill>
          <a:ln/>
        </p:spPr>
      </p:sp>
      <p:sp>
        <p:nvSpPr>
          <p:cNvPr id="43" name="Shape 41"/>
          <p:cNvSpPr/>
          <p:nvPr/>
        </p:nvSpPr>
        <p:spPr>
          <a:xfrm>
            <a:off x="7123176" y="3081528"/>
            <a:ext cx="713232" cy="713232"/>
          </a:xfrm>
          <a:prstGeom prst="line">
            <a:avLst/>
          </a:prstGeom>
          <a:solidFill>
            <a:srgbClr val="0E2040"/>
          </a:solidFill>
          <a:ln/>
        </p:spPr>
      </p:sp>
      <p:sp>
        <p:nvSpPr>
          <p:cNvPr id="44" name="Text 42"/>
          <p:cNvSpPr/>
          <p:nvPr/>
        </p:nvSpPr>
        <p:spPr>
          <a:xfrm>
            <a:off x="7123176" y="3081528"/>
            <a:ext cx="713232" cy="71323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45" name="Text 43"/>
          <p:cNvSpPr/>
          <p:nvPr/>
        </p:nvSpPr>
        <p:spPr>
          <a:xfrm>
            <a:off x="6208776" y="3886200"/>
            <a:ext cx="2542032"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Yusuf Hussain</a:t>
            </a:r>
            <a:endParaRPr lang="en-US" sz="1200" dirty="0"/>
          </a:p>
        </p:txBody>
      </p:sp>
      <p:sp>
        <p:nvSpPr>
          <p:cNvPr id="46" name="Text 44"/>
          <p:cNvSpPr/>
          <p:nvPr/>
        </p:nvSpPr>
        <p:spPr>
          <a:xfrm>
            <a:off x="6208776" y="4160520"/>
            <a:ext cx="2542032" cy="237744"/>
          </a:xfrm>
          <a:prstGeom prst="rect">
            <a:avLst/>
          </a:prstGeom>
          <a:noFill/>
          <a:ln/>
        </p:spPr>
        <p:txBody>
          <a:bodyPr wrap="square" lIns="0" tIns="0" rIns="0" bIns="0" rtlCol="0" anchor="ctr"/>
          <a:lstStyle/>
          <a:p>
            <a:pPr marL="0" indent="0" algn="ctr">
              <a:buNone/>
            </a:pPr>
            <a:r>
              <a:rPr lang="en-US" sz="1000" b="1" dirty="0">
                <a:solidFill>
                  <a:srgbClr val="14B8A6"/>
                </a:solidFill>
                <a:latin typeface="Calibri" pitchFamily="34" charset="0"/>
                <a:ea typeface="Calibri" pitchFamily="34" charset="-122"/>
                <a:cs typeface="Calibri" pitchFamily="34" charset="-120"/>
              </a:rPr>
              <a:t>Chief Technical Support</a:t>
            </a:r>
            <a:endParaRPr lang="en-US" sz="1000" dirty="0"/>
          </a:p>
        </p:txBody>
      </p:sp>
      <p:sp>
        <p:nvSpPr>
          <p:cNvPr id="47" name="Text 45"/>
          <p:cNvSpPr/>
          <p:nvPr/>
        </p:nvSpPr>
        <p:spPr>
          <a:xfrm>
            <a:off x="6208776" y="4416552"/>
            <a:ext cx="2542032" cy="320040"/>
          </a:xfrm>
          <a:prstGeom prst="rect">
            <a:avLst/>
          </a:prstGeom>
          <a:noFill/>
          <a:ln/>
        </p:spPr>
        <p:txBody>
          <a:bodyPr wrap="square" lIns="0" tIns="0" rIns="0" bIns="0" rtlCol="0" anchor="ctr"/>
          <a:lstStyle/>
          <a:p>
            <a:pPr marL="0" indent="0" algn="ctr">
              <a:buNone/>
            </a:pPr>
            <a:r>
              <a:rPr lang="en-US" sz="850" dirty="0">
                <a:solidFill>
                  <a:srgbClr val="8899A6"/>
                </a:solidFill>
                <a:latin typeface="Calibri" pitchFamily="34" charset="0"/>
                <a:ea typeface="Calibri" pitchFamily="34" charset="-122"/>
                <a:cs typeface="Calibri" pitchFamily="34" charset="-120"/>
              </a:rPr>
              <a:t>Ensures HashPay's 99.9% uptime SLA. Leads devOps, monitoring infrastructure, and developer support.</a:t>
            </a:r>
            <a:endParaRPr lang="en-US" sz="850" dirty="0"/>
          </a:p>
        </p:txBody>
      </p:sp>
      <p:pic>
        <p:nvPicPr>
          <p:cNvPr id="49" name="Picture 48">
            <a:extLst>
              <a:ext uri="{FF2B5EF4-FFF2-40B4-BE49-F238E27FC236}">
                <a16:creationId xmlns:a16="http://schemas.microsoft.com/office/drawing/2014/main" id="{77583695-FC20-4572-B446-7E5375AED339}"/>
              </a:ext>
            </a:extLst>
          </p:cNvPr>
          <p:cNvPicPr>
            <a:picLocks noChangeAspect="1"/>
          </p:cNvPicPr>
          <p:nvPr/>
        </p:nvPicPr>
        <p:blipFill>
          <a:blip r:embed="rId3"/>
          <a:stretch>
            <a:fillRect/>
          </a:stretch>
        </p:blipFill>
        <p:spPr>
          <a:xfrm>
            <a:off x="1318195" y="1060751"/>
            <a:ext cx="713232" cy="913683"/>
          </a:xfrm>
          <a:prstGeom prst="rect">
            <a:avLst/>
          </a:prstGeom>
          <a:ln>
            <a:noFill/>
          </a:ln>
          <a:effectLst>
            <a:softEdge rad="112500"/>
          </a:effectLst>
        </p:spPr>
      </p:pic>
      <p:pic>
        <p:nvPicPr>
          <p:cNvPr id="51" name="Picture 50">
            <a:extLst>
              <a:ext uri="{FF2B5EF4-FFF2-40B4-BE49-F238E27FC236}">
                <a16:creationId xmlns:a16="http://schemas.microsoft.com/office/drawing/2014/main" id="{DFEAD3F3-E704-4A19-B0D1-11DD869164E9}"/>
              </a:ext>
            </a:extLst>
          </p:cNvPr>
          <p:cNvPicPr>
            <a:picLocks noChangeAspect="1"/>
          </p:cNvPicPr>
          <p:nvPr/>
        </p:nvPicPr>
        <p:blipFill>
          <a:blip r:embed="rId4"/>
          <a:stretch>
            <a:fillRect/>
          </a:stretch>
        </p:blipFill>
        <p:spPr>
          <a:xfrm>
            <a:off x="4213925" y="1029011"/>
            <a:ext cx="713232" cy="950644"/>
          </a:xfrm>
          <a:prstGeom prst="rect">
            <a:avLst/>
          </a:prstGeom>
          <a:ln>
            <a:noFill/>
          </a:ln>
          <a:effectLst>
            <a:softEdge rad="112500"/>
          </a:effectLst>
        </p:spPr>
      </p:pic>
      <p:pic>
        <p:nvPicPr>
          <p:cNvPr id="53" name="Picture 52">
            <a:extLst>
              <a:ext uri="{FF2B5EF4-FFF2-40B4-BE49-F238E27FC236}">
                <a16:creationId xmlns:a16="http://schemas.microsoft.com/office/drawing/2014/main" id="{A2BE1ECC-BB9A-4458-BEFA-A8CA12583A1F}"/>
              </a:ext>
            </a:extLst>
          </p:cNvPr>
          <p:cNvPicPr>
            <a:picLocks noChangeAspect="1"/>
          </p:cNvPicPr>
          <p:nvPr/>
        </p:nvPicPr>
        <p:blipFill>
          <a:blip r:embed="rId5"/>
          <a:stretch>
            <a:fillRect/>
          </a:stretch>
        </p:blipFill>
        <p:spPr>
          <a:xfrm>
            <a:off x="7116949" y="1034205"/>
            <a:ext cx="701171" cy="1052167"/>
          </a:xfrm>
          <a:prstGeom prst="rect">
            <a:avLst/>
          </a:prstGeom>
          <a:ln>
            <a:noFill/>
          </a:ln>
          <a:effectLst>
            <a:softEdge rad="112500"/>
          </a:effectLst>
        </p:spPr>
      </p:pic>
      <p:pic>
        <p:nvPicPr>
          <p:cNvPr id="55" name="Picture 54">
            <a:extLst>
              <a:ext uri="{FF2B5EF4-FFF2-40B4-BE49-F238E27FC236}">
                <a16:creationId xmlns:a16="http://schemas.microsoft.com/office/drawing/2014/main" id="{0CD74B3F-4F58-4C2B-80EC-9C4EA9B3C074}"/>
              </a:ext>
            </a:extLst>
          </p:cNvPr>
          <p:cNvPicPr>
            <a:picLocks noChangeAspect="1"/>
          </p:cNvPicPr>
          <p:nvPr/>
        </p:nvPicPr>
        <p:blipFill>
          <a:blip r:embed="rId6"/>
          <a:stretch>
            <a:fillRect/>
          </a:stretch>
        </p:blipFill>
        <p:spPr>
          <a:xfrm>
            <a:off x="1325880" y="3054096"/>
            <a:ext cx="638705" cy="894684"/>
          </a:xfrm>
          <a:prstGeom prst="rect">
            <a:avLst/>
          </a:prstGeom>
          <a:ln>
            <a:noFill/>
          </a:ln>
          <a:effectLst>
            <a:softEdge rad="112500"/>
          </a:effectLst>
        </p:spPr>
      </p:pic>
      <p:pic>
        <p:nvPicPr>
          <p:cNvPr id="57" name="Picture 56">
            <a:extLst>
              <a:ext uri="{FF2B5EF4-FFF2-40B4-BE49-F238E27FC236}">
                <a16:creationId xmlns:a16="http://schemas.microsoft.com/office/drawing/2014/main" id="{4B582994-F3AE-49B4-ACC7-940AECB2C558}"/>
              </a:ext>
            </a:extLst>
          </p:cNvPr>
          <p:cNvPicPr>
            <a:picLocks noChangeAspect="1"/>
          </p:cNvPicPr>
          <p:nvPr/>
        </p:nvPicPr>
        <p:blipFill>
          <a:blip r:embed="rId7"/>
          <a:stretch>
            <a:fillRect/>
          </a:stretch>
        </p:blipFill>
        <p:spPr>
          <a:xfrm>
            <a:off x="4186401" y="2943792"/>
            <a:ext cx="740756" cy="988704"/>
          </a:xfrm>
          <a:prstGeom prst="rect">
            <a:avLst/>
          </a:prstGeom>
          <a:ln>
            <a:noFill/>
          </a:ln>
          <a:effectLst>
            <a:softEdge rad="112500"/>
          </a:effectLst>
        </p:spPr>
      </p:pic>
      <p:pic>
        <p:nvPicPr>
          <p:cNvPr id="59" name="Picture 58">
            <a:extLst>
              <a:ext uri="{FF2B5EF4-FFF2-40B4-BE49-F238E27FC236}">
                <a16:creationId xmlns:a16="http://schemas.microsoft.com/office/drawing/2014/main" id="{A74C7E50-A8B8-4FAF-A646-B4B2D328B9ED}"/>
              </a:ext>
            </a:extLst>
          </p:cNvPr>
          <p:cNvPicPr>
            <a:picLocks noChangeAspect="1"/>
          </p:cNvPicPr>
          <p:nvPr/>
        </p:nvPicPr>
        <p:blipFill>
          <a:blip r:embed="rId8"/>
          <a:stretch>
            <a:fillRect/>
          </a:stretch>
        </p:blipFill>
        <p:spPr>
          <a:xfrm>
            <a:off x="7178212" y="2982437"/>
            <a:ext cx="647593" cy="971390"/>
          </a:xfrm>
          <a:prstGeom prst="rect">
            <a:avLst/>
          </a:prstGeom>
          <a:ln>
            <a:noFill/>
          </a:ln>
          <a:effectLst>
            <a:softEdge rad="112500"/>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Use of Funds</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Every dollar deployed to maximize speed-to-market and technical moat</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8503920" cy="530352"/>
          </a:xfrm>
          <a:prstGeom prst="rect">
            <a:avLst/>
          </a:prstGeom>
          <a:solidFill>
            <a:srgbClr val="0D1E38"/>
          </a:solidFill>
          <a:ln/>
          <a:effectLst>
            <a:outerShdw blurRad="127000" dist="50800" dir="8100000" algn="bl" rotWithShape="0">
              <a:srgbClr val="000000">
                <a:alpha val="22000"/>
              </a:srgbClr>
            </a:outerShdw>
          </a:effectLst>
        </p:spPr>
      </p:sp>
      <p:sp>
        <p:nvSpPr>
          <p:cNvPr id="7" name="Shape 5"/>
          <p:cNvSpPr/>
          <p:nvPr/>
        </p:nvSpPr>
        <p:spPr>
          <a:xfrm>
            <a:off x="320040" y="1024128"/>
            <a:ext cx="73152" cy="530352"/>
          </a:xfrm>
          <a:prstGeom prst="rect">
            <a:avLst/>
          </a:prstGeom>
          <a:solidFill>
            <a:srgbClr val="00D4AA"/>
          </a:solidFill>
          <a:ln/>
        </p:spPr>
      </p:sp>
      <p:sp>
        <p:nvSpPr>
          <p:cNvPr id="8" name="Text 6"/>
          <p:cNvSpPr/>
          <p:nvPr/>
        </p:nvSpPr>
        <p:spPr>
          <a:xfrm>
            <a:off x="493776" y="1078992"/>
            <a:ext cx="8229600" cy="402336"/>
          </a:xfrm>
          <a:prstGeom prst="rect">
            <a:avLst/>
          </a:prstGeom>
          <a:noFill/>
          <a:ln/>
        </p:spPr>
        <p:txBody>
          <a:bodyPr wrap="square" lIns="0" tIns="0" rIns="0" bIns="0" rtlCol="0" anchor="ctr"/>
          <a:lstStyle/>
          <a:p>
            <a:pPr marL="0" indent="0">
              <a:buNone/>
            </a:pPr>
            <a:r>
              <a:rPr lang="en-US" sz="1100" dirty="0">
                <a:solidFill>
                  <a:srgbClr val="8899A6"/>
                </a:solidFill>
                <a:latin typeface="Calibri" pitchFamily="34" charset="0"/>
                <a:ea typeface="Calibri" pitchFamily="34" charset="-122"/>
                <a:cs typeface="Calibri" pitchFamily="34" charset="-120"/>
              </a:rPr>
              <a:t>We are raising a Seed Round to fund product development, regulatory licensing, liquidity seed capital, and market expansion. Capital will be deployed over 18 months to reach product-market fit and our first $20M in transaction volume.</a:t>
            </a:r>
            <a:endParaRPr lang="en-US" sz="1100" dirty="0"/>
          </a:p>
        </p:txBody>
      </p:sp>
      <p:sp>
        <p:nvSpPr>
          <p:cNvPr id="9" name="Shape 7"/>
          <p:cNvSpPr/>
          <p:nvPr/>
        </p:nvSpPr>
        <p:spPr>
          <a:xfrm>
            <a:off x="320040" y="1691640"/>
            <a:ext cx="5074920" cy="585216"/>
          </a:xfrm>
          <a:prstGeom prst="rect">
            <a:avLst/>
          </a:prstGeom>
          <a:solidFill>
            <a:srgbClr val="0D1E38"/>
          </a:solidFill>
          <a:ln/>
          <a:effectLst>
            <a:outerShdw blurRad="76200" dist="25400" dir="8100000" algn="bl" rotWithShape="0">
              <a:srgbClr val="000000">
                <a:alpha val="18000"/>
              </a:srgbClr>
            </a:outerShdw>
          </a:effectLst>
        </p:spPr>
      </p:sp>
      <p:sp>
        <p:nvSpPr>
          <p:cNvPr id="10" name="Shape 8"/>
          <p:cNvSpPr/>
          <p:nvPr/>
        </p:nvSpPr>
        <p:spPr>
          <a:xfrm>
            <a:off x="320040" y="1691640"/>
            <a:ext cx="64008" cy="585216"/>
          </a:xfrm>
          <a:prstGeom prst="rect">
            <a:avLst/>
          </a:prstGeom>
          <a:solidFill>
            <a:srgbClr val="00D4AA"/>
          </a:solidFill>
          <a:ln/>
        </p:spPr>
      </p:sp>
      <p:sp>
        <p:nvSpPr>
          <p:cNvPr id="11" name="Text 9"/>
          <p:cNvSpPr/>
          <p:nvPr/>
        </p:nvSpPr>
        <p:spPr>
          <a:xfrm>
            <a:off x="475488" y="1728216"/>
            <a:ext cx="713232" cy="512064"/>
          </a:xfrm>
          <a:prstGeom prst="rect">
            <a:avLst/>
          </a:prstGeom>
          <a:noFill/>
          <a:ln/>
        </p:spPr>
        <p:txBody>
          <a:bodyPr wrap="square" lIns="0" tIns="0" rIns="0" bIns="0" rtlCol="0" anchor="ctr"/>
          <a:lstStyle/>
          <a:p>
            <a:pPr marL="0" indent="0" algn="ctr">
              <a:buNone/>
            </a:pPr>
            <a:r>
              <a:rPr lang="en-US" sz="2000" b="1" dirty="0">
                <a:solidFill>
                  <a:srgbClr val="00D4AA"/>
                </a:solidFill>
                <a:latin typeface="Calibri" pitchFamily="34" charset="0"/>
                <a:ea typeface="Calibri" pitchFamily="34" charset="-122"/>
                <a:cs typeface="Calibri" pitchFamily="34" charset="-120"/>
              </a:rPr>
              <a:t>35%</a:t>
            </a:r>
            <a:endParaRPr lang="en-US" sz="2000" dirty="0"/>
          </a:p>
        </p:txBody>
      </p:sp>
      <p:sp>
        <p:nvSpPr>
          <p:cNvPr id="12" name="Text 10"/>
          <p:cNvSpPr/>
          <p:nvPr/>
        </p:nvSpPr>
        <p:spPr>
          <a:xfrm>
            <a:off x="1243584" y="1737360"/>
            <a:ext cx="406908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Product Development &amp; Engineering</a:t>
            </a:r>
            <a:endParaRPr lang="en-US" sz="1200" dirty="0"/>
          </a:p>
        </p:txBody>
      </p:sp>
      <p:sp>
        <p:nvSpPr>
          <p:cNvPr id="13" name="Text 11"/>
          <p:cNvSpPr/>
          <p:nvPr/>
        </p:nvSpPr>
        <p:spPr>
          <a:xfrm>
            <a:off x="1243584" y="1993392"/>
            <a:ext cx="4069080" cy="228600"/>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Smart routing engine, mobile apps, blockchain settlement layer, API infrastructure. Hiring 8 senior engineers across blockchain, backend, and mobile.</a:t>
            </a:r>
            <a:endParaRPr lang="en-US" sz="1000" dirty="0"/>
          </a:p>
        </p:txBody>
      </p:sp>
      <p:sp>
        <p:nvSpPr>
          <p:cNvPr id="14" name="Shape 12"/>
          <p:cNvSpPr/>
          <p:nvPr/>
        </p:nvSpPr>
        <p:spPr>
          <a:xfrm>
            <a:off x="320040" y="2350008"/>
            <a:ext cx="5074920" cy="585216"/>
          </a:xfrm>
          <a:prstGeom prst="rect">
            <a:avLst/>
          </a:prstGeom>
          <a:solidFill>
            <a:srgbClr val="0D1E38"/>
          </a:solidFill>
          <a:ln/>
          <a:effectLst>
            <a:outerShdw blurRad="76200" dist="25400" dir="8100000" algn="bl" rotWithShape="0">
              <a:srgbClr val="000000">
                <a:alpha val="18000"/>
              </a:srgbClr>
            </a:outerShdw>
          </a:effectLst>
        </p:spPr>
      </p:sp>
      <p:sp>
        <p:nvSpPr>
          <p:cNvPr id="15" name="Shape 13"/>
          <p:cNvSpPr/>
          <p:nvPr/>
        </p:nvSpPr>
        <p:spPr>
          <a:xfrm>
            <a:off x="320040" y="2350008"/>
            <a:ext cx="64008" cy="585216"/>
          </a:xfrm>
          <a:prstGeom prst="rect">
            <a:avLst/>
          </a:prstGeom>
          <a:solidFill>
            <a:srgbClr val="FFB800"/>
          </a:solidFill>
          <a:ln/>
        </p:spPr>
      </p:sp>
      <p:sp>
        <p:nvSpPr>
          <p:cNvPr id="16" name="Text 14"/>
          <p:cNvSpPr/>
          <p:nvPr/>
        </p:nvSpPr>
        <p:spPr>
          <a:xfrm>
            <a:off x="475488" y="2386584"/>
            <a:ext cx="713232" cy="512064"/>
          </a:xfrm>
          <a:prstGeom prst="rect">
            <a:avLst/>
          </a:prstGeom>
          <a:noFill/>
          <a:ln/>
        </p:spPr>
        <p:txBody>
          <a:bodyPr wrap="square" lIns="0" tIns="0" rIns="0" bIns="0" rtlCol="0" anchor="ctr"/>
          <a:lstStyle/>
          <a:p>
            <a:pPr marL="0" indent="0" algn="ctr">
              <a:buNone/>
            </a:pPr>
            <a:r>
              <a:rPr lang="en-US" sz="2000" b="1" dirty="0">
                <a:solidFill>
                  <a:srgbClr val="FFB800"/>
                </a:solidFill>
                <a:latin typeface="Calibri" pitchFamily="34" charset="0"/>
                <a:ea typeface="Calibri" pitchFamily="34" charset="-122"/>
                <a:cs typeface="Calibri" pitchFamily="34" charset="-120"/>
              </a:rPr>
              <a:t>25%</a:t>
            </a:r>
            <a:endParaRPr lang="en-US" sz="2000" dirty="0"/>
          </a:p>
        </p:txBody>
      </p:sp>
      <p:sp>
        <p:nvSpPr>
          <p:cNvPr id="17" name="Text 15"/>
          <p:cNvSpPr/>
          <p:nvPr/>
        </p:nvSpPr>
        <p:spPr>
          <a:xfrm>
            <a:off x="1243584" y="2395728"/>
            <a:ext cx="406908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Regulatory Licensing &amp; Compliance</a:t>
            </a:r>
            <a:endParaRPr lang="en-US" sz="1200" dirty="0"/>
          </a:p>
        </p:txBody>
      </p:sp>
      <p:sp>
        <p:nvSpPr>
          <p:cNvPr id="18" name="Text 16"/>
          <p:cNvSpPr/>
          <p:nvPr/>
        </p:nvSpPr>
        <p:spPr>
          <a:xfrm>
            <a:off x="1243584" y="2651760"/>
            <a:ext cx="4069080" cy="228600"/>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Nigeria CBN/SEC fintech licensing, KYC/AML infrastructure, legal fees across 3 jurisdictions. Compliance is our competitive moat.</a:t>
            </a:r>
            <a:endParaRPr lang="en-US" sz="1000" dirty="0"/>
          </a:p>
        </p:txBody>
      </p:sp>
      <p:sp>
        <p:nvSpPr>
          <p:cNvPr id="19" name="Shape 17"/>
          <p:cNvSpPr/>
          <p:nvPr/>
        </p:nvSpPr>
        <p:spPr>
          <a:xfrm>
            <a:off x="320040" y="3008376"/>
            <a:ext cx="5074920" cy="585216"/>
          </a:xfrm>
          <a:prstGeom prst="rect">
            <a:avLst/>
          </a:prstGeom>
          <a:solidFill>
            <a:srgbClr val="0D1E38"/>
          </a:solidFill>
          <a:ln/>
          <a:effectLst>
            <a:outerShdw blurRad="76200" dist="25400" dir="8100000" algn="bl" rotWithShape="0">
              <a:srgbClr val="000000">
                <a:alpha val="18000"/>
              </a:srgbClr>
            </a:outerShdw>
          </a:effectLst>
        </p:spPr>
      </p:sp>
      <p:sp>
        <p:nvSpPr>
          <p:cNvPr id="20" name="Shape 18"/>
          <p:cNvSpPr/>
          <p:nvPr/>
        </p:nvSpPr>
        <p:spPr>
          <a:xfrm>
            <a:off x="320040" y="3008376"/>
            <a:ext cx="64008" cy="585216"/>
          </a:xfrm>
          <a:prstGeom prst="rect">
            <a:avLst/>
          </a:prstGeom>
          <a:solidFill>
            <a:srgbClr val="F97316"/>
          </a:solidFill>
          <a:ln/>
        </p:spPr>
      </p:sp>
      <p:sp>
        <p:nvSpPr>
          <p:cNvPr id="21" name="Text 19"/>
          <p:cNvSpPr/>
          <p:nvPr/>
        </p:nvSpPr>
        <p:spPr>
          <a:xfrm>
            <a:off x="475488" y="3044952"/>
            <a:ext cx="713232" cy="512064"/>
          </a:xfrm>
          <a:prstGeom prst="rect">
            <a:avLst/>
          </a:prstGeom>
          <a:noFill/>
          <a:ln/>
        </p:spPr>
        <p:txBody>
          <a:bodyPr wrap="square" lIns="0" tIns="0" rIns="0" bIns="0" rtlCol="0" anchor="ctr"/>
          <a:lstStyle/>
          <a:p>
            <a:pPr marL="0" indent="0" algn="ctr">
              <a:buNone/>
            </a:pPr>
            <a:r>
              <a:rPr lang="en-US" sz="2000" b="1" dirty="0">
                <a:solidFill>
                  <a:srgbClr val="F97316"/>
                </a:solidFill>
                <a:latin typeface="Calibri" pitchFamily="34" charset="0"/>
                <a:ea typeface="Calibri" pitchFamily="34" charset="-122"/>
                <a:cs typeface="Calibri" pitchFamily="34" charset="-120"/>
              </a:rPr>
              <a:t>20%</a:t>
            </a:r>
            <a:endParaRPr lang="en-US" sz="2000" dirty="0"/>
          </a:p>
        </p:txBody>
      </p:sp>
      <p:sp>
        <p:nvSpPr>
          <p:cNvPr id="22" name="Text 20"/>
          <p:cNvSpPr/>
          <p:nvPr/>
        </p:nvSpPr>
        <p:spPr>
          <a:xfrm>
            <a:off x="1243584" y="3054096"/>
            <a:ext cx="406908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Liquidity Seed Capital</a:t>
            </a:r>
            <a:endParaRPr lang="en-US" sz="1200" dirty="0"/>
          </a:p>
        </p:txBody>
      </p:sp>
      <p:sp>
        <p:nvSpPr>
          <p:cNvPr id="23" name="Text 21"/>
          <p:cNvSpPr/>
          <p:nvPr/>
        </p:nvSpPr>
        <p:spPr>
          <a:xfrm>
            <a:off x="1243584" y="3310128"/>
            <a:ext cx="4069080" cy="228600"/>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Initial funding for liquidity pools across Nigeria↔UK and Nigeria↔India corridors. Partnerships with 2–3 institutional liquidity providers.</a:t>
            </a:r>
            <a:endParaRPr lang="en-US" sz="1000" dirty="0"/>
          </a:p>
        </p:txBody>
      </p:sp>
      <p:sp>
        <p:nvSpPr>
          <p:cNvPr id="24" name="Shape 22"/>
          <p:cNvSpPr/>
          <p:nvPr/>
        </p:nvSpPr>
        <p:spPr>
          <a:xfrm>
            <a:off x="320040" y="3666744"/>
            <a:ext cx="5074920" cy="585216"/>
          </a:xfrm>
          <a:prstGeom prst="rect">
            <a:avLst/>
          </a:prstGeom>
          <a:solidFill>
            <a:srgbClr val="0D1E38"/>
          </a:solidFill>
          <a:ln/>
          <a:effectLst>
            <a:outerShdw blurRad="76200" dist="25400" dir="8100000" algn="bl" rotWithShape="0">
              <a:srgbClr val="000000">
                <a:alpha val="18000"/>
              </a:srgbClr>
            </a:outerShdw>
          </a:effectLst>
        </p:spPr>
      </p:sp>
      <p:sp>
        <p:nvSpPr>
          <p:cNvPr id="25" name="Shape 23"/>
          <p:cNvSpPr/>
          <p:nvPr/>
        </p:nvSpPr>
        <p:spPr>
          <a:xfrm>
            <a:off x="320040" y="3666744"/>
            <a:ext cx="64008" cy="585216"/>
          </a:xfrm>
          <a:prstGeom prst="rect">
            <a:avLst/>
          </a:prstGeom>
          <a:solidFill>
            <a:srgbClr val="7C3AED"/>
          </a:solidFill>
          <a:ln/>
        </p:spPr>
      </p:sp>
      <p:sp>
        <p:nvSpPr>
          <p:cNvPr id="26" name="Text 24"/>
          <p:cNvSpPr/>
          <p:nvPr/>
        </p:nvSpPr>
        <p:spPr>
          <a:xfrm>
            <a:off x="475488" y="3703320"/>
            <a:ext cx="713232" cy="512064"/>
          </a:xfrm>
          <a:prstGeom prst="rect">
            <a:avLst/>
          </a:prstGeom>
          <a:noFill/>
          <a:ln/>
        </p:spPr>
        <p:txBody>
          <a:bodyPr wrap="square" lIns="0" tIns="0" rIns="0" bIns="0" rtlCol="0" anchor="ctr"/>
          <a:lstStyle/>
          <a:p>
            <a:pPr marL="0" indent="0" algn="ctr">
              <a:buNone/>
            </a:pPr>
            <a:r>
              <a:rPr lang="en-US" sz="2000" b="1" dirty="0">
                <a:solidFill>
                  <a:srgbClr val="7C3AED"/>
                </a:solidFill>
                <a:latin typeface="Calibri" pitchFamily="34" charset="0"/>
                <a:ea typeface="Calibri" pitchFamily="34" charset="-122"/>
                <a:cs typeface="Calibri" pitchFamily="34" charset="-120"/>
              </a:rPr>
              <a:t>12%</a:t>
            </a:r>
            <a:endParaRPr lang="en-US" sz="2000" dirty="0"/>
          </a:p>
        </p:txBody>
      </p:sp>
      <p:sp>
        <p:nvSpPr>
          <p:cNvPr id="27" name="Text 25"/>
          <p:cNvSpPr/>
          <p:nvPr/>
        </p:nvSpPr>
        <p:spPr>
          <a:xfrm>
            <a:off x="1243584" y="3712464"/>
            <a:ext cx="406908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Marketing &amp; User Acquisition</a:t>
            </a:r>
            <a:endParaRPr lang="en-US" sz="1200" dirty="0"/>
          </a:p>
        </p:txBody>
      </p:sp>
      <p:sp>
        <p:nvSpPr>
          <p:cNvPr id="28" name="Text 26"/>
          <p:cNvSpPr/>
          <p:nvPr/>
        </p:nvSpPr>
        <p:spPr>
          <a:xfrm>
            <a:off x="1243584" y="3968496"/>
            <a:ext cx="4069080" cy="228600"/>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Diaspora community marketing, fintech partnerships, merchant acquisition, PR. Target CAC &lt; $8 for retail users.</a:t>
            </a:r>
            <a:endParaRPr lang="en-US" sz="1000" dirty="0"/>
          </a:p>
        </p:txBody>
      </p:sp>
      <p:sp>
        <p:nvSpPr>
          <p:cNvPr id="29" name="Shape 27"/>
          <p:cNvSpPr/>
          <p:nvPr/>
        </p:nvSpPr>
        <p:spPr>
          <a:xfrm>
            <a:off x="320040" y="4325112"/>
            <a:ext cx="5074920" cy="585216"/>
          </a:xfrm>
          <a:prstGeom prst="rect">
            <a:avLst/>
          </a:prstGeom>
          <a:solidFill>
            <a:srgbClr val="0D1E38"/>
          </a:solidFill>
          <a:ln/>
          <a:effectLst>
            <a:outerShdw blurRad="76200" dist="25400" dir="8100000" algn="bl" rotWithShape="0">
              <a:srgbClr val="000000">
                <a:alpha val="18000"/>
              </a:srgbClr>
            </a:outerShdw>
          </a:effectLst>
        </p:spPr>
      </p:sp>
      <p:sp>
        <p:nvSpPr>
          <p:cNvPr id="30" name="Shape 28"/>
          <p:cNvSpPr/>
          <p:nvPr/>
        </p:nvSpPr>
        <p:spPr>
          <a:xfrm>
            <a:off x="320040" y="4325112"/>
            <a:ext cx="64008" cy="585216"/>
          </a:xfrm>
          <a:prstGeom prst="rect">
            <a:avLst/>
          </a:prstGeom>
          <a:solidFill>
            <a:srgbClr val="8899A6"/>
          </a:solidFill>
          <a:ln/>
        </p:spPr>
      </p:sp>
      <p:sp>
        <p:nvSpPr>
          <p:cNvPr id="31" name="Text 29"/>
          <p:cNvSpPr/>
          <p:nvPr/>
        </p:nvSpPr>
        <p:spPr>
          <a:xfrm>
            <a:off x="475488" y="4361688"/>
            <a:ext cx="713232" cy="512064"/>
          </a:xfrm>
          <a:prstGeom prst="rect">
            <a:avLst/>
          </a:prstGeom>
          <a:noFill/>
          <a:ln/>
        </p:spPr>
        <p:txBody>
          <a:bodyPr wrap="square" lIns="0" tIns="0" rIns="0" bIns="0" rtlCol="0" anchor="ctr"/>
          <a:lstStyle/>
          <a:p>
            <a:pPr marL="0" indent="0" algn="ctr">
              <a:buNone/>
            </a:pPr>
            <a:r>
              <a:rPr lang="en-US" sz="2000" b="1" dirty="0">
                <a:solidFill>
                  <a:srgbClr val="8899A6"/>
                </a:solidFill>
                <a:latin typeface="Calibri" pitchFamily="34" charset="0"/>
                <a:ea typeface="Calibri" pitchFamily="34" charset="-122"/>
                <a:cs typeface="Calibri" pitchFamily="34" charset="-120"/>
              </a:rPr>
              <a:t>8%</a:t>
            </a:r>
            <a:endParaRPr lang="en-US" sz="2000" dirty="0"/>
          </a:p>
        </p:txBody>
      </p:sp>
      <p:sp>
        <p:nvSpPr>
          <p:cNvPr id="32" name="Text 30"/>
          <p:cNvSpPr/>
          <p:nvPr/>
        </p:nvSpPr>
        <p:spPr>
          <a:xfrm>
            <a:off x="1243584" y="4370832"/>
            <a:ext cx="406908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Operations &amp; Overheads</a:t>
            </a:r>
            <a:endParaRPr lang="en-US" sz="1200" dirty="0"/>
          </a:p>
        </p:txBody>
      </p:sp>
      <p:sp>
        <p:nvSpPr>
          <p:cNvPr id="33" name="Text 31"/>
          <p:cNvSpPr/>
          <p:nvPr/>
        </p:nvSpPr>
        <p:spPr>
          <a:xfrm>
            <a:off x="1243584" y="4626864"/>
            <a:ext cx="4069080" cy="228600"/>
          </a:xfrm>
          <a:prstGeom prst="rect">
            <a:avLst/>
          </a:prstGeom>
          <a:noFill/>
          <a:ln/>
        </p:spPr>
        <p:txBody>
          <a:bodyPr wrap="square" lIns="0" tIns="0" rIns="0" bIns="0" rtlCol="0" anchor="ctr"/>
          <a:lstStyle/>
          <a:p>
            <a:pPr marL="0" indent="0">
              <a:buNone/>
            </a:pPr>
            <a:r>
              <a:rPr lang="en-US" sz="1000" dirty="0">
                <a:solidFill>
                  <a:srgbClr val="8899A6"/>
                </a:solidFill>
                <a:latin typeface="Calibri" pitchFamily="34" charset="0"/>
                <a:ea typeface="Calibri" pitchFamily="34" charset="-122"/>
                <a:cs typeface="Calibri" pitchFamily="34" charset="-120"/>
              </a:rPr>
              <a:t>Team salaries, cloud infrastructure (AWS/GCP), office setup, tools and operational costs for 18-month runway.</a:t>
            </a:r>
            <a:endParaRPr lang="en-US" sz="1000" dirty="0"/>
          </a:p>
        </p:txBody>
      </p:sp>
      <p:graphicFrame>
        <p:nvGraphicFramePr>
          <p:cNvPr id="34" name="Chart 0"/>
          <p:cNvGraphicFramePr/>
          <p:nvPr/>
        </p:nvGraphicFramePr>
        <p:xfrm>
          <a:off x="5577840" y="1691640"/>
          <a:ext cx="3246120" cy="33375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Why Now?</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Six converging forces make 2025 the optimal moment to build HashPay Global</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2715768" cy="1783080"/>
          </a:xfrm>
          <a:prstGeom prst="rect">
            <a:avLst/>
          </a:prstGeom>
          <a:solidFill>
            <a:srgbClr val="0D1E38"/>
          </a:solidFill>
          <a:ln/>
          <a:effectLst>
            <a:outerShdw blurRad="127000" dist="50800" dir="8100000" algn="bl" rotWithShape="0">
              <a:srgbClr val="000000">
                <a:alpha val="22000"/>
              </a:srgbClr>
            </a:outerShdw>
          </a:effectLst>
        </p:spPr>
      </p:sp>
      <p:sp>
        <p:nvSpPr>
          <p:cNvPr id="7" name="Shape 5"/>
          <p:cNvSpPr/>
          <p:nvPr/>
        </p:nvSpPr>
        <p:spPr>
          <a:xfrm>
            <a:off x="1325880" y="1133856"/>
            <a:ext cx="713232" cy="713232"/>
          </a:xfrm>
          <a:prstGeom prst="line">
            <a:avLst/>
          </a:prstGeom>
          <a:solidFill>
            <a:srgbClr val="00D4AA"/>
          </a:solidFill>
          <a:ln/>
        </p:spPr>
      </p:sp>
      <p:sp>
        <p:nvSpPr>
          <p:cNvPr id="8" name="Text 6"/>
          <p:cNvSpPr/>
          <p:nvPr/>
        </p:nvSpPr>
        <p:spPr>
          <a:xfrm>
            <a:off x="1325880" y="1133856"/>
            <a:ext cx="713232" cy="71323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9" name="Text 7"/>
          <p:cNvSpPr/>
          <p:nvPr/>
        </p:nvSpPr>
        <p:spPr>
          <a:xfrm>
            <a:off x="411480" y="1938528"/>
            <a:ext cx="2542032"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Blockchain Infrastructure Matured</a:t>
            </a:r>
            <a:endParaRPr lang="en-US" sz="1150" dirty="0"/>
          </a:p>
        </p:txBody>
      </p:sp>
      <p:sp>
        <p:nvSpPr>
          <p:cNvPr id="10" name="Text 8"/>
          <p:cNvSpPr/>
          <p:nvPr/>
        </p:nvSpPr>
        <p:spPr>
          <a:xfrm>
            <a:off x="411480" y="2258568"/>
            <a:ext cx="2542032" cy="475488"/>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Layer-1 and Layer-2 blockchains now settle transactions in seconds for fractions of a cent. Solana processed $1.4T in stablecoin volume in March 2024 alone. The rails exist.</a:t>
            </a:r>
            <a:endParaRPr lang="en-US" sz="950" dirty="0"/>
          </a:p>
        </p:txBody>
      </p:sp>
      <p:sp>
        <p:nvSpPr>
          <p:cNvPr id="11" name="Shape 9"/>
          <p:cNvSpPr/>
          <p:nvPr/>
        </p:nvSpPr>
        <p:spPr>
          <a:xfrm>
            <a:off x="3218688" y="1024128"/>
            <a:ext cx="2715768" cy="1783080"/>
          </a:xfrm>
          <a:prstGeom prst="rect">
            <a:avLst/>
          </a:prstGeom>
          <a:solidFill>
            <a:srgbClr val="0D1E38"/>
          </a:solidFill>
          <a:ln/>
          <a:effectLst>
            <a:outerShdw blurRad="127000" dist="50800" dir="8100000" algn="bl" rotWithShape="0">
              <a:srgbClr val="000000">
                <a:alpha val="22000"/>
              </a:srgbClr>
            </a:outerShdw>
          </a:effectLst>
        </p:spPr>
      </p:sp>
      <p:sp>
        <p:nvSpPr>
          <p:cNvPr id="12" name="Shape 10"/>
          <p:cNvSpPr/>
          <p:nvPr/>
        </p:nvSpPr>
        <p:spPr>
          <a:xfrm>
            <a:off x="4224528" y="1133856"/>
            <a:ext cx="713232" cy="713232"/>
          </a:xfrm>
          <a:prstGeom prst="line">
            <a:avLst/>
          </a:prstGeom>
          <a:solidFill>
            <a:srgbClr val="FFB800"/>
          </a:solidFill>
          <a:ln/>
        </p:spPr>
      </p:sp>
      <p:sp>
        <p:nvSpPr>
          <p:cNvPr id="13" name="Text 11"/>
          <p:cNvSpPr/>
          <p:nvPr/>
        </p:nvSpPr>
        <p:spPr>
          <a:xfrm>
            <a:off x="4224528" y="1133856"/>
            <a:ext cx="713232" cy="71323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4" name="Text 12"/>
          <p:cNvSpPr/>
          <p:nvPr/>
        </p:nvSpPr>
        <p:spPr>
          <a:xfrm>
            <a:off x="3310128" y="1938528"/>
            <a:ext cx="2542032"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Stablecoins Hit Mass Adoption</a:t>
            </a:r>
            <a:endParaRPr lang="en-US" sz="1150" dirty="0"/>
          </a:p>
        </p:txBody>
      </p:sp>
      <p:sp>
        <p:nvSpPr>
          <p:cNvPr id="15" name="Text 13"/>
          <p:cNvSpPr/>
          <p:nvPr/>
        </p:nvSpPr>
        <p:spPr>
          <a:xfrm>
            <a:off x="3310128" y="2258568"/>
            <a:ext cx="2542032" cy="475488"/>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$27.6 trillion in stablecoin transfers in 2024 — exceeding Visa + Mastercard combined. 41% of central banks are developing CBDCs. The crypto-to-fiat bridge is no longer theoretical.</a:t>
            </a:r>
            <a:endParaRPr lang="en-US" sz="950" dirty="0"/>
          </a:p>
        </p:txBody>
      </p:sp>
      <p:sp>
        <p:nvSpPr>
          <p:cNvPr id="16" name="Shape 14"/>
          <p:cNvSpPr/>
          <p:nvPr/>
        </p:nvSpPr>
        <p:spPr>
          <a:xfrm>
            <a:off x="6117336" y="1024128"/>
            <a:ext cx="2715768" cy="1783080"/>
          </a:xfrm>
          <a:prstGeom prst="rect">
            <a:avLst/>
          </a:prstGeom>
          <a:solidFill>
            <a:srgbClr val="0D1E38"/>
          </a:solidFill>
          <a:ln/>
          <a:effectLst>
            <a:outerShdw blurRad="127000" dist="50800" dir="8100000" algn="bl" rotWithShape="0">
              <a:srgbClr val="000000">
                <a:alpha val="22000"/>
              </a:srgbClr>
            </a:outerShdw>
          </a:effectLst>
        </p:spPr>
      </p:sp>
      <p:sp>
        <p:nvSpPr>
          <p:cNvPr id="17" name="Shape 15"/>
          <p:cNvSpPr/>
          <p:nvPr/>
        </p:nvSpPr>
        <p:spPr>
          <a:xfrm>
            <a:off x="7123176" y="1133856"/>
            <a:ext cx="713232" cy="713232"/>
          </a:xfrm>
          <a:prstGeom prst="line">
            <a:avLst/>
          </a:prstGeom>
          <a:solidFill>
            <a:srgbClr val="F97316"/>
          </a:solidFill>
          <a:ln/>
        </p:spPr>
      </p:sp>
      <p:sp>
        <p:nvSpPr>
          <p:cNvPr id="18" name="Text 16"/>
          <p:cNvSpPr/>
          <p:nvPr/>
        </p:nvSpPr>
        <p:spPr>
          <a:xfrm>
            <a:off x="7123176" y="1133856"/>
            <a:ext cx="713232" cy="71323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9" name="Text 17"/>
          <p:cNvSpPr/>
          <p:nvPr/>
        </p:nvSpPr>
        <p:spPr>
          <a:xfrm>
            <a:off x="6208776" y="1938528"/>
            <a:ext cx="2542032"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Mobile-First Emerging Markets</a:t>
            </a:r>
            <a:endParaRPr lang="en-US" sz="1150" dirty="0"/>
          </a:p>
        </p:txBody>
      </p:sp>
      <p:sp>
        <p:nvSpPr>
          <p:cNvPr id="20" name="Text 18"/>
          <p:cNvSpPr/>
          <p:nvPr/>
        </p:nvSpPr>
        <p:spPr>
          <a:xfrm>
            <a:off x="6208776" y="2258568"/>
            <a:ext cx="2542032" cy="475488"/>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5.56 billion people have internet access (2025). Nigeria has 80M+ smartphone users. Kenya's M-Pesa reaches 60M. The infrastructure for mobile payments now covers billions.</a:t>
            </a:r>
            <a:endParaRPr lang="en-US" sz="950" dirty="0"/>
          </a:p>
        </p:txBody>
      </p:sp>
      <p:sp>
        <p:nvSpPr>
          <p:cNvPr id="21" name="Shape 19"/>
          <p:cNvSpPr/>
          <p:nvPr/>
        </p:nvSpPr>
        <p:spPr>
          <a:xfrm>
            <a:off x="320040" y="2962656"/>
            <a:ext cx="2715768" cy="1783080"/>
          </a:xfrm>
          <a:prstGeom prst="rect">
            <a:avLst/>
          </a:prstGeom>
          <a:solidFill>
            <a:srgbClr val="0D1E38"/>
          </a:solidFill>
          <a:ln/>
          <a:effectLst>
            <a:outerShdw blurRad="127000" dist="50800" dir="8100000" algn="bl" rotWithShape="0">
              <a:srgbClr val="000000">
                <a:alpha val="22000"/>
              </a:srgbClr>
            </a:outerShdw>
          </a:effectLst>
        </p:spPr>
      </p:sp>
      <p:sp>
        <p:nvSpPr>
          <p:cNvPr id="22" name="Shape 20"/>
          <p:cNvSpPr/>
          <p:nvPr/>
        </p:nvSpPr>
        <p:spPr>
          <a:xfrm>
            <a:off x="1325880" y="3072384"/>
            <a:ext cx="713232" cy="713232"/>
          </a:xfrm>
          <a:prstGeom prst="line">
            <a:avLst/>
          </a:prstGeom>
          <a:solidFill>
            <a:srgbClr val="7C3AED"/>
          </a:solidFill>
          <a:ln/>
        </p:spPr>
      </p:sp>
      <p:sp>
        <p:nvSpPr>
          <p:cNvPr id="23" name="Text 21"/>
          <p:cNvSpPr/>
          <p:nvPr/>
        </p:nvSpPr>
        <p:spPr>
          <a:xfrm>
            <a:off x="1325880" y="3072384"/>
            <a:ext cx="713232" cy="71323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4" name="Text 22"/>
          <p:cNvSpPr/>
          <p:nvPr/>
        </p:nvSpPr>
        <p:spPr>
          <a:xfrm>
            <a:off x="411480" y="3877056"/>
            <a:ext cx="2542032"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Regulatory Clarity Emerging</a:t>
            </a:r>
            <a:endParaRPr lang="en-US" sz="1150" dirty="0"/>
          </a:p>
        </p:txBody>
      </p:sp>
      <p:sp>
        <p:nvSpPr>
          <p:cNvPr id="25" name="Text 23"/>
          <p:cNvSpPr/>
          <p:nvPr/>
        </p:nvSpPr>
        <p:spPr>
          <a:xfrm>
            <a:off x="411480" y="4197096"/>
            <a:ext cx="2542032" cy="475488"/>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Nigeria, UK, EU, and UAE have all issued fintech and crypto payment frameworks in 2023–2025. The compliance playbook for hybrid payment companies is now established.</a:t>
            </a:r>
            <a:endParaRPr lang="en-US" sz="950" dirty="0"/>
          </a:p>
        </p:txBody>
      </p:sp>
      <p:sp>
        <p:nvSpPr>
          <p:cNvPr id="26" name="Shape 24"/>
          <p:cNvSpPr/>
          <p:nvPr/>
        </p:nvSpPr>
        <p:spPr>
          <a:xfrm>
            <a:off x="3218688" y="2962656"/>
            <a:ext cx="2715768" cy="1783080"/>
          </a:xfrm>
          <a:prstGeom prst="rect">
            <a:avLst/>
          </a:prstGeom>
          <a:solidFill>
            <a:srgbClr val="0D1E38"/>
          </a:solidFill>
          <a:ln/>
          <a:effectLst>
            <a:outerShdw blurRad="127000" dist="50800" dir="8100000" algn="bl" rotWithShape="0">
              <a:srgbClr val="000000">
                <a:alpha val="22000"/>
              </a:srgbClr>
            </a:outerShdw>
          </a:effectLst>
        </p:spPr>
      </p:sp>
      <p:sp>
        <p:nvSpPr>
          <p:cNvPr id="27" name="Shape 25"/>
          <p:cNvSpPr/>
          <p:nvPr/>
        </p:nvSpPr>
        <p:spPr>
          <a:xfrm>
            <a:off x="4224528" y="3072384"/>
            <a:ext cx="713232" cy="713232"/>
          </a:xfrm>
          <a:prstGeom prst="line">
            <a:avLst/>
          </a:prstGeom>
          <a:solidFill>
            <a:srgbClr val="8B5CF6"/>
          </a:solidFill>
          <a:ln/>
        </p:spPr>
      </p:sp>
      <p:sp>
        <p:nvSpPr>
          <p:cNvPr id="28" name="Text 26"/>
          <p:cNvSpPr/>
          <p:nvPr/>
        </p:nvSpPr>
        <p:spPr>
          <a:xfrm>
            <a:off x="4224528" y="3072384"/>
            <a:ext cx="713232" cy="71323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9" name="Text 27"/>
          <p:cNvSpPr/>
          <p:nvPr/>
        </p:nvSpPr>
        <p:spPr>
          <a:xfrm>
            <a:off x="3310128" y="3877056"/>
            <a:ext cx="2542032"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VC Momentum in Payments</a:t>
            </a:r>
            <a:endParaRPr lang="en-US" sz="1150" dirty="0"/>
          </a:p>
        </p:txBody>
      </p:sp>
      <p:sp>
        <p:nvSpPr>
          <p:cNvPr id="30" name="Text 28"/>
          <p:cNvSpPr/>
          <p:nvPr/>
        </p:nvSpPr>
        <p:spPr>
          <a:xfrm>
            <a:off x="3310128" y="4197096"/>
            <a:ext cx="2542032" cy="475488"/>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Cross-border payment startups raised $318.4M in VC funding in H1 2024 alone. Investors understand the $194T market. HashPay enters at the inflection point.</a:t>
            </a:r>
            <a:endParaRPr lang="en-US" sz="950" dirty="0"/>
          </a:p>
        </p:txBody>
      </p:sp>
      <p:sp>
        <p:nvSpPr>
          <p:cNvPr id="31" name="Shape 29"/>
          <p:cNvSpPr/>
          <p:nvPr/>
        </p:nvSpPr>
        <p:spPr>
          <a:xfrm>
            <a:off x="6117336" y="2962656"/>
            <a:ext cx="2715768" cy="1783080"/>
          </a:xfrm>
          <a:prstGeom prst="rect">
            <a:avLst/>
          </a:prstGeom>
          <a:solidFill>
            <a:srgbClr val="0D1E38"/>
          </a:solidFill>
          <a:ln/>
          <a:effectLst>
            <a:outerShdw blurRad="127000" dist="50800" dir="8100000" algn="bl" rotWithShape="0">
              <a:srgbClr val="000000">
                <a:alpha val="22000"/>
              </a:srgbClr>
            </a:outerShdw>
          </a:effectLst>
        </p:spPr>
      </p:sp>
      <p:sp>
        <p:nvSpPr>
          <p:cNvPr id="32" name="Shape 30"/>
          <p:cNvSpPr/>
          <p:nvPr/>
        </p:nvSpPr>
        <p:spPr>
          <a:xfrm>
            <a:off x="7123176" y="3072384"/>
            <a:ext cx="713232" cy="713232"/>
          </a:xfrm>
          <a:prstGeom prst="line">
            <a:avLst/>
          </a:prstGeom>
          <a:solidFill>
            <a:srgbClr val="10B981"/>
          </a:solidFill>
          <a:ln/>
        </p:spPr>
      </p:sp>
      <p:sp>
        <p:nvSpPr>
          <p:cNvPr id="33" name="Text 31"/>
          <p:cNvSpPr/>
          <p:nvPr/>
        </p:nvSpPr>
        <p:spPr>
          <a:xfrm>
            <a:off x="7123176" y="3072384"/>
            <a:ext cx="713232" cy="713232"/>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4" name="Text 32"/>
          <p:cNvSpPr/>
          <p:nvPr/>
        </p:nvSpPr>
        <p:spPr>
          <a:xfrm>
            <a:off x="6208776" y="3877056"/>
            <a:ext cx="2542032" cy="29260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Africa's Moment</a:t>
            </a:r>
            <a:endParaRPr lang="en-US" sz="1150" dirty="0"/>
          </a:p>
        </p:txBody>
      </p:sp>
      <p:sp>
        <p:nvSpPr>
          <p:cNvPr id="35" name="Text 33"/>
          <p:cNvSpPr/>
          <p:nvPr/>
        </p:nvSpPr>
        <p:spPr>
          <a:xfrm>
            <a:off x="6208776" y="4197096"/>
            <a:ext cx="2542032" cy="475488"/>
          </a:xfrm>
          <a:prstGeom prst="rect">
            <a:avLst/>
          </a:prstGeom>
          <a:noFill/>
          <a:ln/>
        </p:spPr>
        <p:txBody>
          <a:bodyPr wrap="square" lIns="0" tIns="0" rIns="0" bIns="0" rtlCol="0" anchor="ctr"/>
          <a:lstStyle/>
          <a:p>
            <a:pPr marL="0" indent="0" algn="ctr">
              <a:buNone/>
            </a:pPr>
            <a:r>
              <a:rPr lang="en-US" sz="950" dirty="0">
                <a:solidFill>
                  <a:srgbClr val="8899A6"/>
                </a:solidFill>
                <a:latin typeface="Calibri" pitchFamily="34" charset="0"/>
                <a:ea typeface="Calibri" pitchFamily="34" charset="-122"/>
                <a:cs typeface="Calibri" pitchFamily="34" charset="-120"/>
              </a:rPr>
              <a:t>Africa received $100B+ in remittances in 2024 — surpassing FDI. 10% CAGR. Young population, mobile-first, underserved by incumbents. This is the fastest-growing payments market on earth.</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0E1F"/>
        </a:solidFill>
        <a:effectLst/>
      </p:bgPr>
    </p:bg>
    <p:spTree>
      <p:nvGrpSpPr>
        <p:cNvPr id="1" name=""/>
        <p:cNvGrpSpPr/>
        <p:nvPr/>
      </p:nvGrpSpPr>
      <p:grpSpPr>
        <a:xfrm>
          <a:off x="0" y="0"/>
          <a:ext cx="0" cy="0"/>
          <a:chOff x="0" y="0"/>
          <a:chExt cx="0" cy="0"/>
        </a:xfrm>
      </p:grpSpPr>
      <p:sp>
        <p:nvSpPr>
          <p:cNvPr id="2" name="Shape 0"/>
          <p:cNvSpPr/>
          <p:nvPr/>
        </p:nvSpPr>
        <p:spPr>
          <a:xfrm>
            <a:off x="320040" y="182880"/>
            <a:ext cx="64008" cy="713232"/>
          </a:xfrm>
          <a:prstGeom prst="rect">
            <a:avLst/>
          </a:prstGeom>
          <a:solidFill>
            <a:srgbClr val="00D4AA"/>
          </a:solidFill>
          <a:ln/>
        </p:spPr>
      </p:sp>
      <p:sp>
        <p:nvSpPr>
          <p:cNvPr id="3" name="Text 1"/>
          <p:cNvSpPr/>
          <p:nvPr/>
        </p:nvSpPr>
        <p:spPr>
          <a:xfrm>
            <a:off x="493776" y="155448"/>
            <a:ext cx="8321040" cy="41148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Long-Term Vision: The Global Currency Internet</a:t>
            </a:r>
            <a:endParaRPr lang="en-US" sz="2300" dirty="0"/>
          </a:p>
        </p:txBody>
      </p:sp>
      <p:sp>
        <p:nvSpPr>
          <p:cNvPr id="4" name="Text 2"/>
          <p:cNvSpPr/>
          <p:nvPr/>
        </p:nvSpPr>
        <p:spPr>
          <a:xfrm>
            <a:off x="493776" y="576072"/>
            <a:ext cx="8321040" cy="256032"/>
          </a:xfrm>
          <a:prstGeom prst="rect">
            <a:avLst/>
          </a:prstGeom>
          <a:noFill/>
          <a:ln/>
        </p:spPr>
        <p:txBody>
          <a:bodyPr wrap="square" lIns="0" tIns="0" rIns="0" bIns="0" rtlCol="0" anchor="ctr"/>
          <a:lstStyle/>
          <a:p>
            <a:pPr marL="0" indent="0">
              <a:buNone/>
            </a:pPr>
            <a:r>
              <a:rPr lang="en-US" sz="1150" i="1" dirty="0">
                <a:solidFill>
                  <a:srgbClr val="00D4AA"/>
                </a:solidFill>
                <a:latin typeface="Calibri" pitchFamily="34" charset="0"/>
                <a:ea typeface="Calibri" pitchFamily="34" charset="-122"/>
                <a:cs typeface="Calibri" pitchFamily="34" charset="-120"/>
              </a:rPr>
              <a:t>HashPay in Year 10 — a world where every currency is as easy to use as your own</a:t>
            </a:r>
            <a:endParaRPr lang="en-US" sz="1150" dirty="0"/>
          </a:p>
        </p:txBody>
      </p:sp>
      <p:sp>
        <p:nvSpPr>
          <p:cNvPr id="5" name="Shape 3"/>
          <p:cNvSpPr/>
          <p:nvPr/>
        </p:nvSpPr>
        <p:spPr>
          <a:xfrm>
            <a:off x="320040" y="950976"/>
            <a:ext cx="8503920" cy="13716"/>
          </a:xfrm>
          <a:prstGeom prst="rect">
            <a:avLst/>
          </a:prstGeom>
          <a:solidFill>
            <a:srgbClr val="00D4AA">
              <a:alpha val="50000"/>
            </a:srgbClr>
          </a:solidFill>
          <a:ln/>
        </p:spPr>
      </p:sp>
      <p:sp>
        <p:nvSpPr>
          <p:cNvPr id="6" name="Shape 4"/>
          <p:cNvSpPr/>
          <p:nvPr/>
        </p:nvSpPr>
        <p:spPr>
          <a:xfrm>
            <a:off x="320040" y="1024128"/>
            <a:ext cx="8503920" cy="804672"/>
          </a:xfrm>
          <a:prstGeom prst="rect">
            <a:avLst/>
          </a:prstGeom>
          <a:solidFill>
            <a:srgbClr val="0D1E38"/>
          </a:solidFill>
          <a:ln/>
          <a:effectLst>
            <a:outerShdw blurRad="127000" dist="50800" dir="8100000" algn="bl" rotWithShape="0">
              <a:srgbClr val="000000">
                <a:alpha val="22000"/>
              </a:srgbClr>
            </a:outerShdw>
          </a:effectLst>
        </p:spPr>
      </p:sp>
      <p:sp>
        <p:nvSpPr>
          <p:cNvPr id="7" name="Shape 5"/>
          <p:cNvSpPr/>
          <p:nvPr/>
        </p:nvSpPr>
        <p:spPr>
          <a:xfrm>
            <a:off x="320040" y="1024128"/>
            <a:ext cx="73152" cy="804672"/>
          </a:xfrm>
          <a:prstGeom prst="rect">
            <a:avLst/>
          </a:prstGeom>
          <a:solidFill>
            <a:srgbClr val="00D4AA"/>
          </a:solidFill>
          <a:ln/>
        </p:spPr>
      </p:sp>
      <p:sp>
        <p:nvSpPr>
          <p:cNvPr id="8" name="Text 6"/>
          <p:cNvSpPr/>
          <p:nvPr/>
        </p:nvSpPr>
        <p:spPr>
          <a:xfrm>
            <a:off x="493776" y="1078992"/>
            <a:ext cx="8229600" cy="685800"/>
          </a:xfrm>
          <a:prstGeom prst="rect">
            <a:avLst/>
          </a:prstGeom>
          <a:noFill/>
          <a:ln/>
        </p:spPr>
        <p:txBody>
          <a:bodyPr wrap="square" lIns="0" tIns="0" rIns="0" bIns="0" rtlCol="0" anchor="ctr"/>
          <a:lstStyle/>
          <a:p>
            <a:pPr marL="0" indent="0">
              <a:buNone/>
            </a:pPr>
            <a:r>
              <a:rPr lang="en-US" sz="1150" dirty="0">
                <a:solidFill>
                  <a:srgbClr val="8899A6"/>
                </a:solidFill>
                <a:latin typeface="Calibri" pitchFamily="34" charset="0"/>
                <a:ea typeface="Calibri" pitchFamily="34" charset="-122"/>
                <a:cs typeface="Calibri" pitchFamily="34" charset="-120"/>
              </a:rPr>
              <a:t>Just as the internet made information borderless, HashPay makes currency borderless.</a:t>
            </a:r>
            <a:endParaRPr lang="en-US" sz="1150" dirty="0"/>
          </a:p>
          <a:p>
            <a:pPr marL="0" indent="0">
              <a:buNone/>
            </a:pPr>
            <a:r>
              <a:rPr lang="en-US" sz="1150" dirty="0">
                <a:solidFill>
                  <a:srgbClr val="8899A6"/>
                </a:solidFill>
                <a:latin typeface="Calibri" pitchFamily="34" charset="0"/>
                <a:ea typeface="Calibri" pitchFamily="34" charset="-122"/>
                <a:cs typeface="Calibri" pitchFamily="34" charset="-120"/>
              </a:rPr>
              <a:t>Just as Ethereum made programmable money possible, HashPay makes programmable FX possible.</a:t>
            </a:r>
            <a:endParaRPr lang="en-US" sz="1150" dirty="0"/>
          </a:p>
          <a:p>
            <a:pPr marL="0" indent="0">
              <a:buNone/>
            </a:pPr>
            <a:r>
              <a:rPr lang="en-US" sz="1150" dirty="0">
                <a:solidFill>
                  <a:srgbClr val="8899A6"/>
                </a:solidFill>
                <a:latin typeface="Calibri" pitchFamily="34" charset="0"/>
                <a:ea typeface="Calibri" pitchFamily="34" charset="-122"/>
                <a:cs typeface="Calibri" pitchFamily="34" charset="-120"/>
              </a:rPr>
              <a:t>HashPay's end state is global financial infrastructure — not an app, but a protocol.</a:t>
            </a:r>
            <a:endParaRPr lang="en-US" sz="1150" dirty="0"/>
          </a:p>
        </p:txBody>
      </p:sp>
      <p:sp>
        <p:nvSpPr>
          <p:cNvPr id="9" name="Shape 7"/>
          <p:cNvSpPr/>
          <p:nvPr/>
        </p:nvSpPr>
        <p:spPr>
          <a:xfrm>
            <a:off x="320040" y="1993392"/>
            <a:ext cx="4133088" cy="1188720"/>
          </a:xfrm>
          <a:prstGeom prst="rect">
            <a:avLst/>
          </a:prstGeom>
          <a:solidFill>
            <a:srgbClr val="0D1E38"/>
          </a:solidFill>
          <a:ln/>
          <a:effectLst>
            <a:outerShdw blurRad="127000" dist="50800" dir="8100000" algn="bl" rotWithShape="0">
              <a:srgbClr val="000000">
                <a:alpha val="22000"/>
              </a:srgbClr>
            </a:outerShdw>
          </a:effectLst>
        </p:spPr>
      </p:sp>
      <p:sp>
        <p:nvSpPr>
          <p:cNvPr id="10" name="Shape 8"/>
          <p:cNvSpPr/>
          <p:nvPr/>
        </p:nvSpPr>
        <p:spPr>
          <a:xfrm>
            <a:off x="320040" y="1993392"/>
            <a:ext cx="64008" cy="1188720"/>
          </a:xfrm>
          <a:prstGeom prst="rect">
            <a:avLst/>
          </a:prstGeom>
          <a:solidFill>
            <a:srgbClr val="00D4AA"/>
          </a:solidFill>
          <a:ln/>
        </p:spPr>
      </p:sp>
      <p:sp>
        <p:nvSpPr>
          <p:cNvPr id="11" name="Shape 9"/>
          <p:cNvSpPr/>
          <p:nvPr/>
        </p:nvSpPr>
        <p:spPr>
          <a:xfrm>
            <a:off x="484632" y="2267712"/>
            <a:ext cx="530352" cy="530352"/>
          </a:xfrm>
          <a:prstGeom prst="line">
            <a:avLst/>
          </a:prstGeom>
          <a:solidFill>
            <a:srgbClr val="00D4AA"/>
          </a:solidFill>
          <a:ln/>
        </p:spPr>
      </p:sp>
      <p:sp>
        <p:nvSpPr>
          <p:cNvPr id="12" name="Text 10"/>
          <p:cNvSpPr/>
          <p:nvPr/>
        </p:nvSpPr>
        <p:spPr>
          <a:xfrm>
            <a:off x="484632" y="2267712"/>
            <a:ext cx="530352" cy="53035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3" name="Text 11"/>
          <p:cNvSpPr/>
          <p:nvPr/>
        </p:nvSpPr>
        <p:spPr>
          <a:xfrm>
            <a:off x="1143000" y="2066544"/>
            <a:ext cx="3200400" cy="30175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Universal Currency Layer</a:t>
            </a:r>
            <a:endParaRPr lang="en-US" sz="1250" dirty="0"/>
          </a:p>
        </p:txBody>
      </p:sp>
      <p:sp>
        <p:nvSpPr>
          <p:cNvPr id="14" name="Text 12"/>
          <p:cNvSpPr/>
          <p:nvPr/>
        </p:nvSpPr>
        <p:spPr>
          <a:xfrm>
            <a:off x="1143000" y="2395728"/>
            <a:ext cx="3200400" cy="694944"/>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Any currency is spendable anywhere. Travelers, expats, and businesses no longer need to think about FX. HashPay is the universal payment layer below every transaction.</a:t>
            </a:r>
            <a:endParaRPr lang="en-US" sz="1050" dirty="0"/>
          </a:p>
        </p:txBody>
      </p:sp>
      <p:sp>
        <p:nvSpPr>
          <p:cNvPr id="15" name="Shape 13"/>
          <p:cNvSpPr/>
          <p:nvPr/>
        </p:nvSpPr>
        <p:spPr>
          <a:xfrm>
            <a:off x="4617720" y="1993392"/>
            <a:ext cx="4133088" cy="1188720"/>
          </a:xfrm>
          <a:prstGeom prst="rect">
            <a:avLst/>
          </a:prstGeom>
          <a:solidFill>
            <a:srgbClr val="0D1E38"/>
          </a:solidFill>
          <a:ln/>
          <a:effectLst>
            <a:outerShdw blurRad="127000" dist="50800" dir="8100000" algn="bl" rotWithShape="0">
              <a:srgbClr val="000000">
                <a:alpha val="22000"/>
              </a:srgbClr>
            </a:outerShdw>
          </a:effectLst>
        </p:spPr>
      </p:sp>
      <p:sp>
        <p:nvSpPr>
          <p:cNvPr id="16" name="Shape 14"/>
          <p:cNvSpPr/>
          <p:nvPr/>
        </p:nvSpPr>
        <p:spPr>
          <a:xfrm>
            <a:off x="4617720" y="1993392"/>
            <a:ext cx="64008" cy="1188720"/>
          </a:xfrm>
          <a:prstGeom prst="rect">
            <a:avLst/>
          </a:prstGeom>
          <a:solidFill>
            <a:srgbClr val="FFB800"/>
          </a:solidFill>
          <a:ln/>
        </p:spPr>
      </p:sp>
      <p:sp>
        <p:nvSpPr>
          <p:cNvPr id="17" name="Shape 15"/>
          <p:cNvSpPr/>
          <p:nvPr/>
        </p:nvSpPr>
        <p:spPr>
          <a:xfrm>
            <a:off x="4782312" y="2267712"/>
            <a:ext cx="530352" cy="530352"/>
          </a:xfrm>
          <a:prstGeom prst="line">
            <a:avLst/>
          </a:prstGeom>
          <a:solidFill>
            <a:srgbClr val="FFB800"/>
          </a:solidFill>
          <a:ln/>
        </p:spPr>
      </p:sp>
      <p:sp>
        <p:nvSpPr>
          <p:cNvPr id="18" name="Text 16"/>
          <p:cNvSpPr/>
          <p:nvPr/>
        </p:nvSpPr>
        <p:spPr>
          <a:xfrm>
            <a:off x="4782312" y="2267712"/>
            <a:ext cx="530352" cy="53035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9" name="Text 17"/>
          <p:cNvSpPr/>
          <p:nvPr/>
        </p:nvSpPr>
        <p:spPr>
          <a:xfrm>
            <a:off x="5440680" y="2066544"/>
            <a:ext cx="3200400" cy="30175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Programmable FX</a:t>
            </a:r>
            <a:endParaRPr lang="en-US" sz="1250" dirty="0"/>
          </a:p>
        </p:txBody>
      </p:sp>
      <p:sp>
        <p:nvSpPr>
          <p:cNvPr id="20" name="Text 18"/>
          <p:cNvSpPr/>
          <p:nvPr/>
        </p:nvSpPr>
        <p:spPr>
          <a:xfrm>
            <a:off x="5440680" y="2395728"/>
            <a:ext cx="3200400" cy="694944"/>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Smart contracts enforce FX rates in real-time. Treasury departments automate multi-currency settlements. Businesses program payment schedules in any currency.</a:t>
            </a:r>
            <a:endParaRPr lang="en-US" sz="1050" dirty="0"/>
          </a:p>
        </p:txBody>
      </p:sp>
      <p:sp>
        <p:nvSpPr>
          <p:cNvPr id="21" name="Shape 19"/>
          <p:cNvSpPr/>
          <p:nvPr/>
        </p:nvSpPr>
        <p:spPr>
          <a:xfrm>
            <a:off x="320040" y="3319272"/>
            <a:ext cx="4133088" cy="1188720"/>
          </a:xfrm>
          <a:prstGeom prst="rect">
            <a:avLst/>
          </a:prstGeom>
          <a:solidFill>
            <a:srgbClr val="0D1E38"/>
          </a:solidFill>
          <a:ln/>
          <a:effectLst>
            <a:outerShdw blurRad="127000" dist="50800" dir="8100000" algn="bl" rotWithShape="0">
              <a:srgbClr val="000000">
                <a:alpha val="22000"/>
              </a:srgbClr>
            </a:outerShdw>
          </a:effectLst>
        </p:spPr>
      </p:sp>
      <p:sp>
        <p:nvSpPr>
          <p:cNvPr id="22" name="Shape 20"/>
          <p:cNvSpPr/>
          <p:nvPr/>
        </p:nvSpPr>
        <p:spPr>
          <a:xfrm>
            <a:off x="320040" y="3319272"/>
            <a:ext cx="64008" cy="1188720"/>
          </a:xfrm>
          <a:prstGeom prst="rect">
            <a:avLst/>
          </a:prstGeom>
          <a:solidFill>
            <a:srgbClr val="7C3AED"/>
          </a:solidFill>
          <a:ln/>
        </p:spPr>
      </p:sp>
      <p:sp>
        <p:nvSpPr>
          <p:cNvPr id="23" name="Shape 21"/>
          <p:cNvSpPr/>
          <p:nvPr/>
        </p:nvSpPr>
        <p:spPr>
          <a:xfrm>
            <a:off x="484632" y="3593592"/>
            <a:ext cx="530352" cy="530352"/>
          </a:xfrm>
          <a:prstGeom prst="line">
            <a:avLst/>
          </a:prstGeom>
          <a:solidFill>
            <a:srgbClr val="7C3AED"/>
          </a:solidFill>
          <a:ln/>
        </p:spPr>
      </p:sp>
      <p:sp>
        <p:nvSpPr>
          <p:cNvPr id="24" name="Text 22"/>
          <p:cNvSpPr/>
          <p:nvPr/>
        </p:nvSpPr>
        <p:spPr>
          <a:xfrm>
            <a:off x="484632" y="3593592"/>
            <a:ext cx="530352" cy="53035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5" name="Text 23"/>
          <p:cNvSpPr/>
          <p:nvPr/>
        </p:nvSpPr>
        <p:spPr>
          <a:xfrm>
            <a:off x="1143000" y="3392424"/>
            <a:ext cx="3200400" cy="30175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CBDC &amp; Digital Currency Hub</a:t>
            </a:r>
            <a:endParaRPr lang="en-US" sz="1250" dirty="0"/>
          </a:p>
        </p:txBody>
      </p:sp>
      <p:sp>
        <p:nvSpPr>
          <p:cNvPr id="26" name="Text 24"/>
          <p:cNvSpPr/>
          <p:nvPr/>
        </p:nvSpPr>
        <p:spPr>
          <a:xfrm>
            <a:off x="1143000" y="3721608"/>
            <a:ext cx="3200400" cy="694944"/>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As central banks launch digital currencies, HashPay's infrastructure becomes the interoperability layer. We are the bridge between digital yuan, digital dollar, digital naira, and beyond.</a:t>
            </a:r>
            <a:endParaRPr lang="en-US" sz="1050" dirty="0"/>
          </a:p>
        </p:txBody>
      </p:sp>
      <p:sp>
        <p:nvSpPr>
          <p:cNvPr id="27" name="Shape 25"/>
          <p:cNvSpPr/>
          <p:nvPr/>
        </p:nvSpPr>
        <p:spPr>
          <a:xfrm>
            <a:off x="4617720" y="3319272"/>
            <a:ext cx="4133088" cy="1188720"/>
          </a:xfrm>
          <a:prstGeom prst="rect">
            <a:avLst/>
          </a:prstGeom>
          <a:solidFill>
            <a:srgbClr val="0D1E38"/>
          </a:solidFill>
          <a:ln/>
          <a:effectLst>
            <a:outerShdw blurRad="127000" dist="50800" dir="8100000" algn="bl" rotWithShape="0">
              <a:srgbClr val="000000">
                <a:alpha val="22000"/>
              </a:srgbClr>
            </a:outerShdw>
          </a:effectLst>
        </p:spPr>
      </p:sp>
      <p:sp>
        <p:nvSpPr>
          <p:cNvPr id="28" name="Shape 26"/>
          <p:cNvSpPr/>
          <p:nvPr/>
        </p:nvSpPr>
        <p:spPr>
          <a:xfrm>
            <a:off x="4617720" y="3319272"/>
            <a:ext cx="64008" cy="1188720"/>
          </a:xfrm>
          <a:prstGeom prst="rect">
            <a:avLst/>
          </a:prstGeom>
          <a:solidFill>
            <a:srgbClr val="10B981"/>
          </a:solidFill>
          <a:ln/>
        </p:spPr>
      </p:sp>
      <p:sp>
        <p:nvSpPr>
          <p:cNvPr id="29" name="Shape 27"/>
          <p:cNvSpPr/>
          <p:nvPr/>
        </p:nvSpPr>
        <p:spPr>
          <a:xfrm>
            <a:off x="4782312" y="3593592"/>
            <a:ext cx="530352" cy="530352"/>
          </a:xfrm>
          <a:prstGeom prst="line">
            <a:avLst/>
          </a:prstGeom>
          <a:solidFill>
            <a:srgbClr val="10B981"/>
          </a:solidFill>
          <a:ln/>
        </p:spPr>
      </p:sp>
      <p:sp>
        <p:nvSpPr>
          <p:cNvPr id="30" name="Text 28"/>
          <p:cNvSpPr/>
          <p:nvPr/>
        </p:nvSpPr>
        <p:spPr>
          <a:xfrm>
            <a:off x="4782312" y="3593592"/>
            <a:ext cx="530352" cy="53035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1" name="Text 29"/>
          <p:cNvSpPr/>
          <p:nvPr/>
        </p:nvSpPr>
        <p:spPr>
          <a:xfrm>
            <a:off x="5440680" y="3392424"/>
            <a:ext cx="3200400" cy="30175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Financial Inclusion Engine</a:t>
            </a:r>
            <a:endParaRPr lang="en-US" sz="1250" dirty="0"/>
          </a:p>
        </p:txBody>
      </p:sp>
      <p:sp>
        <p:nvSpPr>
          <p:cNvPr id="32" name="Text 30"/>
          <p:cNvSpPr/>
          <p:nvPr/>
        </p:nvSpPr>
        <p:spPr>
          <a:xfrm>
            <a:off x="5440680" y="3721608"/>
            <a:ext cx="3200400" cy="694944"/>
          </a:xfrm>
          <a:prstGeom prst="rect">
            <a:avLst/>
          </a:prstGeom>
          <a:noFill/>
          <a:ln/>
        </p:spPr>
        <p:txBody>
          <a:bodyPr wrap="square" lIns="0" tIns="0" rIns="0" bIns="0" rtlCol="0" anchor="ctr"/>
          <a:lstStyle/>
          <a:p>
            <a:pPr marL="0" indent="0">
              <a:buNone/>
            </a:pPr>
            <a:r>
              <a:rPr lang="en-US" sz="1050" dirty="0">
                <a:solidFill>
                  <a:srgbClr val="8899A6"/>
                </a:solidFill>
                <a:latin typeface="Calibri" pitchFamily="34" charset="0"/>
                <a:ea typeface="Calibri" pitchFamily="34" charset="-122"/>
                <a:cs typeface="Calibri" pitchFamily="34" charset="-120"/>
              </a:rPr>
              <a:t>1.4 billion unbanked adults gain access to global finance through HashPay's mobile-first, low-KYC entry tiers. Remittance costs fall below 1% globally — achieving the UN SDG target.</a:t>
            </a:r>
            <a:endParaRPr lang="en-US" sz="1050" dirty="0"/>
          </a:p>
        </p:txBody>
      </p:sp>
      <p:sp>
        <p:nvSpPr>
          <p:cNvPr id="33" name="Shape 31"/>
          <p:cNvSpPr/>
          <p:nvPr/>
        </p:nvSpPr>
        <p:spPr>
          <a:xfrm>
            <a:off x="320040" y="4700016"/>
            <a:ext cx="8503920" cy="365760"/>
          </a:xfrm>
          <a:prstGeom prst="rect">
            <a:avLst/>
          </a:prstGeom>
          <a:solidFill>
            <a:srgbClr val="0E2040"/>
          </a:solidFill>
          <a:ln/>
        </p:spPr>
      </p:sp>
      <p:sp>
        <p:nvSpPr>
          <p:cNvPr id="34" name="Text 32"/>
          <p:cNvSpPr/>
          <p:nvPr/>
        </p:nvSpPr>
        <p:spPr>
          <a:xfrm>
            <a:off x="411480" y="4745736"/>
            <a:ext cx="8321040" cy="274320"/>
          </a:xfrm>
          <a:prstGeom prst="rect">
            <a:avLst/>
          </a:prstGeom>
          <a:noFill/>
          <a:ln/>
        </p:spPr>
        <p:txBody>
          <a:bodyPr wrap="square" lIns="0" tIns="0" rIns="0" bIns="0" rtlCol="0" anchor="ctr"/>
          <a:lstStyle/>
          <a:p>
            <a:pPr marL="0" indent="0" algn="ctr">
              <a:buNone/>
            </a:pPr>
            <a:r>
              <a:rPr lang="en-US" sz="1050" b="1" dirty="0">
                <a:solidFill>
                  <a:srgbClr val="00D4AA"/>
                </a:solidFill>
                <a:latin typeface="Calibri" pitchFamily="34" charset="0"/>
                <a:ea typeface="Calibri" pitchFamily="34" charset="-122"/>
                <a:cs typeface="Calibri" pitchFamily="34" charset="-120"/>
              </a:rPr>
              <a:t>Year 10 Target: 10M+ active users • 100+ currencies • $100B+ annual transaction volume • The global internet layer for currency exchange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0E1F"/>
        </a:solidFill>
        <a:effectLst/>
      </p:bgPr>
    </p:bg>
    <p:spTree>
      <p:nvGrpSpPr>
        <p:cNvPr id="1" name=""/>
        <p:cNvGrpSpPr/>
        <p:nvPr/>
      </p:nvGrpSpPr>
      <p:grpSpPr>
        <a:xfrm>
          <a:off x="0" y="0"/>
          <a:ext cx="0" cy="0"/>
          <a:chOff x="0" y="0"/>
          <a:chExt cx="0" cy="0"/>
        </a:xfrm>
      </p:grpSpPr>
      <p:sp>
        <p:nvSpPr>
          <p:cNvPr id="2" name="Shape 0"/>
          <p:cNvSpPr/>
          <p:nvPr/>
        </p:nvSpPr>
        <p:spPr>
          <a:xfrm>
            <a:off x="6400800" y="-1371600"/>
            <a:ext cx="5486400" cy="5486400"/>
          </a:xfrm>
          <a:prstGeom prst="line">
            <a:avLst/>
          </a:prstGeom>
          <a:solidFill>
            <a:srgbClr val="00D4AA">
              <a:alpha val="8000"/>
            </a:srgbClr>
          </a:solidFill>
          <a:ln/>
        </p:spPr>
      </p:sp>
      <p:sp>
        <p:nvSpPr>
          <p:cNvPr id="3" name="Shape 1"/>
          <p:cNvSpPr/>
          <p:nvPr/>
        </p:nvSpPr>
        <p:spPr>
          <a:xfrm>
            <a:off x="-1828800" y="2560320"/>
            <a:ext cx="5029200" cy="5029200"/>
          </a:xfrm>
          <a:prstGeom prst="line">
            <a:avLst/>
          </a:prstGeom>
          <a:solidFill>
            <a:srgbClr val="FFB800">
              <a:alpha val="5000"/>
            </a:srgbClr>
          </a:solidFill>
          <a:ln/>
        </p:spPr>
      </p:sp>
      <p:sp>
        <p:nvSpPr>
          <p:cNvPr id="4" name="Text 2"/>
          <p:cNvSpPr/>
          <p:nvPr/>
        </p:nvSpPr>
        <p:spPr>
          <a:xfrm>
            <a:off x="457200" y="228600"/>
            <a:ext cx="8229600" cy="384048"/>
          </a:xfrm>
          <a:prstGeom prst="rect">
            <a:avLst/>
          </a:prstGeom>
          <a:noFill/>
          <a:ln/>
        </p:spPr>
        <p:txBody>
          <a:bodyPr wrap="square" lIns="0" tIns="0" rIns="0" bIns="0" rtlCol="0" anchor="ctr"/>
          <a:lstStyle/>
          <a:p>
            <a:pPr marL="0" indent="0" algn="ctr">
              <a:buNone/>
            </a:pPr>
            <a:r>
              <a:rPr lang="en-US" sz="1300" i="1" dirty="0">
                <a:solidFill>
                  <a:srgbClr val="8899A6"/>
                </a:solidFill>
                <a:latin typeface="Calibri" pitchFamily="34" charset="0"/>
                <a:ea typeface="Calibri" pitchFamily="34" charset="-122"/>
                <a:cs typeface="Calibri" pitchFamily="34" charset="-120"/>
              </a:rPr>
              <a:t>The Future of Money Is Local</a:t>
            </a:r>
            <a:endParaRPr lang="en-US" sz="1300" dirty="0"/>
          </a:p>
        </p:txBody>
      </p:sp>
      <p:sp>
        <p:nvSpPr>
          <p:cNvPr id="5" name="Text 3"/>
          <p:cNvSpPr/>
          <p:nvPr/>
        </p:nvSpPr>
        <p:spPr>
          <a:xfrm>
            <a:off x="457200" y="594360"/>
            <a:ext cx="8229600" cy="1005840"/>
          </a:xfrm>
          <a:prstGeom prst="rect">
            <a:avLst/>
          </a:prstGeom>
          <a:noFill/>
          <a:ln/>
        </p:spPr>
        <p:txBody>
          <a:bodyPr wrap="square" lIns="0" tIns="0" rIns="0" bIns="0" rtlCol="0" anchor="ctr"/>
          <a:lstStyle/>
          <a:p>
            <a:pPr marL="0" indent="0" algn="ctr">
              <a:buNone/>
            </a:pPr>
            <a:r>
              <a:rPr lang="en-US" sz="5800" b="1" dirty="0">
                <a:solidFill>
                  <a:srgbClr val="FFFFFF"/>
                </a:solidFill>
                <a:latin typeface="Calibri" pitchFamily="34" charset="0"/>
                <a:ea typeface="Calibri" pitchFamily="34" charset="-122"/>
                <a:cs typeface="Calibri" pitchFamily="34" charset="-120"/>
              </a:rPr>
              <a:t>HashPay Global</a:t>
            </a:r>
            <a:endParaRPr lang="en-US" sz="5800" dirty="0"/>
          </a:p>
        </p:txBody>
      </p:sp>
      <p:sp>
        <p:nvSpPr>
          <p:cNvPr id="6" name="Text 4"/>
          <p:cNvSpPr/>
          <p:nvPr/>
        </p:nvSpPr>
        <p:spPr>
          <a:xfrm>
            <a:off x="457200" y="1627632"/>
            <a:ext cx="8229600" cy="384048"/>
          </a:xfrm>
          <a:prstGeom prst="rect">
            <a:avLst/>
          </a:prstGeom>
          <a:noFill/>
          <a:ln/>
        </p:spPr>
        <p:txBody>
          <a:bodyPr wrap="square" lIns="0" tIns="0" rIns="0" bIns="0" rtlCol="0" anchor="ctr"/>
          <a:lstStyle/>
          <a:p>
            <a:pPr marL="0" indent="0" algn="ctr">
              <a:buNone/>
            </a:pPr>
            <a:r>
              <a:rPr lang="en-US" sz="1700" i="1" dirty="0">
                <a:solidFill>
                  <a:srgbClr val="00D4AA"/>
                </a:solidFill>
                <a:latin typeface="Calibri" pitchFamily="34" charset="0"/>
                <a:ea typeface="Calibri" pitchFamily="34" charset="-122"/>
                <a:cs typeface="Calibri" pitchFamily="34" charset="-120"/>
              </a:rPr>
              <a:t>The Universal Currency Exchange Network</a:t>
            </a:r>
            <a:endParaRPr lang="en-US" sz="1700" dirty="0"/>
          </a:p>
        </p:txBody>
      </p:sp>
      <p:sp>
        <p:nvSpPr>
          <p:cNvPr id="7" name="Shape 5"/>
          <p:cNvSpPr/>
          <p:nvPr/>
        </p:nvSpPr>
        <p:spPr>
          <a:xfrm>
            <a:off x="914400" y="2194560"/>
            <a:ext cx="7315200" cy="1234440"/>
          </a:xfrm>
          <a:prstGeom prst="rect">
            <a:avLst/>
          </a:prstGeom>
          <a:solidFill>
            <a:srgbClr val="0D1E38"/>
          </a:solidFill>
          <a:ln/>
          <a:effectLst>
            <a:outerShdw blurRad="127000" dist="50800" dir="8100000" algn="bl" rotWithShape="0">
              <a:srgbClr val="000000">
                <a:alpha val="22000"/>
              </a:srgbClr>
            </a:outerShdw>
          </a:effectLst>
        </p:spPr>
      </p:sp>
      <p:sp>
        <p:nvSpPr>
          <p:cNvPr id="8" name="Shape 6"/>
          <p:cNvSpPr/>
          <p:nvPr/>
        </p:nvSpPr>
        <p:spPr>
          <a:xfrm>
            <a:off x="1371600" y="2286000"/>
            <a:ext cx="658368" cy="658368"/>
          </a:xfrm>
          <a:prstGeom prst="line">
            <a:avLst/>
          </a:prstGeom>
          <a:solidFill>
            <a:srgbClr val="00D4AA"/>
          </a:solidFill>
          <a:ln/>
        </p:spPr>
      </p:sp>
      <p:sp>
        <p:nvSpPr>
          <p:cNvPr id="9" name="Text 7"/>
          <p:cNvSpPr/>
          <p:nvPr/>
        </p:nvSpPr>
        <p:spPr>
          <a:xfrm>
            <a:off x="1371600" y="2286000"/>
            <a:ext cx="658368" cy="65836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1051560" y="2990088"/>
            <a:ext cx="1298448" cy="384048"/>
          </a:xfrm>
          <a:prstGeom prst="rect">
            <a:avLst/>
          </a:prstGeom>
          <a:noFill/>
          <a:ln/>
        </p:spPr>
        <p:txBody>
          <a:bodyPr wrap="square" lIns="0" tIns="0" rIns="0" bIns="0" rtlCol="0" anchor="ctr"/>
          <a:lstStyle/>
          <a:p>
            <a:pPr marL="0" indent="0" algn="ctr">
              <a:buNone/>
            </a:pPr>
            <a:r>
              <a:rPr lang="en-US" sz="1100" dirty="0">
                <a:solidFill>
                  <a:srgbClr val="8899A6"/>
                </a:solidFill>
                <a:latin typeface="Calibri" pitchFamily="34" charset="0"/>
                <a:ea typeface="Calibri" pitchFamily="34" charset="-122"/>
                <a:cs typeface="Calibri" pitchFamily="34" charset="-120"/>
              </a:rPr>
              <a:t>Internet</a:t>
            </a:r>
            <a:endParaRPr lang="en-US" sz="1100" dirty="0"/>
          </a:p>
          <a:p>
            <a:pPr marL="0" indent="0" algn="ctr">
              <a:buNone/>
            </a:pPr>
            <a:r>
              <a:rPr lang="en-US" sz="1100" dirty="0">
                <a:solidFill>
                  <a:srgbClr val="8899A6"/>
                </a:solidFill>
                <a:latin typeface="Calibri" pitchFamily="34" charset="0"/>
                <a:ea typeface="Calibri" pitchFamily="34" charset="-122"/>
                <a:cs typeface="Calibri" pitchFamily="34" charset="-120"/>
              </a:rPr>
              <a:t>connects info</a:t>
            </a:r>
            <a:endParaRPr lang="en-US" sz="1100" dirty="0"/>
          </a:p>
        </p:txBody>
      </p:sp>
      <p:sp>
        <p:nvSpPr>
          <p:cNvPr id="11" name="Text 9"/>
          <p:cNvSpPr/>
          <p:nvPr/>
        </p:nvSpPr>
        <p:spPr>
          <a:xfrm>
            <a:off x="2121408" y="2450592"/>
            <a:ext cx="384048" cy="292608"/>
          </a:xfrm>
          <a:prstGeom prst="rect">
            <a:avLst/>
          </a:prstGeom>
          <a:noFill/>
          <a:ln/>
        </p:spPr>
        <p:txBody>
          <a:bodyPr wrap="square" lIns="0" tIns="0" rIns="0" bIns="0" rtlCol="0" anchor="ctr"/>
          <a:lstStyle/>
          <a:p>
            <a:pPr marL="0" indent="0" algn="ctr">
              <a:buNone/>
            </a:pPr>
            <a:r>
              <a:rPr lang="en-US" sz="1800" b="1" dirty="0">
                <a:solidFill>
                  <a:srgbClr val="00D4AA"/>
                </a:solidFill>
              </a:rPr>
              <a:t>→</a:t>
            </a:r>
            <a:endParaRPr lang="en-US" sz="1800" dirty="0"/>
          </a:p>
        </p:txBody>
      </p:sp>
      <p:sp>
        <p:nvSpPr>
          <p:cNvPr id="12" name="Shape 10"/>
          <p:cNvSpPr/>
          <p:nvPr/>
        </p:nvSpPr>
        <p:spPr>
          <a:xfrm>
            <a:off x="3886200" y="2286000"/>
            <a:ext cx="658368" cy="658368"/>
          </a:xfrm>
          <a:prstGeom prst="line">
            <a:avLst/>
          </a:prstGeom>
          <a:solidFill>
            <a:srgbClr val="00D4AA"/>
          </a:solidFill>
          <a:ln/>
        </p:spPr>
      </p:sp>
      <p:sp>
        <p:nvSpPr>
          <p:cNvPr id="13" name="Text 11"/>
          <p:cNvSpPr/>
          <p:nvPr/>
        </p:nvSpPr>
        <p:spPr>
          <a:xfrm>
            <a:off x="3886200" y="2286000"/>
            <a:ext cx="658368" cy="65836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3566160" y="2990088"/>
            <a:ext cx="1298448" cy="384048"/>
          </a:xfrm>
          <a:prstGeom prst="rect">
            <a:avLst/>
          </a:prstGeom>
          <a:noFill/>
          <a:ln/>
        </p:spPr>
        <p:txBody>
          <a:bodyPr wrap="square" lIns="0" tIns="0" rIns="0" bIns="0" rtlCol="0" anchor="ctr"/>
          <a:lstStyle/>
          <a:p>
            <a:pPr marL="0" indent="0" algn="ctr">
              <a:buNone/>
            </a:pPr>
            <a:r>
              <a:rPr lang="en-US" sz="1100" dirty="0">
                <a:solidFill>
                  <a:srgbClr val="8899A6"/>
                </a:solidFill>
                <a:latin typeface="Calibri" pitchFamily="34" charset="0"/>
                <a:ea typeface="Calibri" pitchFamily="34" charset="-122"/>
                <a:cs typeface="Calibri" pitchFamily="34" charset="-120"/>
              </a:rPr>
              <a:t>Ethereum</a:t>
            </a:r>
            <a:endParaRPr lang="en-US" sz="1100" dirty="0"/>
          </a:p>
          <a:p>
            <a:pPr marL="0" indent="0" algn="ctr">
              <a:buNone/>
            </a:pPr>
            <a:r>
              <a:rPr lang="en-US" sz="1100" dirty="0">
                <a:solidFill>
                  <a:srgbClr val="8899A6"/>
                </a:solidFill>
                <a:latin typeface="Calibri" pitchFamily="34" charset="0"/>
                <a:ea typeface="Calibri" pitchFamily="34" charset="-122"/>
                <a:cs typeface="Calibri" pitchFamily="34" charset="-120"/>
              </a:rPr>
              <a:t>powers contracts</a:t>
            </a:r>
            <a:endParaRPr lang="en-US" sz="1100" dirty="0"/>
          </a:p>
        </p:txBody>
      </p:sp>
      <p:sp>
        <p:nvSpPr>
          <p:cNvPr id="15" name="Text 13"/>
          <p:cNvSpPr/>
          <p:nvPr/>
        </p:nvSpPr>
        <p:spPr>
          <a:xfrm>
            <a:off x="4636008" y="2450592"/>
            <a:ext cx="384048" cy="292608"/>
          </a:xfrm>
          <a:prstGeom prst="rect">
            <a:avLst/>
          </a:prstGeom>
          <a:noFill/>
          <a:ln/>
        </p:spPr>
        <p:txBody>
          <a:bodyPr wrap="square" lIns="0" tIns="0" rIns="0" bIns="0" rtlCol="0" anchor="ctr"/>
          <a:lstStyle/>
          <a:p>
            <a:pPr marL="0" indent="0" algn="ctr">
              <a:buNone/>
            </a:pPr>
            <a:r>
              <a:rPr lang="en-US" sz="1800" b="1" dirty="0">
                <a:solidFill>
                  <a:srgbClr val="00D4AA"/>
                </a:solidFill>
              </a:rPr>
              <a:t>→</a:t>
            </a:r>
            <a:endParaRPr lang="en-US" sz="1800" dirty="0"/>
          </a:p>
        </p:txBody>
      </p:sp>
      <p:sp>
        <p:nvSpPr>
          <p:cNvPr id="16" name="Shape 14"/>
          <p:cNvSpPr/>
          <p:nvPr/>
        </p:nvSpPr>
        <p:spPr>
          <a:xfrm>
            <a:off x="6400800" y="2286000"/>
            <a:ext cx="658368" cy="658368"/>
          </a:xfrm>
          <a:prstGeom prst="line">
            <a:avLst/>
          </a:prstGeom>
          <a:solidFill>
            <a:srgbClr val="00D4AA"/>
          </a:solidFill>
          <a:ln/>
        </p:spPr>
      </p:sp>
      <p:sp>
        <p:nvSpPr>
          <p:cNvPr id="17" name="Text 15"/>
          <p:cNvSpPr/>
          <p:nvPr/>
        </p:nvSpPr>
        <p:spPr>
          <a:xfrm>
            <a:off x="6400800" y="2286000"/>
            <a:ext cx="658368" cy="658368"/>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6080760" y="2990088"/>
            <a:ext cx="1298448" cy="384048"/>
          </a:xfrm>
          <a:prstGeom prst="rect">
            <a:avLst/>
          </a:prstGeom>
          <a:noFill/>
          <a:ln/>
        </p:spPr>
        <p:txBody>
          <a:bodyPr wrap="square" lIns="0" tIns="0" rIns="0" bIns="0" rtlCol="0" anchor="ctr"/>
          <a:lstStyle/>
          <a:p>
            <a:pPr marL="0" indent="0" algn="ctr">
              <a:buNone/>
            </a:pPr>
            <a:r>
              <a:rPr lang="en-US" sz="1100" dirty="0">
                <a:solidFill>
                  <a:srgbClr val="8899A6"/>
                </a:solidFill>
                <a:latin typeface="Calibri" pitchFamily="34" charset="0"/>
                <a:ea typeface="Calibri" pitchFamily="34" charset="-122"/>
                <a:cs typeface="Calibri" pitchFamily="34" charset="-120"/>
              </a:rPr>
              <a:t>HashPay</a:t>
            </a:r>
            <a:endParaRPr lang="en-US" sz="1100" dirty="0"/>
          </a:p>
          <a:p>
            <a:pPr marL="0" indent="0" algn="ctr">
              <a:buNone/>
            </a:pPr>
            <a:r>
              <a:rPr lang="en-US" sz="1100" dirty="0">
                <a:solidFill>
                  <a:srgbClr val="8899A6"/>
                </a:solidFill>
                <a:latin typeface="Calibri" pitchFamily="34" charset="0"/>
                <a:ea typeface="Calibri" pitchFamily="34" charset="-122"/>
                <a:cs typeface="Calibri" pitchFamily="34" charset="-120"/>
              </a:rPr>
              <a:t>powers currency</a:t>
            </a:r>
            <a:endParaRPr lang="en-US" sz="1100" dirty="0"/>
          </a:p>
        </p:txBody>
      </p:sp>
      <p:sp>
        <p:nvSpPr>
          <p:cNvPr id="19" name="Shape 17"/>
          <p:cNvSpPr/>
          <p:nvPr/>
        </p:nvSpPr>
        <p:spPr>
          <a:xfrm>
            <a:off x="457200" y="3547872"/>
            <a:ext cx="1901952" cy="530352"/>
          </a:xfrm>
          <a:prstGeom prst="rect">
            <a:avLst/>
          </a:prstGeom>
          <a:solidFill>
            <a:srgbClr val="0D1E38"/>
          </a:solidFill>
          <a:ln/>
          <a:effectLst>
            <a:outerShdw blurRad="76200" dist="25400" dir="8100000" algn="bl" rotWithShape="0">
              <a:srgbClr val="000000">
                <a:alpha val="18000"/>
              </a:srgbClr>
            </a:outerShdw>
          </a:effectLst>
        </p:spPr>
      </p:sp>
      <p:sp>
        <p:nvSpPr>
          <p:cNvPr id="20" name="Shape 18"/>
          <p:cNvSpPr/>
          <p:nvPr/>
        </p:nvSpPr>
        <p:spPr>
          <a:xfrm>
            <a:off x="457200" y="3547872"/>
            <a:ext cx="1901952" cy="45720"/>
          </a:xfrm>
          <a:prstGeom prst="rect">
            <a:avLst/>
          </a:prstGeom>
          <a:solidFill>
            <a:srgbClr val="00D4AA"/>
          </a:solidFill>
          <a:ln/>
        </p:spPr>
      </p:sp>
      <p:sp>
        <p:nvSpPr>
          <p:cNvPr id="21" name="Text 19"/>
          <p:cNvSpPr/>
          <p:nvPr/>
        </p:nvSpPr>
        <p:spPr>
          <a:xfrm>
            <a:off x="457200" y="3611880"/>
            <a:ext cx="1901952"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Speed</a:t>
            </a:r>
            <a:endParaRPr lang="en-US" sz="1300" dirty="0"/>
          </a:p>
        </p:txBody>
      </p:sp>
      <p:sp>
        <p:nvSpPr>
          <p:cNvPr id="22" name="Shape 20"/>
          <p:cNvSpPr/>
          <p:nvPr/>
        </p:nvSpPr>
        <p:spPr>
          <a:xfrm>
            <a:off x="2532888" y="3547872"/>
            <a:ext cx="1901952" cy="530352"/>
          </a:xfrm>
          <a:prstGeom prst="rect">
            <a:avLst/>
          </a:prstGeom>
          <a:solidFill>
            <a:srgbClr val="0D1E38"/>
          </a:solidFill>
          <a:ln/>
          <a:effectLst>
            <a:outerShdw blurRad="76200" dist="25400" dir="8100000" algn="bl" rotWithShape="0">
              <a:srgbClr val="000000">
                <a:alpha val="18000"/>
              </a:srgbClr>
            </a:outerShdw>
          </a:effectLst>
        </p:spPr>
      </p:sp>
      <p:sp>
        <p:nvSpPr>
          <p:cNvPr id="23" name="Shape 21"/>
          <p:cNvSpPr/>
          <p:nvPr/>
        </p:nvSpPr>
        <p:spPr>
          <a:xfrm>
            <a:off x="2532888" y="3547872"/>
            <a:ext cx="1901952" cy="45720"/>
          </a:xfrm>
          <a:prstGeom prst="rect">
            <a:avLst/>
          </a:prstGeom>
          <a:solidFill>
            <a:srgbClr val="00D4AA"/>
          </a:solidFill>
          <a:ln/>
        </p:spPr>
      </p:sp>
      <p:sp>
        <p:nvSpPr>
          <p:cNvPr id="24" name="Text 22"/>
          <p:cNvSpPr/>
          <p:nvPr/>
        </p:nvSpPr>
        <p:spPr>
          <a:xfrm>
            <a:off x="2532888" y="3611880"/>
            <a:ext cx="1901952"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Efficiency</a:t>
            </a:r>
            <a:endParaRPr lang="en-US" sz="1300" dirty="0"/>
          </a:p>
        </p:txBody>
      </p:sp>
      <p:sp>
        <p:nvSpPr>
          <p:cNvPr id="25" name="Shape 23"/>
          <p:cNvSpPr/>
          <p:nvPr/>
        </p:nvSpPr>
        <p:spPr>
          <a:xfrm>
            <a:off x="4608576" y="3547872"/>
            <a:ext cx="1901952" cy="530352"/>
          </a:xfrm>
          <a:prstGeom prst="rect">
            <a:avLst/>
          </a:prstGeom>
          <a:solidFill>
            <a:srgbClr val="0D1E38"/>
          </a:solidFill>
          <a:ln/>
          <a:effectLst>
            <a:outerShdw blurRad="76200" dist="25400" dir="8100000" algn="bl" rotWithShape="0">
              <a:srgbClr val="000000">
                <a:alpha val="18000"/>
              </a:srgbClr>
            </a:outerShdw>
          </a:effectLst>
        </p:spPr>
      </p:sp>
      <p:sp>
        <p:nvSpPr>
          <p:cNvPr id="26" name="Shape 24"/>
          <p:cNvSpPr/>
          <p:nvPr/>
        </p:nvSpPr>
        <p:spPr>
          <a:xfrm>
            <a:off x="4608576" y="3547872"/>
            <a:ext cx="1901952" cy="45720"/>
          </a:xfrm>
          <a:prstGeom prst="rect">
            <a:avLst/>
          </a:prstGeom>
          <a:solidFill>
            <a:srgbClr val="00D4AA"/>
          </a:solidFill>
          <a:ln/>
        </p:spPr>
      </p:sp>
      <p:sp>
        <p:nvSpPr>
          <p:cNvPr id="27" name="Text 25"/>
          <p:cNvSpPr/>
          <p:nvPr/>
        </p:nvSpPr>
        <p:spPr>
          <a:xfrm>
            <a:off x="4608576" y="3611880"/>
            <a:ext cx="1901952"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Financial Inclusion</a:t>
            </a:r>
            <a:endParaRPr lang="en-US" sz="1300" dirty="0"/>
          </a:p>
        </p:txBody>
      </p:sp>
      <p:sp>
        <p:nvSpPr>
          <p:cNvPr id="28" name="Shape 26"/>
          <p:cNvSpPr/>
          <p:nvPr/>
        </p:nvSpPr>
        <p:spPr>
          <a:xfrm>
            <a:off x="6684264" y="3547872"/>
            <a:ext cx="1901952" cy="530352"/>
          </a:xfrm>
          <a:prstGeom prst="rect">
            <a:avLst/>
          </a:prstGeom>
          <a:solidFill>
            <a:srgbClr val="0D1E38"/>
          </a:solidFill>
          <a:ln/>
          <a:effectLst>
            <a:outerShdw blurRad="76200" dist="25400" dir="8100000" algn="bl" rotWithShape="0">
              <a:srgbClr val="000000">
                <a:alpha val="18000"/>
              </a:srgbClr>
            </a:outerShdw>
          </a:effectLst>
        </p:spPr>
      </p:sp>
      <p:sp>
        <p:nvSpPr>
          <p:cNvPr id="29" name="Shape 27"/>
          <p:cNvSpPr/>
          <p:nvPr/>
        </p:nvSpPr>
        <p:spPr>
          <a:xfrm>
            <a:off x="6684264" y="3547872"/>
            <a:ext cx="1901952" cy="45720"/>
          </a:xfrm>
          <a:prstGeom prst="rect">
            <a:avLst/>
          </a:prstGeom>
          <a:solidFill>
            <a:srgbClr val="00D4AA"/>
          </a:solidFill>
          <a:ln/>
        </p:spPr>
      </p:sp>
      <p:sp>
        <p:nvSpPr>
          <p:cNvPr id="30" name="Text 28"/>
          <p:cNvSpPr/>
          <p:nvPr/>
        </p:nvSpPr>
        <p:spPr>
          <a:xfrm>
            <a:off x="6684264" y="3611880"/>
            <a:ext cx="1901952"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Future-Ready</a:t>
            </a:r>
            <a:endParaRPr lang="en-US" sz="1300" dirty="0"/>
          </a:p>
        </p:txBody>
      </p:sp>
      <p:sp>
        <p:nvSpPr>
          <p:cNvPr id="31" name="Shape 29"/>
          <p:cNvSpPr/>
          <p:nvPr/>
        </p:nvSpPr>
        <p:spPr>
          <a:xfrm>
            <a:off x="1371600" y="4224528"/>
            <a:ext cx="6400800" cy="621792"/>
          </a:xfrm>
          <a:prstGeom prst="rect">
            <a:avLst/>
          </a:prstGeom>
          <a:solidFill>
            <a:srgbClr val="0A2A1A"/>
          </a:solidFill>
          <a:ln/>
          <a:effectLst>
            <a:outerShdw blurRad="127000" dist="50800" dir="8100000" algn="bl" rotWithShape="0">
              <a:srgbClr val="000000">
                <a:alpha val="22000"/>
              </a:srgbClr>
            </a:outerShdw>
          </a:effectLst>
        </p:spPr>
      </p:sp>
      <p:sp>
        <p:nvSpPr>
          <p:cNvPr id="32" name="Shape 30"/>
          <p:cNvSpPr/>
          <p:nvPr/>
        </p:nvSpPr>
        <p:spPr>
          <a:xfrm>
            <a:off x="1371600" y="4224528"/>
            <a:ext cx="6400800" cy="50292"/>
          </a:xfrm>
          <a:prstGeom prst="rect">
            <a:avLst/>
          </a:prstGeom>
          <a:solidFill>
            <a:srgbClr val="00D4AA"/>
          </a:solidFill>
          <a:ln/>
        </p:spPr>
      </p:sp>
      <p:sp>
        <p:nvSpPr>
          <p:cNvPr id="33" name="Text 31"/>
          <p:cNvSpPr/>
          <p:nvPr/>
        </p:nvSpPr>
        <p:spPr>
          <a:xfrm>
            <a:off x="1371600" y="4315968"/>
            <a:ext cx="6400800" cy="256032"/>
          </a:xfrm>
          <a:prstGeom prst="rect">
            <a:avLst/>
          </a:prstGeom>
          <a:noFill/>
          <a:ln/>
        </p:spPr>
        <p:txBody>
          <a:bodyPr wrap="square" lIns="0" tIns="0" rIns="0" bIns="0" rtlCol="0" anchor="ctr"/>
          <a:lstStyle/>
          <a:p>
            <a:pPr marL="0" indent="0" algn="ctr">
              <a:buNone/>
            </a:pPr>
            <a:r>
              <a:rPr lang="en-US" sz="1300" b="1" dirty="0">
                <a:solidFill>
                  <a:srgbClr val="00D4AA"/>
                </a:solidFill>
                <a:latin typeface="Calibri" pitchFamily="34" charset="0"/>
                <a:ea typeface="Calibri" pitchFamily="34" charset="-122"/>
                <a:cs typeface="Calibri" pitchFamily="34" charset="-120"/>
              </a:rPr>
              <a:t>Join us in rebuilding the world's payment infrastructure.</a:t>
            </a:r>
            <a:endParaRPr lang="en-US" sz="1300" dirty="0"/>
          </a:p>
        </p:txBody>
      </p:sp>
      <p:sp>
        <p:nvSpPr>
          <p:cNvPr id="34" name="Text 32"/>
          <p:cNvSpPr/>
          <p:nvPr/>
        </p:nvSpPr>
        <p:spPr>
          <a:xfrm>
            <a:off x="1371600" y="4572000"/>
            <a:ext cx="6400800" cy="219456"/>
          </a:xfrm>
          <a:prstGeom prst="rect">
            <a:avLst/>
          </a:prstGeom>
          <a:noFill/>
          <a:ln/>
        </p:spPr>
        <p:txBody>
          <a:bodyPr wrap="square" lIns="0" tIns="0" rIns="0" bIns="0" rtlCol="0" anchor="ctr"/>
          <a:lstStyle/>
          <a:p>
            <a:pPr marL="0" indent="0" algn="ctr">
              <a:buNone/>
            </a:pPr>
            <a:r>
              <a:rPr lang="en-US" sz="1050" dirty="0">
                <a:solidFill>
                  <a:srgbClr val="8899A6"/>
                </a:solidFill>
                <a:latin typeface="Calibri" pitchFamily="34" charset="0"/>
                <a:ea typeface="Calibri" pitchFamily="34" charset="-122"/>
                <a:cs typeface="Calibri" pitchFamily="34" charset="-120"/>
              </a:rPr>
              <a:t>Seed Round Now Open  |  Contact: benedictpascal01@gmail.com</a:t>
            </a:r>
            <a:endParaRPr lang="en-US" sz="1050" dirty="0"/>
          </a:p>
        </p:txBody>
      </p:sp>
      <p:sp>
        <p:nvSpPr>
          <p:cNvPr id="35" name="Shape 33"/>
          <p:cNvSpPr/>
          <p:nvPr/>
        </p:nvSpPr>
        <p:spPr>
          <a:xfrm>
            <a:off x="320040" y="4892040"/>
            <a:ext cx="8503920" cy="228600"/>
          </a:xfrm>
          <a:prstGeom prst="rect">
            <a:avLst/>
          </a:prstGeom>
          <a:solidFill>
            <a:srgbClr val="0E2040"/>
          </a:solidFill>
          <a:ln/>
        </p:spPr>
      </p:sp>
      <p:sp>
        <p:nvSpPr>
          <p:cNvPr id="36" name="Text 34"/>
          <p:cNvSpPr/>
          <p:nvPr/>
        </p:nvSpPr>
        <p:spPr>
          <a:xfrm>
            <a:off x="411480" y="4919472"/>
            <a:ext cx="8321040" cy="164592"/>
          </a:xfrm>
          <a:prstGeom prst="rect">
            <a:avLst/>
          </a:prstGeom>
          <a:noFill/>
          <a:ln/>
        </p:spPr>
        <p:txBody>
          <a:bodyPr wrap="square" lIns="0" tIns="0" rIns="0" bIns="0" rtlCol="0" anchor="ctr"/>
          <a:lstStyle/>
          <a:p>
            <a:pPr marL="0" indent="0" algn="ctr">
              <a:buNone/>
            </a:pPr>
            <a:r>
              <a:rPr lang="en-US" sz="950" dirty="0">
                <a:solidFill>
                  <a:srgbClr val="00D4AA"/>
                </a:solidFill>
                <a:latin typeface="Calibri" pitchFamily="34" charset="0"/>
                <a:ea typeface="Calibri" pitchFamily="34" charset="-122"/>
                <a:cs typeface="Calibri" pitchFamily="34" charset="-120"/>
              </a:rPr>
              <a:t>Every currency connected.  ·  benedictpascal01@gmail.com  ·  linkedin.com/in/benedict-pascal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TotalTime>
  <Words>3790</Words>
  <Application>Microsoft Office PowerPoint</Application>
  <PresentationFormat>On-screen Show (16:9)</PresentationFormat>
  <Paragraphs>501</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HashPay Global Investor Pitch Deck</dc:title>
  <dc:subject>PptxGenJS Presentation</dc:subject>
  <dc:creator>Benedict Pascal</dc:creator>
  <cp:lastModifiedBy>coach lozen</cp:lastModifiedBy>
  <cp:revision>6</cp:revision>
  <dcterms:created xsi:type="dcterms:W3CDTF">2026-03-10T08:27:45Z</dcterms:created>
  <dcterms:modified xsi:type="dcterms:W3CDTF">2026-03-10T15:00:23Z</dcterms:modified>
</cp:coreProperties>
</file>